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6"/>
    <p:sldId id="266" r:id="rId5"/>
    <p:sldId id="267" r:id="rId4"/>
    <p:sldId id="268" r:id="rId3"/>
    <p:sldId id="269" r:id="rId2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–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29405" autoAdjust="0"/>
  </p:normalViewPr>
  <p:slideViewPr>
    <p:cSldViewPr snapToGrid="0">
      <p:cViewPr varScale="1">
        <p:scale>
          <a:sx n="26" d="100"/>
          <a:sy n="26" d="100"/>
        </p:scale>
        <p:origin x="90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6" d="100"/>
        <a:sy n="86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1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BC2B38-6B8B-8144-9502-D52FD2780971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226FD-0AA1-C14C-A7A7-3D3E3FAEEC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120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64493-2CA9-8571-4937-E45C2294EF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01036C-6384-5668-A896-8F559C66D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52FCC-C458-4578-09B1-A7F96EF6A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8DFC3-F3A1-B8C9-8624-B917C1EAE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F230D-3CC0-26B9-4D66-CFD85F08D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7485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FAAA-C090-FF11-A066-5D037A73A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008CB-F94A-8780-3C82-AD1340EEB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E06A8-829A-BE65-08EE-2D7F3F9B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3E45F-FB75-B34E-27F0-544E92E3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404ED-1139-D1C8-97B4-6A9FB8A34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0203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04447-F8E8-EC31-5553-D60623A55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09DCF8-A867-D420-A672-6C959A5DE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EFED3-BE17-9E41-ED8D-B9B42ACDC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AFFA2-5A46-EBEA-9E9A-D8C485AF4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DA7B3-BE26-7D7E-8473-2FB857A9F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4142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88B39-26AC-466A-D6B5-461E03BF3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B1A01-4126-5D51-BEDC-E4D44A01C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DED90-651B-4EDC-1F5A-BEFE59B6F9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8CB8B3-05BB-BAF6-00B6-CD97987C7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4D950-7D44-86BB-087A-5209FF391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7ED68-4DC4-1CD3-45DD-44AB832E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250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F579F-E9B9-4FB3-079C-AC0EE8F9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608D8-61E9-0EC2-1135-4E5AB3694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A57A8-1B67-3DEF-41A5-D689D0D4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2DF143-0F17-FE98-282E-1935E343A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D70667-B2E8-5A38-38FA-A6706EAF2E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505CCF-F585-0F17-DABE-05E4FF795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47FE8-0E8D-A94F-B474-4909D0E78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E5C681-F6A7-1471-4241-23FFAA8CC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217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711E3-2766-C194-3035-EA92294F7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254F45-D083-1E23-0957-2B94E1164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571DE8-9CC0-DE1B-A9E8-E900DDCA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D2338-EB70-78B3-04E8-081C7B229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639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6F10A3-7809-E665-6D31-0B72448C2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A10D3E-488E-86AE-1886-0C478399E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E70C7-6B8D-6A95-A5E8-91CD215A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3342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E71E-D6EB-AD5F-11C9-859F8E795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62502-4DAC-0FAC-7A99-641DFC4DB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412D85-CFBA-1710-8727-6E8044116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1AF872-86E4-F287-51DC-4C920820B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5091E-9F74-B1FD-AC91-4BA422427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5CCCE-FB4C-AE93-2649-11EF8B40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5995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47C5-4675-05F0-572E-818103276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E8D475-8AA4-40FA-19E0-C3CAFF96D1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B74253-2D73-FFBA-52EC-16A6704C6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3753DF-4D80-39C5-C82B-0BD5B45DC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38F90-7261-DC07-035E-01C5FF9F0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4CDC3-BA46-E5C1-BFD7-E02B99826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429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1F0DE-07EB-5404-5128-D2B464E7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2F2CA-0910-4A3C-BE51-67A4CBFD30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007D85-B05A-A890-F61A-331F8D038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9AD34-418D-1BD5-4033-0A9C0FE87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7C38A-C1A3-02F3-460A-AED17037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36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AF4D08-5D6D-E381-F67C-A2A38B5BDC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34A61E-3091-96AE-E93F-FD899F09E4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D3682-979B-BD81-BBE6-E10D5F02C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DE2A-6E26-3AB5-63D2-91533C506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2DC8D-491E-1FC1-DD4B-A90886C9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313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" y="6778868"/>
            <a:ext cx="12191997" cy="79131"/>
          </a:xfrm>
          <a:prstGeom prst="rect">
            <a:avLst/>
          </a:prstGeom>
          <a:solidFill>
            <a:srgbClr val="ED771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43606C-9B53-79F1-02DD-16BC50BEB5CE}"/>
              </a:ext>
            </a:extLst>
          </p:cNvPr>
          <p:cNvSpPr/>
          <p:nvPr userDrawn="1"/>
        </p:nvSpPr>
        <p:spPr>
          <a:xfrm>
            <a:off x="2078655" y="431018"/>
            <a:ext cx="8107244" cy="46502"/>
          </a:xfrm>
          <a:prstGeom prst="rect">
            <a:avLst/>
          </a:prstGeom>
          <a:solidFill>
            <a:srgbClr val="F47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07FF37-7309-52C1-8095-3F729737C2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55072" y="178307"/>
            <a:ext cx="1547520" cy="4186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48388E-C341-A5AF-55B7-4442EC1A9B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28281" y="178308"/>
            <a:ext cx="1581202" cy="5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0815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D99742-43DF-60DD-E25A-A8A794C58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A8CF3D-1224-31C1-BC1E-97D09C5BA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E14CC-6728-1948-0D35-9401CB296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C3085B-59BF-413B-BC82-B4923E5EA610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F7C21-BCD5-1B37-9FC5-0B14606436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37B22-005B-A688-B01E-2C4677E63D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5C793E-F706-40D9-8BEC-FAE7851A49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908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969" cy="6046927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256032" cy="6046927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731520"/>
            <a:ext cx="82296" cy="6046927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689049" y="1600200"/>
            <a:ext cx="182880" cy="50292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89049" y="2331720"/>
            <a:ext cx="182880" cy="502920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9049" y="3063240"/>
            <a:ext cx="182880" cy="502920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89049" y="3794760"/>
            <a:ext cx="182880" cy="502920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9049" y="4526280"/>
            <a:ext cx="182880" cy="5029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1051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EC5E2"/>
                </a:solidFill>
                <a:latin typeface="Segoe UI Semibold"/>
              </a:rPr>
              <a:t>INT396  ·  UNSUPERVISED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49424"/>
            <a:ext cx="9326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7D35"/>
                </a:solidFill>
                <a:latin typeface="Segoe UI Semibold"/>
              </a:rPr>
              <a:t>UNIT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15184"/>
            <a:ext cx="9509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Segoe UI Semibold"/>
              </a:rPr>
              <a:t>Association Rule Mining and
Anomaly Detection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224528"/>
            <a:ext cx="2377440" cy="45720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443984"/>
            <a:ext cx="90525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ACADE"/>
                </a:solidFill>
                <a:latin typeface="Segoe UI"/>
              </a:rPr>
              <a:t>Two ways of finding structure that is not a cluster: what tends to occur together, and what does not belong at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75504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A5C4"/>
                </a:solidFill>
                <a:latin typeface="Segoe UI"/>
              </a:rPr>
              <a:t>Support · Confidence · Lift · Conviction  •  Apriori  •  FP-Growth  •  Market Basket Analysis  •  Anomaly vs Novelty  •  Isolation Forest  •  Local Outlier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6035040"/>
            <a:ext cx="10088849" cy="10972"/>
          </a:xfrm>
          <a:prstGeom prst="rect">
            <a:avLst/>
          </a:prstGeom>
          <a:solidFill>
            <a:srgbClr val="3C5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6181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6AFCD"/>
                </a:solidFill>
                <a:latin typeface="Segoe UI"/>
              </a:rPr>
              <a:t>School of Computer Science &amp; 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569" y="61813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6AFCD"/>
                </a:solidFill>
                <a:latin typeface="Segoe UI"/>
              </a:rPr>
              <a:t>Session 2026-27  ·  L:2  T:0  P:2  ·  Credits: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UNIT V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What This Unit Covers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Neither of these produces clusters. Both find structure that clustering would miss.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6998177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700" b="0" i="0">
                <a:solidFill>
                  <a:srgbClr val="1C2330"/>
                </a:solidFill>
                <a:latin typeface="Segoe UI"/>
              </a:rPr>
              <a:t>Association rule mining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Support, confidence, lift and conviction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The Apriori algorithm and its pruning property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FP-Growth and why it is faster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Market basket analysis</a:t>
            </a:r>
          </a:p>
          <a:p>
            <a:pPr algn="l" marL="237744" indent="-237744">
              <a:lnSpc>
                <a:spcPct val="116000"/>
              </a:lnSpc>
              <a:spcBef>
                <a:spcPts val="110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700" b="0" i="0">
                <a:solidFill>
                  <a:srgbClr val="1C2330"/>
                </a:solidFill>
                <a:latin typeface="Segoe UI"/>
              </a:rPr>
              <a:t>Anomaly detection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Anomaly detection vs novelty detection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Isolation Forest - anomalies are easy to isolate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Local Outlier Factor - anomalies are locally sparse</a:t>
            </a:r>
          </a:p>
          <a:p>
            <a:pPr algn="l" marL="475488" indent="-237744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rgbClr val="586476"/>
              </a:buClr>
              <a:buSzPct val="86000"/>
              <a:buFont typeface="Arial"/>
              <a:buChar char="–"/>
            </a:pPr>
            <a:r>
              <a:rPr sz="1400" b="0" i="0">
                <a:solidFill>
                  <a:srgbClr val="586476"/>
                </a:solidFill>
                <a:latin typeface="Segoe UI"/>
              </a:rPr>
              <a:t>Applications in cybersecurity and fraud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7129" y="2304288"/>
            <a:ext cx="3931920" cy="937260"/>
          </a:xfrm>
          <a:prstGeom prst="roundRect">
            <a:avLst>
              <a:gd name="adj" fmla="val 8000"/>
            </a:avLst>
          </a:prstGeom>
          <a:solidFill>
            <a:srgbClr val="DBF0F7"/>
          </a:solidFill>
          <a:ln w="22860">
            <a:solidFill>
              <a:srgbClr val="0096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96C7"/>
                </a:solidFill>
                <a:latin typeface="Segoe UI Semibold"/>
              </a:rPr>
              <a:t>Metrics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support, confidence, lift, conviction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7129" y="3332988"/>
            <a:ext cx="3931920" cy="937260"/>
          </a:xfrm>
          <a:prstGeom prst="roundRect">
            <a:avLst>
              <a:gd name="adj" fmla="val 8000"/>
            </a:avLst>
          </a:prstGeom>
          <a:solidFill>
            <a:srgbClr val="DDECE4"/>
          </a:solidFill>
          <a:ln w="22860">
            <a:solidFill>
              <a:srgbClr val="107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07C41"/>
                </a:solidFill>
                <a:latin typeface="Segoe UI Semibold"/>
              </a:rPr>
              <a:t>Algorithms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Apriori, FP-Growth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7129" y="4361688"/>
            <a:ext cx="3931920" cy="937260"/>
          </a:xfrm>
          <a:prstGeom prst="roundRect">
            <a:avLst>
              <a:gd name="adj" fmla="val 8000"/>
            </a:avLst>
          </a:prstGeom>
          <a:solidFill>
            <a:srgbClr val="F9EBDC"/>
          </a:solidFill>
          <a:ln w="2286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7706"/>
                </a:solidFill>
                <a:latin typeface="Segoe UI Semibold"/>
              </a:rPr>
              <a:t>Anomalies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Isolation Forest, LOF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57129" y="5390388"/>
            <a:ext cx="3931920" cy="937260"/>
          </a:xfrm>
          <a:prstGeom prst="roundRect">
            <a:avLst>
              <a:gd name="adj" fmla="val 8000"/>
            </a:avLst>
          </a:prstGeom>
          <a:solidFill>
            <a:srgbClr val="E8E1EF"/>
          </a:solidFill>
          <a:ln w="2286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 Semibold"/>
              </a:rPr>
              <a:t>Applications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retail, fraud, cybersecurity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969" cy="6046927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969" cy="82296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6151"/>
            <a:ext cx="12191969" cy="82296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800" b="1" i="0">
                <a:solidFill>
                  <a:srgbClr val="2B4770"/>
                </a:solidFill>
                <a:latin typeface="Segoe UI Semi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529584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7D35"/>
                </a:solidFill>
                <a:latin typeface="Segoe UI Semibold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22191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Association Rule
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10512"/>
            <a:ext cx="4983480" cy="4069080"/>
          </a:xfrm>
          <a:prstGeom prst="roundRect">
            <a:avLst>
              <a:gd name="adj" fmla="val 45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2743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 i="0">
                <a:solidFill>
                  <a:srgbClr val="0096C7"/>
                </a:solidFill>
                <a:latin typeface="Segoe UI Semibold"/>
              </a:rPr>
              <a:t>IN THIS SECTION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What an association rule actually claims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Support, confidence, lift and conviction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Why confidence alone is misleading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Reading a rule without over-claiming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5.1 ASSOCIATION RULE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The Four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Four numbers describing one rule. Only one of them is safe to read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7702265" cy="896112"/>
          </a:xfrm>
          <a:prstGeom prst="roundRect">
            <a:avLst>
              <a:gd name="adj" fmla="val 5000"/>
            </a:avLst>
          </a:prstGeom>
          <a:solidFill>
            <a:srgbClr val="F0EAFA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 tIns="146304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90"/>
              </a:spcAft>
            </a:pPr>
            <a:r>
              <a:rPr sz="750" b="1" i="0">
                <a:solidFill>
                  <a:srgbClr val="5C2D91"/>
                </a:solidFill>
                <a:latin typeface="Segoe UI Semibold"/>
              </a:rPr>
              <a:t>SUPPORT - HOW OFTEN DOES THE ITEMSET APPEAR?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182B49"/>
                </a:solidFill>
                <a:latin typeface="Cambria Math"/>
              </a:rPr>
              <a:t>supp(X) = (transactions containing X) / (total transactions)</a:t>
            </a:r>
          </a:p>
          <a:p>
            <a:pPr algn="l">
              <a:lnSpc>
                <a:spcPct val="114000"/>
              </a:lnSpc>
              <a:spcBef>
                <a:spcPts val="390"/>
              </a:spcBef>
              <a:spcAft>
                <a:spcPts val="0"/>
              </a:spcAft>
            </a:pPr>
            <a:r>
              <a:rPr sz="810" b="0" i="0">
                <a:solidFill>
                  <a:srgbClr val="586476"/>
                </a:solidFill>
                <a:latin typeface="Segoe UI"/>
              </a:rPr>
              <a:t>A frequency. Rules with tiny support describe too few transactions to act on, however strong they look.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9424"/>
            <a:ext cx="68580" cy="89611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310128"/>
            <a:ext cx="7702265" cy="896112"/>
          </a:xfrm>
          <a:prstGeom prst="roundRect">
            <a:avLst>
              <a:gd name="adj" fmla="val 5000"/>
            </a:avLst>
          </a:prstGeom>
          <a:solidFill>
            <a:srgbClr val="F0EAFA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 tIns="146304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</a:pPr>
            <a:r>
              <a:rPr sz="840" b="1" i="0">
                <a:solidFill>
                  <a:srgbClr val="5C2D91"/>
                </a:solidFill>
                <a:latin typeface="Segoe UI Semibold"/>
              </a:rPr>
              <a:t>CONFIDENCE - GIVEN X, HOW OFTEN DOES Y FOLLOW?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30" b="1" i="0">
                <a:solidFill>
                  <a:srgbClr val="182B49"/>
                </a:solidFill>
                <a:latin typeface="Cambria Math"/>
              </a:rPr>
              <a:t>conf(X → Y) = supp(X ∪ Y) / supp(X)</a:t>
            </a:r>
          </a:p>
          <a:p>
            <a:pPr algn="l">
              <a:lnSpc>
                <a:spcPct val="114000"/>
              </a:lnSpc>
              <a:spcBef>
                <a:spcPts val="480"/>
              </a:spcBef>
              <a:spcAft>
                <a:spcPts val="0"/>
              </a:spcAft>
            </a:pPr>
            <a:r>
              <a:rPr sz="1010" b="0" i="0">
                <a:solidFill>
                  <a:srgbClr val="586476"/>
                </a:solidFill>
                <a:latin typeface="Segoe UI"/>
              </a:rPr>
              <a:t>A conditional probability, P(Y | X). High confidence alone is NOT evidence of a relationship.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10128"/>
            <a:ext cx="68580" cy="89611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4370831"/>
            <a:ext cx="7702265" cy="896112"/>
          </a:xfrm>
          <a:prstGeom prst="roundRect">
            <a:avLst>
              <a:gd name="adj" fmla="val 5000"/>
            </a:avLst>
          </a:prstGeom>
          <a:solidFill>
            <a:srgbClr val="F0EAFA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 tIns="146304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90"/>
              </a:spcAft>
            </a:pPr>
            <a:r>
              <a:rPr sz="750" b="1" i="0">
                <a:solidFill>
                  <a:srgbClr val="5C2D91"/>
                </a:solidFill>
                <a:latin typeface="Segoe UI Semibold"/>
              </a:rPr>
              <a:t>LIFT - IS THAT MORE THAN CHANCE?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182B49"/>
                </a:solidFill>
                <a:latin typeface="Cambria Math"/>
              </a:rPr>
              <a:t>lift(X → Y) = conf(X → Y) / supp(Y)</a:t>
            </a:r>
          </a:p>
          <a:p>
            <a:pPr algn="l">
              <a:lnSpc>
                <a:spcPct val="114000"/>
              </a:lnSpc>
              <a:spcBef>
                <a:spcPts val="390"/>
              </a:spcBef>
              <a:spcAft>
                <a:spcPts val="0"/>
              </a:spcAft>
            </a:pPr>
            <a:r>
              <a:rPr sz="810" b="0" i="0">
                <a:solidFill>
                  <a:srgbClr val="586476"/>
                </a:solidFill>
                <a:latin typeface="Segoe UI"/>
              </a:rPr>
              <a:t>Lift = 1 means X and Y are independent. Above 1 means they genuinely occur together more than chance. This is the metric that matters.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70831"/>
            <a:ext cx="68580" cy="89611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5431536"/>
            <a:ext cx="7702265" cy="896112"/>
          </a:xfrm>
          <a:prstGeom prst="roundRect">
            <a:avLst>
              <a:gd name="adj" fmla="val 5000"/>
            </a:avLst>
          </a:prstGeom>
          <a:solidFill>
            <a:srgbClr val="F0EAFA"/>
          </a:solidFill>
          <a:ln w="127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 tIns="146304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90"/>
              </a:spcAft>
            </a:pPr>
            <a:r>
              <a:rPr sz="750" b="1" i="0">
                <a:solidFill>
                  <a:srgbClr val="5C2D91"/>
                </a:solidFill>
                <a:latin typeface="Segoe UI Semibold"/>
              </a:rPr>
              <a:t>CONVICTION - HOW OFTEN WOULD THE RULE BE WRONG BY CHANCE?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182B49"/>
                </a:solidFill>
                <a:latin typeface="Cambria Math"/>
              </a:rPr>
              <a:t>conv(X → Y) = ( 1 − supp(Y) ) / ( 1 − conf(X → Y) )</a:t>
            </a:r>
          </a:p>
          <a:p>
            <a:pPr algn="l">
              <a:lnSpc>
                <a:spcPct val="114000"/>
              </a:lnSpc>
              <a:spcBef>
                <a:spcPts val="390"/>
              </a:spcBef>
              <a:spcAft>
                <a:spcPts val="0"/>
              </a:spcAft>
            </a:pPr>
            <a:r>
              <a:rPr sz="810" b="0" i="0">
                <a:solidFill>
                  <a:srgbClr val="586476"/>
                </a:solidFill>
                <a:latin typeface="Segoe UI"/>
              </a:rPr>
              <a:t>High conviction means the rule is rarely violated. Infinite when confidence is 1. Unlike lift, it is directional.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431536"/>
            <a:ext cx="68580" cy="89611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42929" y="2249424"/>
            <a:ext cx="3246120" cy="407822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201168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0096C7"/>
                </a:solidFill>
                <a:latin typeface="Segoe UI Semibold"/>
              </a:rPr>
              <a:t>READING THEM</a:t>
            </a:r>
          </a:p>
          <a:p>
            <a:pPr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supp  </a:t>
            </a:r>
            <a:r>
              <a:rPr sz="1250" b="0" i="0">
                <a:solidFill>
                  <a:srgbClr val="1C2330"/>
                </a:solidFill>
                <a:latin typeface="Segoe UI"/>
              </a:rPr>
              <a:t>coverage - is this rule worth acting on at all?</a:t>
            </a:r>
          </a:p>
          <a:p>
            <a:pPr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conf  </a:t>
            </a:r>
            <a:r>
              <a:rPr sz="1250" b="0" i="0">
                <a:solidFill>
                  <a:srgbClr val="1C2330"/>
                </a:solidFill>
                <a:latin typeface="Segoe UI"/>
              </a:rPr>
              <a:t>reliability - but inflated whenever Y is common</a:t>
            </a:r>
          </a:p>
          <a:p>
            <a:pPr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lift = 1  </a:t>
            </a:r>
            <a:r>
              <a:rPr sz="1250" b="0" i="0">
                <a:solidFill>
                  <a:srgbClr val="1C2330"/>
                </a:solidFill>
                <a:latin typeface="Segoe UI"/>
              </a:rPr>
              <a:t>independent; &gt; 1 associated; &lt; 1 they avoid each other</a:t>
            </a:r>
          </a:p>
          <a:p>
            <a:pPr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conv  </a:t>
            </a:r>
            <a:r>
              <a:rPr sz="1250" b="0" i="0">
                <a:solidFill>
                  <a:srgbClr val="1C2330"/>
                </a:solidFill>
                <a:latin typeface="Segoe UI"/>
              </a:rPr>
              <a:t>directional, unlike lift, so X → Y differs from Y → X</a:t>
            </a:r>
          </a:p>
          <a:p>
            <a:pPr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Together  </a:t>
            </a:r>
            <a:r>
              <a:rPr sz="1250" b="0" i="0">
                <a:solidFill>
                  <a:srgbClr val="1C2330"/>
                </a:solidFill>
                <a:latin typeface="Segoe UI"/>
              </a:rPr>
              <a:t>require minimum support AND minimum lift, not confidence alone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5.1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Computing All Four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3703320" cy="2358420"/>
          </a:xfrm>
          <a:prstGeom prst="roundRect">
            <a:avLst>
              <a:gd name="adj" fmla="val 5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82880" tIns="219456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69"/>
              </a:spcAft>
            </a:pPr>
            <a:r>
              <a:rPr sz="1019" b="1" i="0">
                <a:solidFill>
                  <a:srgbClr val="0096C7"/>
                </a:solidFill>
                <a:latin typeface="Segoe UI Semibold"/>
              </a:rPr>
              <a:t>THE PROBLEM</a:t>
            </a:r>
          </a:p>
          <a:p>
            <a:pPr algn="l" marL="237744" indent="-237744">
              <a:lnSpc>
                <a:spcPct val="120000"/>
              </a:lnSpc>
              <a:spcBef>
                <a:spcPts val="78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270" b="0" i="0">
                <a:solidFill>
                  <a:srgbClr val="DEE8F4"/>
                </a:solidFill>
                <a:latin typeface="Segoe UI"/>
              </a:rPr>
              <a:t>1,000 transactions in total</a:t>
            </a:r>
          </a:p>
          <a:p>
            <a:pPr algn="l" marL="237744" indent="-237744">
              <a:lnSpc>
                <a:spcPct val="120000"/>
              </a:lnSpc>
              <a:spcBef>
                <a:spcPts val="78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270" b="0" i="0">
                <a:solidFill>
                  <a:srgbClr val="DEE8F4"/>
                </a:solidFill>
                <a:latin typeface="Segoe UI"/>
              </a:rPr>
              <a:t>600 contain bread</a:t>
            </a:r>
          </a:p>
          <a:p>
            <a:pPr algn="l" marL="237744" indent="-237744">
              <a:lnSpc>
                <a:spcPct val="120000"/>
              </a:lnSpc>
              <a:spcBef>
                <a:spcPts val="78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270" b="0" i="0">
                <a:solidFill>
                  <a:srgbClr val="DEE8F4"/>
                </a:solidFill>
                <a:latin typeface="Segoe UI"/>
              </a:rPr>
              <a:t>800 contain milk</a:t>
            </a:r>
          </a:p>
          <a:p>
            <a:pPr algn="l" marL="237744" indent="-237744">
              <a:lnSpc>
                <a:spcPct val="120000"/>
              </a:lnSpc>
              <a:spcBef>
                <a:spcPts val="78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270" b="0" i="0">
                <a:solidFill>
                  <a:srgbClr val="DEE8F4"/>
                </a:solidFill>
                <a:latin typeface="Segoe UI"/>
              </a:rPr>
              <a:t>500 contain both bread and milk</a:t>
            </a:r>
          </a:p>
          <a:p>
            <a:pPr algn="l" marL="237744" indent="-237744">
              <a:lnSpc>
                <a:spcPct val="120000"/>
              </a:lnSpc>
              <a:spcBef>
                <a:spcPts val="78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270" b="0" i="0">
                <a:solidFill>
                  <a:srgbClr val="DEE8F4"/>
                </a:solidFill>
                <a:latin typeface="Segoe UI"/>
              </a:rPr>
              <a:t>Task: evaluate the rule  bread → milk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33524"/>
            <a:ext cx="3703320" cy="1994123"/>
          </a:xfrm>
          <a:prstGeom prst="roundRect">
            <a:avLst>
              <a:gd name="adj" fmla="val 5000"/>
            </a:avLst>
          </a:prstGeom>
          <a:solidFill>
            <a:srgbClr val="FEF3E0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18288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D97706"/>
                </a:solidFill>
                <a:latin typeface="Segoe UI Semibold"/>
              </a:rPr>
              <a:t>WHY IT MATTERS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D97706"/>
              </a:buClr>
              <a:buSzPct val="86000"/>
              <a:buFont typeface="Arial"/>
              <a:buChar char="▪"/>
            </a:pPr>
            <a:r>
              <a:rPr sz="1250" b="0" i="0">
                <a:solidFill>
                  <a:srgbClr val="1C2330"/>
                </a:solidFill>
                <a:latin typeface="Segoe UI"/>
              </a:rPr>
              <a:t>Confidence is inflated whenever the consequent is common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D97706"/>
              </a:buClr>
              <a:buSzPct val="86000"/>
              <a:buFont typeface="Arial"/>
              <a:buChar char="▪"/>
            </a:pPr>
            <a:r>
              <a:rPr sz="1250" b="0" i="0">
                <a:solidFill>
                  <a:srgbClr val="1C2330"/>
                </a:solidFill>
                <a:latin typeface="Segoe UI"/>
              </a:rPr>
              <a:t>Always report lift alongside confidence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D97706"/>
              </a:buClr>
              <a:buSzPct val="86000"/>
              <a:buFont typeface="Arial"/>
              <a:buChar char="▪"/>
            </a:pPr>
            <a:r>
              <a:rPr sz="1250" b="0" i="0">
                <a:solidFill>
                  <a:srgbClr val="1C2330"/>
                </a:solidFill>
                <a:latin typeface="Segoe UI"/>
              </a:rPr>
              <a:t>A rule with lift ≈ 1 tells you nothing you did not already know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1792224"/>
            <a:ext cx="7245065" cy="358444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19456" tIns="219456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0096C7"/>
                </a:solidFill>
                <a:latin typeface="Segoe UI Semibold"/>
              </a:rPr>
              <a:t>STEP-BY-STEP SOLUTION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Support of bread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supp(bread) = 600 / 1000 = 0.60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Support of milk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supp(milk) = 800 / 1000 = 0.80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Support of the rule  </a:t>
            </a:r>
            <a:r>
              <a:rPr sz="1350" b="0" i="0">
                <a:solidFill>
                  <a:srgbClr val="1C2330"/>
                </a:solidFill>
                <a:latin typeface="Cambria Math"/>
              </a:rPr>
              <a:t>supp(bread ∪ milk) = 500 / 1000 = 0.50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Confidence  </a:t>
            </a:r>
            <a:r>
              <a:rPr sz="1350" b="0" i="0">
                <a:solidFill>
                  <a:srgbClr val="1C2330"/>
                </a:solidFill>
                <a:latin typeface="Cambria Math"/>
              </a:rPr>
              <a:t>conf = supp(bread ∪ milk) / supp(bread) = 0.50 / 0.60 = 0.833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Lift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lift = conf / supp(milk) = 0.833 / 0.80 = 1.042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Conviction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conv = (1 − 0.80) / (1 − 0.833) = 0.20 / 0.167 = 1.20</a:t>
            </a:r>
          </a:p>
          <a:p>
            <a:pPr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182B49"/>
                </a:solidFill>
                <a:latin typeface="Segoe UI Semibold"/>
              </a:rPr>
              <a:t>Interpretation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confidence looks impressive at 83%, but lift is only 1.04 - barely above independence. Milk is simply in 80% of ALL baskets.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3" y="5541264"/>
            <a:ext cx="7245065" cy="786384"/>
          </a:xfrm>
          <a:prstGeom prst="roundRect">
            <a:avLst>
              <a:gd name="adj" fmla="val 8000"/>
            </a:avLst>
          </a:prstGeom>
          <a:solidFill>
            <a:srgbClr val="E4F6EB"/>
          </a:solidFill>
          <a:ln w="15875">
            <a:solidFill>
              <a:srgbClr val="107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0" bIns="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07C41"/>
                </a:solidFill>
                <a:latin typeface="Segoe UI Semibold"/>
              </a:rPr>
              <a:t>ANSWER   </a:t>
            </a:r>
            <a:r>
              <a:rPr sz="1500" b="1" i="0">
                <a:solidFill>
                  <a:srgbClr val="182B49"/>
                </a:solidFill>
                <a:latin typeface="Cambria Math"/>
              </a:rPr>
              <a:t>conf = 0.833 looks strong.  lift = 1.042 says it is almost nothing.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43983" y="5541264"/>
            <a:ext cx="73152" cy="786384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5.1 ASSOCIATION RULE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Why Confidence Alone Misleads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4535424"/>
          </a:xfrm>
          <a:prstGeom prst="roundRect">
            <a:avLst>
              <a:gd name="adj" fmla="val 3500"/>
            </a:avLst>
          </a:prstGeom>
          <a:solidFill>
            <a:srgbClr val="FDE9E7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The trap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if 80% of all baskets contain milk, then 'X → milk' has roughly 80% confidence for ANY X you choose.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What that means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high confidence can simply reflect a popular consequent, not a relationship between X and Y.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Lift removes the effect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by dividing confidence by the baseline frequency of Y, it asks whether X actually changes the odds.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Reading lift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lift = 1 is independence; lift = 2 means buyers of X are twice as likely to buy Y as an average customer.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Negative association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lift below 1 is also informative - the two items are bought together LESS often than chance, which may mean they are substitutes.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Set thresholds on both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require a minimum support so the rule covers enough transactions, and a minimum lift so it says something.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COMMON PITFALL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The most common error in market basket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969" cy="6046927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969" cy="82296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6151"/>
            <a:ext cx="12191969" cy="82296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800" b="1" i="0">
                <a:solidFill>
                  <a:srgbClr val="2B4770"/>
                </a:solidFill>
                <a:latin typeface="Segoe UI Semibold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529584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7D35"/>
                </a:solidFill>
                <a:latin typeface="Segoe UI Semibold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22191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Apriori and
FP-Growth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10512"/>
            <a:ext cx="4983480" cy="4069080"/>
          </a:xfrm>
          <a:prstGeom prst="roundRect">
            <a:avLst>
              <a:gd name="adj" fmla="val 45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2743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 i="0">
                <a:solidFill>
                  <a:srgbClr val="107C41"/>
                </a:solidFill>
                <a:latin typeface="Segoe UI Semibold"/>
              </a:rPr>
              <a:t>IN THIS SECTION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The combinatorial problem: why brute force fails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The Apriori property and how it prunes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FP-Growth: compress, then read patterns off a tree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Comparing the two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5.2 APRIORI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The Problem Both Algorithms 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4535424"/>
          </a:xfrm>
          <a:prstGeom prst="roundRect">
            <a:avLst>
              <a:gd name="adj" fmla="val 3500"/>
            </a:avLst>
          </a:prstGeom>
          <a:solidFill>
            <a:srgbClr val="EEF2F8"/>
          </a:solidFill>
          <a:ln w="15875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task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find every itemset whose support exceeds a threshold, then turn those into rules.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obstacle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with d distinct items there are 2ᵈ − 1 possible itemsets. For 100 items that is about 1.27 × 10³⁰.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So brute force is impossible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even a modest supermarket carries thousands of products.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APRIORI PROPERTY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if an itemset is infrequent, every superset of it must also be infrequent. Adding items can only reduce support.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Why that helps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the moment {bread, caviar} falls below the threshold, you never need to test {bread, caviar, milk} or anything else containing that pair.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This single observation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is what makes the search tractable, and it is the idea the whole of Apriori is built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KEY CONCEPT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Why you cannot simply test every itemset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5.2 APRIORI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The Apriori Algorithm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Generate candidates, test them, prune - one pass through the data per itemset size.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2134813" cy="32552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37160" tIns="694944" bIns="0"/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182B49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Compute support for every individual item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182B49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Discard those below min_support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9424"/>
            <a:ext cx="2134813" cy="548640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50008"/>
            <a:ext cx="184220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01  COUNT SINGLES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2624017" y="2450592"/>
            <a:ext cx="155448" cy="155448"/>
          </a:xfrm>
          <a:prstGeom prst="triangle">
            <a:avLst/>
          </a:prstGeom>
          <a:solidFill>
            <a:srgbClr val="B4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65749" y="2249424"/>
            <a:ext cx="2134813" cy="32552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37160" tIns="694944" bIns="0"/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Combine only the frequent singles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Never combine anything already discarded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65749" y="2249424"/>
            <a:ext cx="2134813" cy="54864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2053" y="2350008"/>
            <a:ext cx="184220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02  GENERATE PAIRS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4886846" y="2450592"/>
            <a:ext cx="155448" cy="155448"/>
          </a:xfrm>
          <a:prstGeom prst="triangle">
            <a:avLst/>
          </a:prstGeom>
          <a:solidFill>
            <a:srgbClr val="B4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8578" y="2249424"/>
            <a:ext cx="2134813" cy="32552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37160" tIns="694944" bIns="0"/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Discard candidates with an infrequent subset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D97706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This is the Apriori property doing the 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8578" y="2249424"/>
            <a:ext cx="2134813" cy="548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74882" y="2350008"/>
            <a:ext cx="184220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03  PRUNE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7149675" y="2450592"/>
            <a:ext cx="155448" cy="155448"/>
          </a:xfrm>
          <a:prstGeom prst="triangle">
            <a:avLst/>
          </a:prstGeom>
          <a:solidFill>
            <a:srgbClr val="B4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91407" y="2249424"/>
            <a:ext cx="2134813" cy="32552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37160" tIns="694944" bIns="0"/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107C41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Scan the data to count survivors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107C41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Grow to triples, quadruples, and so 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1407" y="2249424"/>
            <a:ext cx="2134813" cy="548640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7711" y="2350008"/>
            <a:ext cx="184220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04  COUNT AND REPEAT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9412504" y="2450592"/>
            <a:ext cx="155448" cy="155448"/>
          </a:xfrm>
          <a:prstGeom prst="triangle">
            <a:avLst/>
          </a:prstGeom>
          <a:solidFill>
            <a:srgbClr val="B4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4236" y="2249424"/>
            <a:ext cx="2134813" cy="32552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37160" tIns="694944" bIns="0"/>
          <a:lstStyle/>
          <a:p>
            <a:pPr algn="l" marL="237744" indent="-237744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Split each frequent itemset into X → Y</a:t>
            </a:r>
          </a:p>
          <a:p>
            <a:pPr algn="l" marL="237744" indent="-237744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50" b="0" i="0">
                <a:solidFill>
                  <a:srgbClr val="1C2330"/>
                </a:solidFill>
                <a:latin typeface="Segoe UI"/>
              </a:rPr>
              <a:t>Keep those meeting min_confidence and min_lift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4236" y="2249424"/>
            <a:ext cx="2134813" cy="54864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00540" y="2350008"/>
            <a:ext cx="184220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05  GENERATE RULES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96128"/>
            <a:ext cx="11186129" cy="676656"/>
          </a:xfrm>
          <a:prstGeom prst="roundRect">
            <a:avLst>
              <a:gd name="adj" fmla="val 10000"/>
            </a:avLst>
          </a:prstGeom>
          <a:solidFill>
            <a:srgbClr val="FEF3E0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Segoe UI Semibold"/>
              </a:rPr>
              <a:t>REASON 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If {A, B} is infrequent, do you need to test {A, B, C}?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596128"/>
            <a:ext cx="68580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5.2 APRIORI VS FP-GROWTH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Apriori vs FP-Growth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Same output, two very different amounts of work to get there.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9776" y="2249424"/>
            <a:ext cx="4390628" cy="420624"/>
          </a:xfrm>
          <a:prstGeom prst="roundRect">
            <a:avLst>
              <a:gd name="adj" fmla="val 12000"/>
            </a:avLst>
          </a:prstGeom>
          <a:solidFill>
            <a:srgbClr val="0096C7"/>
          </a:solidFill>
          <a:ln w="12700">
            <a:solidFill>
              <a:srgbClr val="0096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Apriori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8420" y="2249424"/>
            <a:ext cx="4390628" cy="420624"/>
          </a:xfrm>
          <a:prstGeom prst="roundRect">
            <a:avLst>
              <a:gd name="adj" fmla="val 12000"/>
            </a:avLst>
          </a:prstGeom>
          <a:solidFill>
            <a:srgbClr val="107C41"/>
          </a:solidFill>
          <a:ln w="12700">
            <a:solidFill>
              <a:srgbClr val="107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FP-Growth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61488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Core strategy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9776" y="2761488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Generate candidates, then test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79776" y="2761488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98420" y="2761488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1C2330"/>
                </a:solidFill>
                <a:latin typeface="Segoe UI"/>
              </a:rPr>
              <a:t>Compress the data into a tree, then read patterns off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8420" y="2761488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289227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Candidate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79776" y="3289227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Yes - and most candidates are wasted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79776" y="3289227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8420" y="3289227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None at 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98420" y="3289227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816966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Passes over the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9776" y="3816966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One per itemset size - many for long itemsets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9776" y="3816966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98420" y="3816966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Two: one to count items, one to build the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8420" y="3816966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4344706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Memory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9776" y="4344706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Low - stores candidates 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9776" y="4344706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98420" y="4344706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Higher - holds the FP-tree in memory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8420" y="4344706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872445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Speed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79776" y="4872445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Slower, and degrades as min_support falls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79776" y="4872445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298420" y="4872445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Substantially faster on dense data and low thresholds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98420" y="4872445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5400185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Easier to explain?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79776" y="5400185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Yes - the pruning idea is intuitive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79776" y="5400185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298420" y="5400185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No - the conditional tree construction is fiddly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8420" y="5400185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2920" y="5927924"/>
            <a:ext cx="2148840" cy="399723"/>
          </a:xfrm>
          <a:prstGeom prst="roundRect">
            <a:avLst>
              <a:gd name="adj" fmla="val 6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Same answer?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79776" y="5927924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Yes - both return exactly the frequent itemsets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79776" y="5927924"/>
            <a:ext cx="54864" cy="399723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98420" y="5927924"/>
            <a:ext cx="4390628" cy="399723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2330"/>
                </a:solidFill>
                <a:latin typeface="Segoe UI"/>
              </a:rPr>
              <a:t>Yes - they differ only in how much work they 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98420" y="5927924"/>
            <a:ext cx="54864" cy="399723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5.2 MARKET BASKET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Market Basket Analysis - and What It Cannot Tell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3712463"/>
          </a:xfrm>
          <a:prstGeom prst="roundRect">
            <a:avLst>
              <a:gd name="adj" fmla="val 3500"/>
            </a:avLst>
          </a:prstGeom>
          <a:solidFill>
            <a:srgbClr val="E4F6EB"/>
          </a:solidFill>
          <a:ln w="15875">
            <a:solidFill>
              <a:srgbClr val="107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The application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mine transaction records to discover which products are bought together, then use that to arrange shelves, build bundles or drive recommendations.</a:t>
            </a:r>
          </a:p>
          <a:p>
            <a:pPr algn="l">
              <a:lnSpc>
                <a:spcPct val="120000"/>
              </a:lnSpc>
              <a:spcBef>
                <a:spcPts val="89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What a rule establishes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that two things CO-OCCUR more often than chance would predict.</a:t>
            </a:r>
          </a:p>
          <a:p>
            <a:pPr algn="l">
              <a:lnSpc>
                <a:spcPct val="120000"/>
              </a:lnSpc>
              <a:spcBef>
                <a:spcPts val="89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What it does NOT establish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that one causes the other, or that moving them together will sell more.</a:t>
            </a:r>
          </a:p>
          <a:p>
            <a:pPr algn="l">
              <a:lnSpc>
                <a:spcPct val="120000"/>
              </a:lnSpc>
              <a:spcBef>
                <a:spcPts val="89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Three competing explanations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X causes Y; Y causes X; or a third factor - a recipe, a festival, a promotion - causes both.</a:t>
            </a:r>
          </a:p>
          <a:p>
            <a:pPr algn="l">
              <a:lnSpc>
                <a:spcPct val="120000"/>
              </a:lnSpc>
              <a:spcBef>
                <a:spcPts val="89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The counter-move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retailers sometimes place associated products FAR APART, so customers walk past everything else on the way.</a:t>
            </a:r>
          </a:p>
          <a:p>
            <a:pPr algn="l">
              <a:lnSpc>
                <a:spcPct val="120000"/>
              </a:lnSpc>
              <a:spcBef>
                <a:spcPts val="890"/>
              </a:spcBef>
              <a:spcAft>
                <a:spcPts val="0"/>
              </a:spcAft>
            </a:pPr>
            <a:r>
              <a:rPr sz="1330" b="1" i="0">
                <a:solidFill>
                  <a:srgbClr val="107C41"/>
                </a:solidFill>
                <a:latin typeface="Segoe UI Semibold"/>
              </a:rPr>
              <a:t>What settles it  </a:t>
            </a:r>
            <a:r>
              <a:rPr sz="1330" b="0" i="0">
                <a:solidFill>
                  <a:srgbClr val="1C2330"/>
                </a:solidFill>
                <a:latin typeface="Segoe UI"/>
              </a:rPr>
              <a:t>an experiment. Change the arrangement for a subset of stores and measure the difference against a control.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REAL-WORLD APPLICATION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The classic application, and the classic over-claim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96128"/>
            <a:ext cx="11186129" cy="676656"/>
          </a:xfrm>
          <a:prstGeom prst="roundRect">
            <a:avLst>
              <a:gd name="adj" fmla="val 10000"/>
            </a:avLst>
          </a:prstGeom>
          <a:solidFill>
            <a:srgbClr val="FEF3E0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Segoe UI Semibold"/>
              </a:rPr>
              <a:t>DISCUSS 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You find 'nappies → beer' with lift 3.2. What experiment would you run before rearranging the store?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96128"/>
            <a:ext cx="68580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969" cy="6046927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969" cy="82296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6151"/>
            <a:ext cx="12191969" cy="82296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108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800" b="1" i="0">
                <a:solidFill>
                  <a:srgbClr val="2B4770"/>
                </a:solidFill>
                <a:latin typeface="Segoe UI Semibold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529584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7D35"/>
                </a:solidFill>
                <a:latin typeface="Segoe UI Semibold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22191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Anomaly
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10512"/>
            <a:ext cx="4983480" cy="4069080"/>
          </a:xfrm>
          <a:prstGeom prst="roundRect">
            <a:avLst>
              <a:gd name="adj" fmla="val 45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27432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 i="0">
                <a:solidFill>
                  <a:srgbClr val="B42318"/>
                </a:solidFill>
                <a:latin typeface="Segoe UI Semibold"/>
              </a:rPr>
              <a:t>IN THIS SECTION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Anomaly detection vs novelty detection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Isolation Forest - anomalies are easy to isolate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Local Outlier Factor - anomalies are locally sparse</a:t>
            </a:r>
          </a:p>
          <a:p>
            <a:pPr algn="l" marL="237744" indent="-237744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Clr>
                <a:srgbClr val="F47D35"/>
              </a:buClr>
              <a:buSzPct val="86000"/>
              <a:buFont typeface="Arial"/>
              <a:buChar char="▪"/>
            </a:pPr>
            <a:r>
              <a:rPr sz="1450" b="0" i="0">
                <a:solidFill>
                  <a:srgbClr val="D6E2F0"/>
                </a:solidFill>
                <a:latin typeface="Segoe UI"/>
              </a:rPr>
              <a:t>Why accuracy is useless for rare events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5.3 ANOMALY VS NOVELTY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Anomaly Detection vs Novelty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The difference is whether your training data is assumed clean.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67712"/>
            <a:ext cx="5455904" cy="32369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530352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42318"/>
                </a:solidFill>
                <a:latin typeface="Segoe UI Semibold"/>
              </a:rPr>
              <a:t>Training data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contaminated - it already contains the anomalies you are looking for.</a:t>
            </a:r>
          </a:p>
          <a:p>
            <a:pPr algn="l">
              <a:lnSpc>
                <a:spcPct val="116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B42318"/>
                </a:solidFill>
                <a:latin typeface="Segoe UI Semibold"/>
              </a:rPr>
              <a:t>The task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find the unusual points inside a dataset you already have.</a:t>
            </a:r>
          </a:p>
          <a:p>
            <a:pPr algn="l">
              <a:lnSpc>
                <a:spcPct val="116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B42318"/>
                </a:solidFill>
                <a:latin typeface="Segoe UI Semibold"/>
              </a:rPr>
              <a:t>Setting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unsupervised - no labels at all.</a:t>
            </a:r>
          </a:p>
          <a:p>
            <a:pPr algn="l">
              <a:lnSpc>
                <a:spcPct val="116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B42318"/>
                </a:solidFill>
                <a:latin typeface="Segoe UI Semibold"/>
              </a:rPr>
              <a:t>Example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given a year of transactions, which of them were fraudulent?</a:t>
            </a:r>
          </a:p>
          <a:p>
            <a:pPr algn="l">
              <a:lnSpc>
                <a:spcPct val="116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1" i="0">
                <a:solidFill>
                  <a:srgbClr val="B42318"/>
                </a:solidFill>
                <a:latin typeface="Segoe UI Semibold"/>
              </a:rPr>
              <a:t>scikit-learn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IsolationForest, LocalOutlierFactor with fit_predict.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67712"/>
            <a:ext cx="5455904" cy="38404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36292"/>
            <a:ext cx="5090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Anomaly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144" y="2267712"/>
            <a:ext cx="5455904" cy="32369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530352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0096C7"/>
                </a:solidFill>
                <a:latin typeface="Segoe UI Semibold"/>
              </a:rPr>
              <a:t>Training data  </a:t>
            </a:r>
            <a:r>
              <a:rPr sz="1230" b="0" i="0">
                <a:solidFill>
                  <a:srgbClr val="1C2330"/>
                </a:solidFill>
                <a:latin typeface="Segoe UI"/>
              </a:rPr>
              <a:t>clean - it is assumed to contain only normal examples.</a:t>
            </a:r>
          </a:p>
          <a:p>
            <a:pPr algn="l">
              <a:lnSpc>
                <a:spcPct val="116000"/>
              </a:lnSpc>
              <a:spcBef>
                <a:spcPts val="819"/>
              </a:spcBef>
              <a:spcAft>
                <a:spcPts val="0"/>
              </a:spcAft>
            </a:pPr>
            <a:r>
              <a:rPr sz="1230" b="1" i="0">
                <a:solidFill>
                  <a:srgbClr val="0096C7"/>
                </a:solidFill>
                <a:latin typeface="Segoe UI Semibold"/>
              </a:rPr>
              <a:t>The task  </a:t>
            </a:r>
            <a:r>
              <a:rPr sz="1230" b="0" i="0">
                <a:solidFill>
                  <a:srgbClr val="1C2330"/>
                </a:solidFill>
                <a:latin typeface="Segoe UI"/>
              </a:rPr>
              <a:t>decide whether a NEW, unseen point resembles the training data.</a:t>
            </a:r>
          </a:p>
          <a:p>
            <a:pPr algn="l">
              <a:lnSpc>
                <a:spcPct val="116000"/>
              </a:lnSpc>
              <a:spcBef>
                <a:spcPts val="819"/>
              </a:spcBef>
              <a:spcAft>
                <a:spcPts val="0"/>
              </a:spcAft>
            </a:pPr>
            <a:r>
              <a:rPr sz="1230" b="1" i="0">
                <a:solidFill>
                  <a:srgbClr val="0096C7"/>
                </a:solidFill>
                <a:latin typeface="Segoe UI Semibold"/>
              </a:rPr>
              <a:t>Setting  </a:t>
            </a:r>
            <a:r>
              <a:rPr sz="1230" b="0" i="0">
                <a:solidFill>
                  <a:srgbClr val="1C2330"/>
                </a:solidFill>
                <a:latin typeface="Segoe UI"/>
              </a:rPr>
              <a:t>semi-supervised - you assert the training set is normal.</a:t>
            </a:r>
          </a:p>
          <a:p>
            <a:pPr algn="l">
              <a:lnSpc>
                <a:spcPct val="116000"/>
              </a:lnSpc>
              <a:spcBef>
                <a:spcPts val="819"/>
              </a:spcBef>
              <a:spcAft>
                <a:spcPts val="0"/>
              </a:spcAft>
            </a:pPr>
            <a:r>
              <a:rPr sz="1230" b="1" i="0">
                <a:solidFill>
                  <a:srgbClr val="0096C7"/>
                </a:solidFill>
                <a:latin typeface="Segoe UI Semibold"/>
              </a:rPr>
              <a:t>Example  </a:t>
            </a:r>
            <a:r>
              <a:rPr sz="1230" b="0" i="0">
                <a:solidFill>
                  <a:srgbClr val="1C2330"/>
                </a:solidFill>
                <a:latin typeface="Segoe UI"/>
              </a:rPr>
              <a:t>the sensor has run normally for a month; is today's reading normal?</a:t>
            </a:r>
          </a:p>
          <a:p>
            <a:pPr algn="l">
              <a:lnSpc>
                <a:spcPct val="116000"/>
              </a:lnSpc>
              <a:spcBef>
                <a:spcPts val="819"/>
              </a:spcBef>
              <a:spcAft>
                <a:spcPts val="0"/>
              </a:spcAft>
            </a:pPr>
            <a:r>
              <a:rPr sz="1230" b="1" i="0">
                <a:solidFill>
                  <a:srgbClr val="0096C7"/>
                </a:solidFill>
                <a:latin typeface="Segoe UI Semibold"/>
              </a:rPr>
              <a:t>scikit-learn  </a:t>
            </a:r>
            <a:r>
              <a:rPr sz="1230" b="0" i="0">
                <a:solidFill>
                  <a:srgbClr val="1C2330"/>
                </a:solidFill>
                <a:latin typeface="Segoe UI"/>
              </a:rPr>
              <a:t>LocalOutlierFactor with novelty=True, or OneClassSVM.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144" y="2267712"/>
            <a:ext cx="5455904" cy="3840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6024" y="2336292"/>
            <a:ext cx="5090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Novelty 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96128"/>
            <a:ext cx="11186129" cy="676656"/>
          </a:xfrm>
          <a:prstGeom prst="roundRect">
            <a:avLst>
              <a:gd name="adj" fmla="val 10000"/>
            </a:avLst>
          </a:prstGeom>
          <a:solidFill>
            <a:srgbClr val="FEF3E0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28016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Segoe UI Semibold"/>
              </a:rPr>
              <a:t>CLASSIFY 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A robot has run faultlessly for six months, and you want to flag the first sign of a bearing failure. Which is it?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596128"/>
            <a:ext cx="68580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5.3 ISOLATION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Isolation Forest - Anomalies Are Easy to Isolate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4535424"/>
          </a:xfrm>
          <a:prstGeom prst="roundRect">
            <a:avLst>
              <a:gd name="adj" fmla="val 3500"/>
            </a:avLst>
          </a:prstGeom>
          <a:solidFill>
            <a:srgbClr val="EEF2F8"/>
          </a:solidFill>
          <a:ln w="15875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insight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an anomaly sits in a sparse region, so a few random splits are enough to separate it from everything else. A normal point in a dense region needs many.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How it works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build many trees. In each, repeatedly pick a random feature and a random split value until every point is isolated.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score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the average number of splits needed to isolate a point, across all trees. This is its PATH LENGTH.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Short path = anomaly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the easier a point is to cut off, the more anomalous it is.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Why it is efficient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it never computes a distance and never models the normal data. It is roughly linear in the number of points.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182B49"/>
                </a:solidFill>
                <a:latin typeface="Segoe UI Semibold"/>
              </a:rPr>
              <a:t>The contamination parameter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you tell it what proportion you expect to be anomalous, and that sets the threshold.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KEY CONCEPT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A method built on how quickly a point can be cut off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5.3 LOCAL OUTLIER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Local Outlier Factor - Anomalies Are Locally Sparse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2811962"/>
          </a:xfrm>
          <a:prstGeom prst="roundRect">
            <a:avLst>
              <a:gd name="adj" fmla="val 3500"/>
            </a:avLst>
          </a:prstGeom>
          <a:solidFill>
            <a:srgbClr val="EEF2F8"/>
          </a:solidFill>
          <a:ln w="15875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The insight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a point is anomalous if the region around it is much sparser than the regions around its neighbours.</a:t>
            </a:r>
          </a:p>
          <a:p>
            <a:pPr algn="l">
              <a:lnSpc>
                <a:spcPct val="120000"/>
              </a:lnSpc>
              <a:spcBef>
                <a:spcPts val="68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How it works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for each point, estimate a local density from its k nearest neighbours, then compare it with the local densities of those neighbours.</a:t>
            </a:r>
          </a:p>
          <a:p>
            <a:pPr algn="l">
              <a:lnSpc>
                <a:spcPct val="120000"/>
              </a:lnSpc>
              <a:spcBef>
                <a:spcPts val="68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The score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LOF ≈ 1 means the point is as dense as its neighbours. LOF substantially above 1 means it is in a relatively sparse region.</a:t>
            </a:r>
          </a:p>
          <a:p>
            <a:pPr algn="l">
              <a:lnSpc>
                <a:spcPct val="120000"/>
              </a:lnSpc>
              <a:spcBef>
                <a:spcPts val="68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Why LOCAL matters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a point can be perfectly ordinary globally and still be isolated relative to its own neighbourhood.</a:t>
            </a:r>
          </a:p>
          <a:p>
            <a:pPr algn="l">
              <a:lnSpc>
                <a:spcPct val="120000"/>
              </a:lnSpc>
              <a:spcBef>
                <a:spcPts val="68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Where it beats Isolation Forest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when clusters have very different densities, or the anomaly sits between two clusters rather than far outside everything.</a:t>
            </a:r>
          </a:p>
          <a:p>
            <a:pPr algn="l">
              <a:lnSpc>
                <a:spcPct val="120000"/>
              </a:lnSpc>
              <a:spcBef>
                <a:spcPts val="680"/>
              </a:spcBef>
              <a:spcAft>
                <a:spcPts val="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The cost  </a:t>
            </a:r>
            <a:r>
              <a:rPr sz="1010" b="0" i="0">
                <a:solidFill>
                  <a:srgbClr val="1C2330"/>
                </a:solidFill>
                <a:latin typeface="Segoe UI"/>
              </a:rPr>
              <a:t>it computes neighbourhoods, so it is slower and inherits every problem distance has in high dimensions.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KEY CONCEPT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A method that compares a point's density with its neighbours'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05354"/>
            <a:ext cx="11186129" cy="152229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01168" tIns="164592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82B49"/>
                </a:solidFill>
                <a:latin typeface="Segoe UI Semibold"/>
              </a:rPr>
              <a:t>Choosing between them</a:t>
            </a:r>
          </a:p>
          <a:p>
            <a:pPr algn="l" marL="237744" indent="-237744">
              <a:lnSpc>
                <a:spcPct val="116000"/>
              </a:lnSpc>
              <a:spcBef>
                <a:spcPts val="50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300" b="0" i="0">
                <a:solidFill>
                  <a:srgbClr val="1C2330"/>
                </a:solidFill>
                <a:latin typeface="Segoe UI"/>
              </a:rPr>
              <a:t>Isolation Forest: large data, global outliers, speed matters</a:t>
            </a:r>
          </a:p>
          <a:p>
            <a:pPr algn="l" marL="237744" indent="-237744">
              <a:lnSpc>
                <a:spcPct val="116000"/>
              </a:lnSpc>
              <a:spcBef>
                <a:spcPts val="50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300" b="0" i="0">
                <a:solidFill>
                  <a:srgbClr val="1C2330"/>
                </a:solidFill>
                <a:latin typeface="Segoe UI"/>
              </a:rPr>
              <a:t>LOF: varying density, local outliers, moderate data size</a:t>
            </a:r>
          </a:p>
          <a:p>
            <a:pPr algn="l" marL="237744" indent="-237744">
              <a:lnSpc>
                <a:spcPct val="116000"/>
              </a:lnSpc>
              <a:spcBef>
                <a:spcPts val="50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1300" b="0" i="0">
                <a:solidFill>
                  <a:srgbClr val="1C2330"/>
                </a:solidFill>
                <a:latin typeface="Segoe UI"/>
              </a:rPr>
              <a:t>In practice, run both and examine the points they disagree 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5.3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Why Accuracy Is Useless 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4535424"/>
          </a:xfrm>
          <a:prstGeom prst="roundRect">
            <a:avLst>
              <a:gd name="adj" fmla="val 3500"/>
            </a:avLst>
          </a:prstGeom>
          <a:solidFill>
            <a:srgbClr val="FDE9E7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37744" tIns="603504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The setting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fraud is often well under 1% of transactions; machine faults are rarer still.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The trivial model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'return NORMAL' for every input. One line, and it ignores its input entirely.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Its accuracy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if anomalies are 0.1% of the data, that model is 99.9% accurate.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Its usefulness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zero. It detects nothing at all.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So report instead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precision, recall, and the confusion matrix. Precision-recall curves are more informative than ROC when the positive class is very rare.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1" i="0">
                <a:solidFill>
                  <a:srgbClr val="B42318"/>
                </a:solidFill>
                <a:latin typeface="Segoe UI Semibold"/>
              </a:rPr>
              <a:t>And frame the trade-off  </a:t>
            </a:r>
            <a:r>
              <a:rPr sz="1500" b="0" i="0">
                <a:solidFill>
                  <a:srgbClr val="1C2330"/>
                </a:solidFill>
                <a:latin typeface="Segoe UI"/>
              </a:rPr>
              <a:t>every extra anomaly you catch costs a number of false alarms. That balance is a business decision, and your job is to present the curve rather than pick a point on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11186129" cy="420624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883664"/>
            <a:ext cx="107289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COMMON PITFALL   ·   </a:t>
            </a:r>
            <a:r>
              <a:rPr sz="1400" b="1" i="0">
                <a:solidFill>
                  <a:srgbClr val="FFFFFF"/>
                </a:solidFill>
                <a:latin typeface="Segoe UI Semibold"/>
              </a:rPr>
              <a:t>The metric trap that defines rare-event problems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5.3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Applications in Cybersecurity and Fraud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92224"/>
            <a:ext cx="1118612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86476"/>
                </a:solidFill>
                <a:latin typeface="Segoe UI"/>
              </a:rPr>
              <a:t>The common thread: the labels either do not exist, or arrive far too late to be useful.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2267712"/>
          <a:ext cx="11186128" cy="40599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22362"/>
                <a:gridCol w="4386717"/>
                <a:gridCol w="4277049"/>
              </a:tblGrid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Domain</a:t>
                      </a:r>
                    </a:p>
                  </a:txBody>
                  <a:tcPr marL="118872" marR="100584" marT="64008" marB="64008" anchor="ctr">
                    <a:solidFill>
                      <a:srgbClr val="182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What is anomalous</a:t>
                      </a:r>
                    </a:p>
                  </a:txBody>
                  <a:tcPr marL="118872" marR="100584" marT="64008" marB="64008" anchor="ctr">
                    <a:solidFill>
                      <a:srgbClr val="182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 Semibold"/>
                        </a:rPr>
                        <a:t>Why unsupervised</a:t>
                      </a:r>
                    </a:p>
                  </a:txBody>
                  <a:tcPr marL="118872" marR="100584" marT="64008" marB="64008" anchor="ctr">
                    <a:solidFill>
                      <a:srgbClr val="182B49"/>
                    </a:solidFill>
                  </a:tcPr>
                </a:tc>
              </a:tr>
              <a:tr h="724204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82B49"/>
                          </a:solidFill>
                          <a:latin typeface="Segoe UI Semibold"/>
                        </a:rPr>
                        <a:t>Card fraud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A transaction unlike that cardholder's own history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Confirmed labels arrive weeks late, via complaints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</a:tr>
              <a:tr h="724204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82B49"/>
                          </a:solidFill>
                          <a:latin typeface="Segoe UI Semibold"/>
                        </a:rPr>
                        <a:t>Network intrusion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Traffic patterns unlike normal operation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New attack types have no prior examples at all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</a:tr>
              <a:tr h="724204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82B49"/>
                          </a:solidFill>
                          <a:latin typeface="Segoe UI Semibold"/>
                        </a:rPr>
                        <a:t>Account takeover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A login from an unusual device, place or hour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Attack methods change faster than labels accumulate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</a:tr>
              <a:tr h="724204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82B49"/>
                          </a:solidFill>
                          <a:latin typeface="Segoe UI Semibold"/>
                        </a:rPr>
                        <a:t>Insurance claims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A claim profile unlike the population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Investigating every claim is prohibitively expensive</a:t>
                      </a:r>
                    </a:p>
                  </a:txBody>
                  <a:tcPr marL="118872" marR="100584" marT="64008" marB="64008" anchor="ctr">
                    <a:solidFill>
                      <a:srgbClr val="F8FAFC"/>
                    </a:solidFill>
                  </a:tcPr>
                </a:tc>
              </a:tr>
              <a:tr h="724204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82B49"/>
                          </a:solidFill>
                          <a:latin typeface="Segoe UI Semibold"/>
                        </a:rPr>
                        <a:t>Industrial faults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Vibration or current unlike normal running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C2330"/>
                          </a:solidFill>
                          <a:latin typeface="Segoe UI"/>
                        </a:rPr>
                        <a:t>Nobody has labelled examples of a failure not yet seen</a:t>
                      </a:r>
                    </a:p>
                  </a:txBody>
                  <a:tcPr marL="118872" marR="100584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CHECK YOUR UNDERSTANDING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Quick Check - Unit 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932688"/>
          </a:xfrm>
          <a:prstGeom prst="roundRect">
            <a:avLst>
              <a:gd name="adj" fmla="val 5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5A623"/>
                </a:solidFill>
                <a:latin typeface="Segoe UI Semibold"/>
              </a:rPr>
              <a:t>QUICK CHECK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A rule has confidence 0.90 and lift 1.02. What should you conclude?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77724" cy="9326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59835"/>
            <a:ext cx="5529056" cy="713232"/>
          </a:xfrm>
          <a:prstGeom prst="roundRect">
            <a:avLst>
              <a:gd name="adj" fmla="val 9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6656" y="3461003"/>
            <a:ext cx="310896" cy="310896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3351275"/>
            <a:ext cx="4760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30"/>
                </a:solidFill>
                <a:latin typeface="Segoe UI"/>
              </a:rPr>
              <a:t>A strong rule - 90% confidence is excellent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9992" y="3259835"/>
            <a:ext cx="5529056" cy="713232"/>
          </a:xfrm>
          <a:prstGeom prst="roundRect">
            <a:avLst>
              <a:gd name="adj" fmla="val 9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3728" y="3461003"/>
            <a:ext cx="310896" cy="310896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3496" y="3351275"/>
            <a:ext cx="4760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30"/>
                </a:solidFill>
                <a:latin typeface="Segoe UI"/>
              </a:rPr>
              <a:t>The consequent is simply very common; the rule adds almost nothing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01083"/>
            <a:ext cx="5529056" cy="713232"/>
          </a:xfrm>
          <a:prstGeom prst="roundRect">
            <a:avLst>
              <a:gd name="adj" fmla="val 9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6656" y="4302251"/>
            <a:ext cx="310896" cy="310896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" y="4192523"/>
            <a:ext cx="4760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30"/>
                </a:solidFill>
                <a:latin typeface="Segoe UI"/>
              </a:rPr>
              <a:t>The rule is invalid because lift must exceed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9992" y="4101083"/>
            <a:ext cx="5529056" cy="713232"/>
          </a:xfrm>
          <a:prstGeom prst="roundRect">
            <a:avLst>
              <a:gd name="adj" fmla="val 90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33728" y="4302251"/>
            <a:ext cx="310896" cy="310896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3496" y="4192523"/>
            <a:ext cx="4760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330"/>
                </a:solidFill>
                <a:latin typeface="Segoe UI"/>
              </a:rPr>
              <a:t>You need more transactions before you can judge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26379"/>
            <a:ext cx="111861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86476"/>
                </a:solidFill>
                <a:latin typeface="Segoe UI"/>
              </a:rPr>
              <a:t>◆  click to reveal the 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52059"/>
            <a:ext cx="11186129" cy="960120"/>
          </a:xfrm>
          <a:prstGeom prst="roundRect">
            <a:avLst>
              <a:gd name="adj" fmla="val 6000"/>
            </a:avLst>
          </a:prstGeom>
          <a:solidFill>
            <a:srgbClr val="E4F6EB"/>
          </a:solidFill>
          <a:ln w="15875">
            <a:solidFill>
              <a:srgbClr val="107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7C41"/>
                </a:solidFill>
                <a:latin typeface="Segoe UI Semibold"/>
              </a:rPr>
              <a:t>ANSWER: B 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Lift near 1 means the antecedent barely changes the probability of the consequent - they are close to independent. The high confidence comes from the consequent appearing in most baskets anyway. Always read lift alongside confidence.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2059"/>
            <a:ext cx="77724" cy="960120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UNIT V CONSOLIDATION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Activity: Mine It, Then Question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11186129" cy="841248"/>
          </a:xfrm>
          <a:prstGeom prst="roundRect">
            <a:avLst>
              <a:gd name="adj" fmla="val 5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5C2D91"/>
                </a:solidFill>
                <a:latin typeface="Segoe UI Semibold"/>
              </a:rPr>
              <a:t>GROUP WORK   ·   12 minutes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In groups of 3-4, design an analysis for one scenario and then attack your own conclusion.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77724" cy="841248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816352"/>
            <a:ext cx="2686804" cy="2596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713232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60"/>
              </a:spcAft>
            </a:pPr>
            <a:r>
              <a:rPr sz="1330" b="1" i="0">
                <a:solidFill>
                  <a:srgbClr val="182B49"/>
                </a:solidFill>
                <a:latin typeface="Segoe UI Semibold"/>
              </a:rPr>
              <a:t>Choose a scenario</a:t>
            </a:r>
          </a:p>
          <a:p>
            <a:pPr algn="l" marL="237744" indent="-237744">
              <a:lnSpc>
                <a:spcPct val="116000"/>
              </a:lnSpc>
              <a:spcBef>
                <a:spcPts val="47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40" b="0" i="0">
                <a:solidFill>
                  <a:srgbClr val="1C2330"/>
                </a:solidFill>
                <a:latin typeface="Segoe UI"/>
              </a:rPr>
              <a:t>Campus canteen transaction records</a:t>
            </a:r>
          </a:p>
          <a:p>
            <a:pPr algn="l" marL="237744" indent="-237744">
              <a:lnSpc>
                <a:spcPct val="116000"/>
              </a:lnSpc>
              <a:spcBef>
                <a:spcPts val="47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40" b="0" i="0">
                <a:solidFill>
                  <a:srgbClr val="1C2330"/>
                </a:solidFill>
                <a:latin typeface="Segoe UI"/>
              </a:rPr>
              <a:t>Library borrowing history</a:t>
            </a:r>
          </a:p>
          <a:p>
            <a:pPr algn="l" marL="237744" indent="-237744">
              <a:lnSpc>
                <a:spcPct val="116000"/>
              </a:lnSpc>
              <a:spcBef>
                <a:spcPts val="47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40" b="0" i="0">
                <a:solidFill>
                  <a:srgbClr val="1C2330"/>
                </a:solidFill>
                <a:latin typeface="Segoe UI"/>
              </a:rPr>
              <a:t>Login records for a college portal</a:t>
            </a:r>
          </a:p>
          <a:p>
            <a:pPr algn="l" marL="237744" indent="-237744">
              <a:lnSpc>
                <a:spcPct val="116000"/>
              </a:lnSpc>
              <a:spcBef>
                <a:spcPts val="47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40" b="0" i="0">
                <a:solidFill>
                  <a:srgbClr val="1C2330"/>
                </a:solidFill>
                <a:latin typeface="Segoe UI"/>
              </a:rPr>
              <a:t>Or propose your own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6028" y="2816352"/>
            <a:ext cx="2686804" cy="2596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713232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90"/>
              </a:spcAft>
            </a:pPr>
            <a:r>
              <a:rPr sz="1380" b="1" i="0">
                <a:solidFill>
                  <a:srgbClr val="182B49"/>
                </a:solidFill>
                <a:latin typeface="Segoe UI Semibold"/>
              </a:rPr>
              <a:t>Association side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What would an itemset be? What is a transaction?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What minimum support is sensible, and why?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Write one rule you would expect to find</a:t>
            </a:r>
          </a:p>
        </p:txBody>
      </p:sp>
      <p:sp>
        <p:nvSpPr>
          <p:cNvPr id="16" name="Oval 15"/>
          <p:cNvSpPr/>
          <p:nvPr/>
        </p:nvSpPr>
        <p:spPr>
          <a:xfrm>
            <a:off x="3518908" y="3017520"/>
            <a:ext cx="365760" cy="365760"/>
          </a:xfrm>
          <a:prstGeom prst="ellipse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9136" y="2816352"/>
            <a:ext cx="2686804" cy="2596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713232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90"/>
              </a:spcAft>
            </a:pPr>
            <a:r>
              <a:rPr sz="1380" b="1" i="0">
                <a:solidFill>
                  <a:srgbClr val="182B49"/>
                </a:solidFill>
                <a:latin typeface="Segoe UI Semibold"/>
              </a:rPr>
              <a:t>Anomaly side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What would an anomaly mean here?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Anomaly detection or novelty detection? Justify it</a:t>
            </a:r>
          </a:p>
          <a:p>
            <a:pPr algn="l" marL="237744" indent="-237744">
              <a:lnSpc>
                <a:spcPct val="116000"/>
              </a:lnSpc>
              <a:spcBef>
                <a:spcPts val="49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180" b="0" i="0">
                <a:solidFill>
                  <a:srgbClr val="1C2330"/>
                </a:solidFill>
                <a:latin typeface="Segoe UI"/>
              </a:rPr>
              <a:t>Isolation Forest or LOF, and why</a:t>
            </a:r>
          </a:p>
        </p:txBody>
      </p:sp>
      <p:sp>
        <p:nvSpPr>
          <p:cNvPr id="18" name="Oval 17"/>
          <p:cNvSpPr/>
          <p:nvPr/>
        </p:nvSpPr>
        <p:spPr>
          <a:xfrm>
            <a:off x="6352016" y="3017520"/>
            <a:ext cx="365760" cy="365760"/>
          </a:xfrm>
          <a:prstGeom prst="ellipse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2245" y="2816352"/>
            <a:ext cx="2686804" cy="2596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64592" tIns="713232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82B49"/>
                </a:solidFill>
                <a:latin typeface="Segoe UI Semibold"/>
              </a:rPr>
              <a:t>Attack your own result</a:t>
            </a:r>
          </a:p>
          <a:p>
            <a:pPr algn="l" marL="237744" indent="-237744">
              <a:lnSpc>
                <a:spcPct val="116000"/>
              </a:lnSpc>
              <a:spcBef>
                <a:spcPts val="50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200" b="0" i="0">
                <a:solidFill>
                  <a:srgbClr val="1C2330"/>
                </a:solidFill>
                <a:latin typeface="Segoe UI"/>
              </a:rPr>
              <a:t>Give a non-causal explanation for your rule</a:t>
            </a:r>
          </a:p>
          <a:p>
            <a:pPr algn="l" marL="237744" indent="-237744">
              <a:lnSpc>
                <a:spcPct val="116000"/>
              </a:lnSpc>
              <a:spcBef>
                <a:spcPts val="500"/>
              </a:spcBef>
              <a:spcAft>
                <a:spcPts val="0"/>
              </a:spcAft>
              <a:buClr>
                <a:srgbClr val="5C2D91"/>
              </a:buClr>
              <a:buSzPct val="86000"/>
              <a:buFont typeface="Arial"/>
              <a:buChar char="▪"/>
            </a:pPr>
            <a:r>
              <a:rPr sz="1200" b="0" i="0">
                <a:solidFill>
                  <a:srgbClr val="1C2330"/>
                </a:solidFill>
                <a:latin typeface="Segoe UI"/>
              </a:rPr>
              <a:t>Name a group your anomaly detector might unfairly flag</a:t>
            </a:r>
          </a:p>
        </p:txBody>
      </p:sp>
      <p:sp>
        <p:nvSpPr>
          <p:cNvPr id="20" name="Oval 19"/>
          <p:cNvSpPr/>
          <p:nvPr/>
        </p:nvSpPr>
        <p:spPr>
          <a:xfrm>
            <a:off x="9185125" y="3017520"/>
            <a:ext cx="365760" cy="365760"/>
          </a:xfrm>
          <a:prstGeom prst="ellipse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41264"/>
            <a:ext cx="11186129" cy="786384"/>
          </a:xfrm>
          <a:prstGeom prst="roundRect">
            <a:avLst>
              <a:gd name="adj" fmla="val 7000"/>
            </a:avLst>
          </a:prstGeom>
          <a:solidFill>
            <a:srgbClr val="FEF3E0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Segoe UI Semibold"/>
              </a:rPr>
              <a:t>DELIVERABLE   </a:t>
            </a:r>
            <a:r>
              <a:rPr sz="1350" b="0" i="0">
                <a:solidFill>
                  <a:srgbClr val="1C2330"/>
                </a:solidFill>
                <a:latin typeface="Segoe UI"/>
              </a:rPr>
              <a:t>One speaker per group: 60 seconds on your rule, your anomaly method, and the alternative explanation you could not rule out.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41264"/>
            <a:ext cx="77724" cy="78638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86384"/>
            <a:ext cx="12191969" cy="804672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91056"/>
            <a:ext cx="12191969" cy="41148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77724" cy="804672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86968"/>
            <a:ext cx="95402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EC5E2"/>
                </a:solidFill>
                <a:latin typeface="Segoe UI Semibold"/>
              </a:rPr>
              <a:t>UNIT V 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54020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Segoe UI Semibold"/>
              </a:rPr>
              <a:t>Unit V - The Seven Ideas Worth Remembering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88849" y="987552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253E64"/>
          </a:solidFill>
          <a:ln w="9525">
            <a:solidFill>
              <a:srgbClr val="ED7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ACDA5"/>
                </a:solidFill>
                <a:latin typeface="Segoe UI Semibold"/>
              </a:rPr>
              <a:t>UNIT 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55079"/>
            <a:ext cx="11186129" cy="10972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86476"/>
                </a:solidFill>
                <a:latin typeface="Segoe UI"/>
              </a:rPr>
              <a:t>INT396  ·  Unit 5: Association Rule Mining and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6009" y="64190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86476"/>
                </a:solidFill>
                <a:latin typeface="Segoe UI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92224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2376" y="2000250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1938528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</a:pPr>
            <a:r>
              <a:rPr sz="840" b="1" i="0">
                <a:solidFill>
                  <a:srgbClr val="182B49"/>
                </a:solidFill>
                <a:latin typeface="Segoe UI Semibold"/>
              </a:rPr>
              <a:t>Support, confidence, lift and conviction describe one rule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476"/>
                </a:solidFill>
                <a:latin typeface="Segoe UI"/>
              </a:rPr>
              <a:t>Support is coverage, confidence is reliability, lift compares against chance, and conviction measures how rarely the rule is violated.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280" y="1792224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280" y="1792224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7736" y="2000250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8088" y="1938528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</a:pPr>
            <a:r>
              <a:rPr sz="840" b="1" i="0">
                <a:solidFill>
                  <a:srgbClr val="182B49"/>
                </a:solidFill>
                <a:latin typeface="Segoe UI Semibold"/>
              </a:rPr>
              <a:t>Confidence alone misleads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476"/>
                </a:solidFill>
                <a:latin typeface="Segoe UI"/>
              </a:rPr>
              <a:t>If the consequent is common, almost any rule has high confidence. Lift divides that baseline out, which is why lift is the metric to read.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56915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756915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2376" y="2964941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2903220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</a:pPr>
            <a:r>
              <a:rPr sz="840" b="1" i="0">
                <a:solidFill>
                  <a:srgbClr val="182B49"/>
                </a:solidFill>
                <a:latin typeface="Segoe UI Semibold"/>
              </a:rPr>
              <a:t>The Apriori property makes the search possible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476"/>
                </a:solidFill>
                <a:latin typeface="Segoe UI"/>
              </a:rPr>
              <a:t>If an itemset is infrequent, every superset of it must be too - so whole branches of the search can be discarded untested.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280" y="2756915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280" y="2756915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97736" y="2964941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8088" y="2903220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9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FP-Growth gets the same answer with less work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86476"/>
                </a:solidFill>
                <a:latin typeface="Segoe UI"/>
              </a:rPr>
              <a:t>It compresses the data into a tree and reads patterns off it, generating no candidates at 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21608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21608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22376" y="3929634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3867912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9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Association is not causation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86476"/>
                </a:solidFill>
                <a:latin typeface="Segoe UI"/>
              </a:rPr>
              <a:t>A rule says two things co-occur. Acting on it requires an experiment, not a lift value.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8280" y="3721608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280" y="3721608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97736" y="3929634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8088" y="3867912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</a:pPr>
            <a:r>
              <a:rPr sz="840" b="1" i="0">
                <a:solidFill>
                  <a:srgbClr val="182B49"/>
                </a:solidFill>
                <a:latin typeface="Segoe UI Semibold"/>
              </a:rPr>
              <a:t>Anomaly and novelty detection differ in their training data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476"/>
                </a:solidFill>
                <a:latin typeface="Segoe UI"/>
              </a:rPr>
              <a:t>Anomaly detection works on contaminated data; novelty detection assumes the training set is clean.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686300"/>
            <a:ext cx="5510768" cy="8001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686300"/>
            <a:ext cx="68580" cy="800100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22376" y="4894326"/>
            <a:ext cx="384048" cy="384048"/>
          </a:xfrm>
          <a:prstGeom prst="ellipse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" y="4832604"/>
            <a:ext cx="4578080" cy="5440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90"/>
              </a:spcAft>
            </a:pPr>
            <a:r>
              <a:rPr sz="1010" b="1" i="0">
                <a:solidFill>
                  <a:srgbClr val="182B49"/>
                </a:solidFill>
                <a:latin typeface="Segoe UI Semibold"/>
              </a:rPr>
              <a:t>Isolation Forest is global, LOF is local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86476"/>
                </a:solidFill>
                <a:latin typeface="Segoe UI"/>
              </a:rPr>
              <a:t>One asks how easily a point can be cut off from everything; the other compares its density with its own neighbours'.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596128"/>
            <a:ext cx="11186129" cy="731520"/>
          </a:xfrm>
          <a:prstGeom prst="roundRect">
            <a:avLst>
              <a:gd name="adj" fmla="val 7000"/>
            </a:avLst>
          </a:prstGeom>
          <a:solidFill>
            <a:srgbClr val="182B49"/>
          </a:solidFill>
          <a:ln w="12700">
            <a:solidFill>
              <a:srgbClr val="182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 Semibold"/>
              </a:rPr>
              <a:t>NEXT UP   </a:t>
            </a:r>
            <a:r>
              <a:rPr sz="1350" b="0" i="0">
                <a:solidFill>
                  <a:srgbClr val="D6E2F0"/>
                </a:solidFill>
                <a:latin typeface="Segoe UI"/>
              </a:rPr>
              <a:t>Unit VI - Evaluation and Applications: internal and external validation, cohesion and separation, stability-based evaluation, interpretability, and the ethics of pattern discovery.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96128"/>
            <a:ext cx="77724" cy="731520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0"/>
            <a:ext cx="12191969" cy="6046927"/>
          </a:xfrm>
          <a:prstGeom prst="rect">
            <a:avLst/>
          </a:prstGeom>
          <a:solidFill>
            <a:srgbClr val="18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969" cy="82296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6151"/>
            <a:ext cx="12191969" cy="82296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60704"/>
            <a:ext cx="9144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Unit V Complete - Your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10512"/>
            <a:ext cx="2011680" cy="45720"/>
          </a:xfrm>
          <a:prstGeom prst="rect">
            <a:avLst/>
          </a:prstGeom>
          <a:solidFill>
            <a:srgbClr val="ED7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4463233" cy="3913632"/>
          </a:xfrm>
          <a:prstGeom prst="roundRect">
            <a:avLst>
              <a:gd name="adj" fmla="val 50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27432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40"/>
              </a:spcAft>
            </a:pPr>
            <a:r>
              <a:rPr sz="810" b="1" i="0">
                <a:solidFill>
                  <a:srgbClr val="0096C7"/>
                </a:solidFill>
                <a:latin typeface="Segoe UI Semibold"/>
              </a:rPr>
              <a:t>YOU SHOULD NOW BE ABLE TO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Define support, confidence, lift and conviction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Compute all four from transaction counts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Explain why confidence alone is misleading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State the Apriori property and explain why it makes the search feasible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Describe the five steps of the Apriori algorithm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Compare Apriori and FP-Growth on strategy, passes and memory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Explain why an association rule does not establish causation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Distinguish anomaly detection from novelty detection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Explain the isolation principle behind Isolation Forest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Explain what LOF compares, and when it beats Isolation Forest</a:t>
            </a:r>
          </a:p>
          <a:p>
            <a:pPr algn="l" marL="237744" indent="-237744">
              <a:lnSpc>
                <a:spcPct val="115000"/>
              </a:lnSpc>
              <a:spcBef>
                <a:spcPts val="520"/>
              </a:spcBef>
              <a:spcAft>
                <a:spcPts val="0"/>
              </a:spcAft>
              <a:buClr>
                <a:srgbClr val="0096C7"/>
              </a:buClr>
              <a:buSzPct val="86000"/>
              <a:buFont typeface="Arial"/>
              <a:buChar char="▪"/>
            </a:pPr>
            <a:r>
              <a:rPr sz="880" b="0" i="0">
                <a:solidFill>
                  <a:srgbClr val="D6E2F0"/>
                </a:solidFill>
                <a:latin typeface="Segoe UI"/>
              </a:rPr>
              <a:t>Show why accuracy is useless on a rare-event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084831"/>
            <a:ext cx="4463233" cy="59436"/>
          </a:xfrm>
          <a:prstGeom prst="rect">
            <a:avLst/>
          </a:prstGeom>
          <a:solidFill>
            <a:srgbClr val="009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7361" y="2084831"/>
            <a:ext cx="2840239" cy="3913632"/>
          </a:xfrm>
          <a:prstGeom prst="roundRect">
            <a:avLst>
              <a:gd name="adj" fmla="val 50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27432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80"/>
              </a:spcAft>
            </a:pPr>
            <a:r>
              <a:rPr sz="969" b="1" i="0">
                <a:solidFill>
                  <a:srgbClr val="F5A623"/>
                </a:solidFill>
                <a:latin typeface="Segoe UI Semibold"/>
              </a:rPr>
              <a:t>PRACTICE &amp; LAB WORK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F5A623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Compute all four metrics for a rule from a 1,000-transaction table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F5A623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Given four infrequent pairs, list the triples Apriori never tests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F5A623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Practical 11 and 12 prep: read the Apriori and Isolation Forest docs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F5A623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Compute the accuracy of a do-nothing detector when anomalies are 0.5%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F5A623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Find a published association rule and give a non-causal explanation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7361" y="2084831"/>
            <a:ext cx="2840239" cy="594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28769" y="2084831"/>
            <a:ext cx="2840239" cy="3913632"/>
          </a:xfrm>
          <a:prstGeom prst="roundRect">
            <a:avLst>
              <a:gd name="adj" fmla="val 5000"/>
            </a:avLst>
          </a:prstGeom>
          <a:solidFill>
            <a:srgbClr val="1F3558"/>
          </a:solidFill>
          <a:ln w="12700">
            <a:solidFill>
              <a:srgbClr val="3A5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27432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80"/>
              </a:spcAft>
            </a:pPr>
            <a:r>
              <a:rPr sz="969" b="1" i="0">
                <a:solidFill>
                  <a:srgbClr val="3EC27E"/>
                </a:solidFill>
                <a:latin typeface="Segoe UI Semibold"/>
              </a:rPr>
              <a:t>READ / EXPLORE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3EC27E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Ankur A. Patel, Hands-On Unsupervised Learning Using Python - anomaly detection chapters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3EC27E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Agrawal &amp; Srikant (1994), the original Apriori paper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3EC27E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Han, Pei &amp; Yin (2000), the FP-Growth paper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3EC27E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scikit-learn user guide: Novelty and Outlier Detection</a:t>
            </a:r>
          </a:p>
          <a:p>
            <a:pPr algn="l" marL="237744" indent="-237744">
              <a:lnSpc>
                <a:spcPct val="115000"/>
              </a:lnSpc>
              <a:spcBef>
                <a:spcPts val="610"/>
              </a:spcBef>
              <a:spcAft>
                <a:spcPts val="0"/>
              </a:spcAft>
              <a:buClr>
                <a:srgbClr val="3EC27E"/>
              </a:buClr>
              <a:buSzPct val="86000"/>
              <a:buFont typeface="Arial"/>
              <a:buChar char="▪"/>
            </a:pPr>
            <a:r>
              <a:rPr sz="1050" b="0" i="0">
                <a:solidFill>
                  <a:srgbClr val="D6E2F0"/>
                </a:solidFill>
                <a:latin typeface="Segoe UI"/>
              </a:rPr>
              <a:t>Explore: compute lift for a rule where the consequent appears in 90% of baskets, and see how little confidence tells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28769" y="2084831"/>
            <a:ext cx="2840239" cy="59436"/>
          </a:xfrm>
          <a:prstGeom prst="rect">
            <a:avLst/>
          </a:prstGeom>
          <a:solidFill>
            <a:srgbClr val="3EC2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1813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29EBE"/>
                </a:solidFill>
                <a:latin typeface="Segoe UI"/>
              </a:rPr>
              <a:t>INT396  ·  Unit 5: Association Rule Mining and Anomaly Detection  ·  School of Computer Science &amp;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5898</TotalTime>
  <Words>1289</Words>
  <Application>Microsoft Office PowerPoint</Application>
  <PresentationFormat>Widescreen</PresentationFormat>
  <Paragraphs>61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INT396 Unit 5 - Association Rule Mining and Anomaly Detection</dc:title>
  <dc:creator>School of Computer Science &amp; Engineering</dc:creator>
  <cp:lastModifiedBy>piyush sharma</cp:lastModifiedBy>
  <cp:revision>94</cp:revision>
  <dcterms:created xsi:type="dcterms:W3CDTF">2025-07-15T03:53:59Z</dcterms:created>
  <dcterms:modified xsi:type="dcterms:W3CDTF">2026-08-08T08:00:19Z</dcterms:modified>
  <dc:subject>Unsupervised Learning</dc:subject>
</cp:coreProperties>
</file>