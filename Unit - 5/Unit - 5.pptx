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29405" autoAdjust="0"/>
  </p:normalViewPr>
  <p:slideViewPr>
    <p:cSldViewPr snapToGrid="0">
      <p:cViewPr varScale="1">
        <p:scale>
          <a:sx n="21" d="100"/>
          <a:sy n="21" d="100"/>
        </p:scale>
        <p:origin x="261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C2B38-6B8B-8144-9502-D52FD278097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226FD-0AA1-C14C-A7A7-3D3E3FAE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226FD-0AA1-C14C-A7A7-3D3E3FAEEC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8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4493-2CA9-8571-4937-E45C2294E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1036C-6384-5668-A896-8F559C66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52FCC-C458-4578-09B1-A7F96EF6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DFC3-F3A1-B8C9-8624-B917C1EA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230D-3CC0-26B9-4D66-CFD85F08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8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FAAA-C090-FF11-A066-5D037A73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08CB-F94A-8780-3C82-AD1340EE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06A8-829A-BE65-08EE-2D7F3F9B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E45F-FB75-B34E-27F0-544E92E3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04ED-1139-D1C8-97B4-6A9FB8A3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0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4447-F8E8-EC31-5553-D60623A5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9DCF8-A867-D420-A672-6C959A5D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FED3-BE17-9E41-ED8D-B9B42AC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FFA2-5A46-EBEA-9E9A-D8C485A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DA7B3-BE26-7D7E-8473-2FB857A9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4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8B39-26AC-466A-D6B5-461E03BF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1A01-4126-5D51-BEDC-E4D44A01C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DED90-651B-4EDC-1F5A-BEFE59B6F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CB8B3-05BB-BAF6-00B6-CD97987C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4D950-7D44-86BB-087A-5209FF39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ED68-4DC4-1CD3-45DD-44AB832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0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579F-E9B9-4FB3-079C-AC0EE8F9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608D8-61E9-0EC2-1135-4E5AB369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A57A8-1B67-3DEF-41A5-D689D0D4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DF143-0F17-FE98-282E-1935E343A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70667-B2E8-5A38-38FA-A6706EAF2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05CCF-F585-0F17-DABE-05E4FF79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47FE8-0E8D-A94F-B474-4909D0E7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5C681-F6A7-1471-4241-23FFAA8C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21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11E3-2766-C194-3035-EA92294F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54F45-D083-1E23-0957-2B94E116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71DE8-9CC0-DE1B-A9E8-E900DDCA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D2338-EB70-78B3-04E8-081C7B22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9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F10A3-7809-E665-6D31-0B72448C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10D3E-488E-86AE-1886-0C478399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70C7-6B8D-6A95-A5E8-91CD215A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4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E71E-D6EB-AD5F-11C9-859F8E79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2502-4DAC-0FAC-7A99-641DFC4D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12D85-CFBA-1710-8727-6E8044116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AF872-86E4-F287-51DC-4C920820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091E-9F74-B1FD-AC91-4BA42242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CCCE-FB4C-AE93-2649-11EF8B40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99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47C5-4675-05F0-572E-81810327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8D475-8AA4-40FA-19E0-C3CAFF96D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74253-2D73-FFBA-52EC-16A6704C6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53DF-4D80-39C5-C82B-0BD5B45D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38F90-7261-DC07-035E-01C5FF9F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4CDC3-BA46-E5C1-BFD7-E02B9982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9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F0DE-07EB-5404-5128-D2B464E7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2F2CA-0910-4A3C-BE51-67A4CBFD3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7D85-B05A-A890-F61A-331F8D0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9AD34-418D-1BD5-4033-0A9C0FE8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C38A-C1A3-02F3-460A-AED17037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6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F4D08-5D6D-E381-F67C-A2A38B5BD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4A61E-3091-96AE-E93F-FD899F09E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3682-979B-BD81-BBE6-E10D5F0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DE2A-6E26-3AB5-63D2-91533C50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2DC8D-491E-1FC1-DD4B-A90886C9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99742-43DF-60DD-E25A-A8A794C5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8CF3D-1224-31C1-BC1E-97D09C5B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E14CC-6728-1948-0D35-9401CB296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7C21-BCD5-1B37-9FC5-0B1460643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7B22-005B-A688-B01E-2C4677E63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8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256032" cy="6046927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82296" cy="60469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9049" y="1600200"/>
            <a:ext cx="182880" cy="5029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89049" y="2331720"/>
            <a:ext cx="182880" cy="5029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89049" y="3063240"/>
            <a:ext cx="182880" cy="5029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89049" y="3794760"/>
            <a:ext cx="182880" cy="5029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89049" y="4526280"/>
            <a:ext cx="182880" cy="5029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EC5E2"/>
                </a:solidFill>
                <a:latin typeface="Segoe UI Semibold"/>
              </a:rPr>
              <a:t>INT396  ·  UNSUPERVISED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942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7D35"/>
                </a:solidFill>
                <a:latin typeface="Segoe UI Semibold"/>
              </a:rPr>
              <a:t>UNIT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15184"/>
            <a:ext cx="950976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Segoe UI Semibold"/>
              </a:rPr>
              <a:t>Association Rule Mining and
Anomaly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224528"/>
            <a:ext cx="2377440" cy="457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43984"/>
            <a:ext cx="90525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ACADE"/>
                </a:solidFill>
                <a:latin typeface="Segoe UI"/>
              </a:rPr>
              <a:t>Two ways of finding structure that is not a cluster: what tends to occur together, and what does not belong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7550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A5C4"/>
                </a:solidFill>
                <a:latin typeface="Segoe UI"/>
              </a:rPr>
              <a:t>Support · Confidence · Lift · Conviction  •  Apriori  •  FP-Growth  •  Market Basket Analysis  •  Anomaly vs Novelty  •  Isolation Forest  •  Local Outlier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035040"/>
            <a:ext cx="10088849" cy="10972"/>
          </a:xfrm>
          <a:prstGeom prst="rect">
            <a:avLst/>
          </a:prstGeom>
          <a:solidFill>
            <a:srgbClr val="3C5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181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School of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569" y="61813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Session 2026-27  ·  L:2  T:0  P:2  ·  Credits: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V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This Unit Covers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Neither of these produces clusters. Both find structure that clustering would miss.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6998177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Association rule mining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Support, confidence, lift and conviction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The Apriori algorithm and its pruning property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FP-Growth and why it is faster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Market basket analysis</a:t>
            </a:r>
          </a:p>
          <a:p>
            <a:pPr marL="237744" indent="-237744" algn="l"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Anomaly detection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Anomaly detection vs novelty detection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Isolation Forest - anomalies are easy to isolate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Local Outlier Factor - anomalies are locally sparse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Applications in cybersecurity and fraud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7129" y="23042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DBF0F7"/>
          </a:solidFill>
          <a:ln w="2286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6C7"/>
                </a:solidFill>
                <a:latin typeface="Segoe UI Semibold"/>
              </a:rPr>
              <a:t>Metrics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support, confidence, lift, conviction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7129" y="33329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DDECE4"/>
          </a:solidFill>
          <a:ln w="2286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7C41"/>
                </a:solidFill>
                <a:latin typeface="Segoe UI Semibold"/>
              </a:rPr>
              <a:t>Algorithms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Apriori, FP-Growth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7129" y="43616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F9EBDC"/>
          </a:solidFill>
          <a:ln w="2286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Segoe UI Semibold"/>
              </a:rPr>
              <a:t>Anomalies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Isolation Forest, LOF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7129" y="53903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E8E1EF"/>
          </a:solidFill>
          <a:ln w="2286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2D91"/>
                </a:solidFill>
                <a:latin typeface="Segoe UI Semibold"/>
              </a:rPr>
              <a:t>Applications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retail, fraud, cybersecurity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Association Rule
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0096C7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an association rule actually claims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Support, confidence, lift and conviction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confidence alone is misleading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Reading a rule without over-claiming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5.1 ASSOCIATION RULE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Four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Four numbers describing one rule. Only one of them is safe to read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SUPPORT - HOW OFTEN DOES THE ITEMSET APPEAR?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2B49"/>
                </a:solidFill>
                <a:latin typeface="Cambria Math"/>
              </a:rPr>
              <a:t>supp(X) = (transactions containing X) / (total transactions)</a:t>
            </a:r>
          </a:p>
          <a:p>
            <a:pPr algn="l">
              <a:lnSpc>
                <a:spcPct val="114000"/>
              </a:lnSpc>
              <a:spcBef>
                <a:spcPts val="390"/>
              </a:spcBef>
              <a:spcAft>
                <a:spcPts val="0"/>
              </a:spcAft>
            </a:pPr>
            <a:r>
              <a:rPr sz="810" b="0" i="0">
                <a:solidFill>
                  <a:srgbClr val="586476"/>
                </a:solidFill>
                <a:latin typeface="Segoe UI"/>
              </a:rPr>
              <a:t>A frequency. Rules with tiny support describe too few transactions to act on, however strong they look.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3310128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</a:pPr>
            <a:r>
              <a:rPr sz="840" b="1" i="0">
                <a:solidFill>
                  <a:srgbClr val="5C2D91"/>
                </a:solidFill>
                <a:latin typeface="Segoe UI Semibold"/>
              </a:rPr>
              <a:t>CONFIDENCE - GIVEN X, HOW OFTEN DOES Y FOLLOW?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182B49"/>
                </a:solidFill>
                <a:latin typeface="Cambria Math"/>
              </a:rPr>
              <a:t>conf(X → Y) = supp(X ∪ Y) / supp(X)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1010" b="0" i="0">
                <a:solidFill>
                  <a:srgbClr val="586476"/>
                </a:solidFill>
                <a:latin typeface="Segoe UI"/>
              </a:rPr>
              <a:t>A conditional probability, P(Y | X). High confidence alone is NOT evidence of a relationship.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0128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370831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LIFT - IS THAT MORE THAN CHANCE?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2B49"/>
                </a:solidFill>
                <a:latin typeface="Cambria Math"/>
              </a:rPr>
              <a:t>lift(X → Y) = conf(X → Y) / supp(Y)</a:t>
            </a:r>
          </a:p>
          <a:p>
            <a:pPr algn="l">
              <a:lnSpc>
                <a:spcPct val="114000"/>
              </a:lnSpc>
              <a:spcBef>
                <a:spcPts val="390"/>
              </a:spcBef>
              <a:spcAft>
                <a:spcPts val="0"/>
              </a:spcAft>
            </a:pPr>
            <a:r>
              <a:rPr sz="810" b="0" i="0">
                <a:solidFill>
                  <a:srgbClr val="586476"/>
                </a:solidFill>
                <a:latin typeface="Segoe UI"/>
              </a:rPr>
              <a:t>Lift = 1 means X and Y are independent. Above 1 means they genuinely occur together more than chance. This is the metric that matters.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0831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5431536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CONVICTION - HOW OFTEN WOULD THE RULE BE WRONG BY CHANCE?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2B49"/>
                </a:solidFill>
                <a:latin typeface="Cambria Math"/>
              </a:rPr>
              <a:t>conv(X → Y) = ( 1 − supp(Y) ) / ( 1 − conf(X → Y) )</a:t>
            </a:r>
          </a:p>
          <a:p>
            <a:pPr algn="l">
              <a:lnSpc>
                <a:spcPct val="114000"/>
              </a:lnSpc>
              <a:spcBef>
                <a:spcPts val="390"/>
              </a:spcBef>
              <a:spcAft>
                <a:spcPts val="0"/>
              </a:spcAft>
            </a:pPr>
            <a:r>
              <a:rPr sz="810" b="0" i="0">
                <a:solidFill>
                  <a:srgbClr val="586476"/>
                </a:solidFill>
                <a:latin typeface="Segoe UI"/>
              </a:rPr>
              <a:t>High conviction means the rule is rarely violated. Infinite when confidence is 1. Unlike lift, it is directional.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31536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42929" y="2249424"/>
            <a:ext cx="3246120" cy="40782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READING THEM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supp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coverage - is this rule worth acting on at all?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conf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reliability - but inflated whenever Y is common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lift = 1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independent; &gt; 1 associated; &lt; 1 they avoid each other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conv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directional, unlike lift, so X → Y differs from Y → X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Together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require minimum support AND minimum lift, not confidence alone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5.1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Computing All Four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3703320" cy="2358420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69"/>
              </a:spcAft>
            </a:pPr>
            <a:r>
              <a:rPr sz="1019" b="1" i="0">
                <a:solidFill>
                  <a:srgbClr val="0096C7"/>
                </a:solidFill>
                <a:latin typeface="Segoe UI Semibold"/>
              </a:rPr>
              <a:t>THE PROBLEM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1,000 transactions in total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600 contain bread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800 contain milk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500 contain both bread and milk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Task: evaluate the rule  bread → milk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33524"/>
            <a:ext cx="3703320" cy="1994123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D97706"/>
                </a:solidFill>
                <a:latin typeface="Segoe UI Semibold"/>
              </a:rPr>
              <a:t>WHY IT MATTERS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Confidence is inflated whenever the consequent is common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Always report lift alongside confidence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 rule with lift ≈ 1 tells you nothing you did not already know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92224"/>
            <a:ext cx="7245065" cy="35844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19456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STEP-BY-STEP SOLUTION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Support of bread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supp(bread) = 600 / 1000 = 0.60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Support of milk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supp(milk) = 800 / 1000 = 0.80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Support of the rule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supp(bread ∪ milk) = 500 / 1000 = 0.50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Confidence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conf = supp(bread ∪ milk) / supp(bread) = 0.50 / 0.60 = 0.833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Lift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lift = conf / supp(milk) = 0.833 / 0.80 = 1.042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Conviction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conv = (1 − 0.80) / (1 − 0.833) = 0.20 / 0.167 = 1.20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Interpretation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confidence looks impressive at 83%, but lift is only 1.04 - barely above independence. Milk is simply in 80% of ALL baskets.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5541264"/>
            <a:ext cx="7245065" cy="786384"/>
          </a:xfrm>
          <a:prstGeom prst="roundRect">
            <a:avLst>
              <a:gd name="adj" fmla="val 8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ANSWER   </a:t>
            </a:r>
            <a:r>
              <a:rPr sz="1500" b="1" i="0">
                <a:solidFill>
                  <a:srgbClr val="182B49"/>
                </a:solidFill>
                <a:latin typeface="Cambria Math"/>
              </a:rPr>
              <a:t>conf = 0.833 looks strong.  lift = 1.042 says it is almost nothing.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3" y="5541264"/>
            <a:ext cx="73152" cy="78638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5.1 ASSOCIATION RULE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Why Confidence Alone Misleads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FDE9E7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trap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80% of all baskets contain milk, then 'X → milk' has roughly 80% confidence for ANY X you choose.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What that means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high confidence can simply reflect a popular consequent, not a relationship between X and 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Lift removes the effect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by dividing confidence by the baseline frequency of Y, it asks whether X actually changes the odds.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Reading lift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lift = 1 is independence; lift = 2 means buyers of X are twice as likely to buy Y as an average customer.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Negative association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lift below 1 is also informative - the two items are bought together LESS often than chance, which may mean they are substitutes.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Set thresholds on both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require a minimum support so the rule covers enough transactions, and a minimum lift so it says something.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COMMON PITFALL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most common error in market basket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Apriori and
FP-Growth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combinatorial problem: why brute force fails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Apriori property and how it prunes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FP-Growth: compress, then read patterns off a tree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Comparing the two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5.2 APRIORI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Problem Both Algorithms Solve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task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find every itemset whose support exceeds a threshold, then turn those into rules.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obstacle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with d distinct items there are 2ᵈ − 1 possible itemsets. For 100 items that is about 1.27 × 10³⁰.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So brute force is impossible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even a modest supermarket carries thousands of products.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APRIORI PROPERTY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an itemset is infrequent, every superset of it must also be infrequent. Adding items can only reduce support.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Why that helps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the moment {bread, caviar} falls below the threshold, you never need to test {bread, caviar, milk} or anything else containing that pair.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This single observation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is what makes the search tractable, and it is the idea the whole of Apriori is built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Why you cannot simply test every itemset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5.2 APRIORI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Apriori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Generate candidates, test them, prune - one pass through the data per itemset size.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Compute support for every individual item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Discard those below min_support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2134813" cy="548640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01  COUNT SINGLES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2624017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65749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Combine only the frequent singles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Never combine anything already discarded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5749" y="2249424"/>
            <a:ext cx="2134813" cy="54864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12053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02  GENERATE PAIRS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4886846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8578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Discard candidates with an infrequent subset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This is the Apriori property doing the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8578" y="2249424"/>
            <a:ext cx="2134813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4882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03  PRUNE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7149675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91407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Scan the data to count survivors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Grow to triples, quadruples, and so 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1407" y="2249424"/>
            <a:ext cx="2134813" cy="54864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7711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04  COUNT AND REPEAT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9412504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54236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Split each frequent itemset into X → Y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Keep those meeting min_confidence and min_lift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4236" y="2249424"/>
            <a:ext cx="2134813" cy="54864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00540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05  GENERATE 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REASON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If {A, B} is infrequent, do you need to test {A, B, C}?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5.2 APRIORI VS FP-GROWTH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Apriori vs FP-Growth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Same output, two very different amounts of work to get there.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2249424"/>
            <a:ext cx="4390628" cy="420624"/>
          </a:xfrm>
          <a:prstGeom prst="roundRect">
            <a:avLst>
              <a:gd name="adj" fmla="val 12000"/>
            </a:avLst>
          </a:prstGeom>
          <a:solidFill>
            <a:srgbClr val="0096C7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Apriori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8420" y="2249424"/>
            <a:ext cx="4390628" cy="420624"/>
          </a:xfrm>
          <a:prstGeom prst="roundRect">
            <a:avLst>
              <a:gd name="adj" fmla="val 12000"/>
            </a:avLst>
          </a:prstGeom>
          <a:solidFill>
            <a:srgbClr val="107C41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FP-Growth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Core 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9776" y="2761488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Generate candidates, then test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9776" y="2761488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98420" y="2761488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1C2330"/>
                </a:solidFill>
                <a:latin typeface="Segoe UI"/>
              </a:rPr>
              <a:t>Compress the data into a tree, then read patterns off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8420" y="2761488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920" y="3289227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Candidate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9776" y="3289227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 - and most candidates are wasted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9776" y="3289227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98420" y="3289227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None at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8420" y="3289227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3816966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Passes over the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79776" y="3816966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One per itemset size - many for long itemsets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9776" y="3816966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98420" y="3816966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Two: one to count items, one to build the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8420" y="3816966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4344706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4344706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Low - stores candidates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9776" y="4344706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98420" y="4344706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Higher - holds the FP-tree in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8420" y="4344706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2920" y="4872445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Speed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9776" y="4872445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Slower, and degrades as min_support falls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9776" y="4872445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98420" y="4872445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Substantially faster on dense data and low thresholds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8420" y="4872445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5400185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Easier to explain?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79776" y="5400185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 - the pruning idea is intuitive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79776" y="5400185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298420" y="5400185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No - the conditional tree construction is fiddly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8420" y="5400185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02920" y="5927924"/>
            <a:ext cx="2148840" cy="399723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Same answer?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79776" y="5927924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 - both return exactly the frequent itemsets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79776" y="5927924"/>
            <a:ext cx="54864" cy="399723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298420" y="5927924"/>
            <a:ext cx="4390628" cy="399723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 - they differ only in how much work they 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8420" y="5927924"/>
            <a:ext cx="54864" cy="399723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5.2 MARKET BASKET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Market Basket Analysis - and What It Cannot Tell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3712463"/>
          </a:xfrm>
          <a:prstGeom prst="roundRect">
            <a:avLst>
              <a:gd name="adj" fmla="val 35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application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mine transaction records to discover which products are bought together, then use that to arrange shelves, build bundles or drive recommendations.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What a rule establishes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that two things CO-OCCUR more often than chance would predict.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What it does NOT establish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that one causes the other, or that moving them together will sell more.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Three competing explanations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X causes Y; Y causes X; or a third factor - a recipe, a festival, a promotion - causes both.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counter-move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retailers sometimes place associated products FAR APART, so customers walk past everything else on the way.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What settles it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an experiment. Change the arrangement for a subset of stores and measure the difference against a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REAL-WORLD APPLICATION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classic application, and the classic over-claim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DISCUSS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You find 'nappies → beer' with lift 3.2. What experiment would you run before rearranging the store?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Anomaly
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B42318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Anomaly detection vs novelty detection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Isolation Forest - anomalies are easy to isolate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Local Outlier Factor - anomalies are locally sparse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accuracy is useless for rare events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5.3 ANOMALY VS 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Anomaly Detection vs Novelty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The difference is whether your training data is assumed clean.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Training data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contaminated - it already contains the anomalies you are looking for.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The task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find the unusual points inside a dataset you already have.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Setting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unsupervised - no labels at all.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Example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given a year of transactions, which of them were fraudulent?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scikit-learn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IsolationForest, LocalOutlierFactor with fit_predict.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55904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Anomaly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096C7"/>
                </a:solidFill>
                <a:latin typeface="Segoe UI Semibold"/>
              </a:rPr>
              <a:t>Training data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clean - it is assumed to contain only normal examples.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0096C7"/>
                </a:solidFill>
                <a:latin typeface="Segoe UI Semibold"/>
              </a:rPr>
              <a:t>The task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decide whether a NEW, unseen point resembles the training data.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0096C7"/>
                </a:solidFill>
                <a:latin typeface="Segoe UI Semibold"/>
              </a:rPr>
              <a:t>Setting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semi-supervised - you assert the training set is normal.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0096C7"/>
                </a:solidFill>
                <a:latin typeface="Segoe UI Semibold"/>
              </a:rPr>
              <a:t>Example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the sensor has run normally for a month; is today's reading normal?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0096C7"/>
                </a:solidFill>
                <a:latin typeface="Segoe UI Semibold"/>
              </a:rPr>
              <a:t>scikit-learn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LocalOutlierFactor with novelty=True, or OneClassSVM.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2267712"/>
            <a:ext cx="5455904" cy="3840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6024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Novelty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CLASSIFY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A robot has run faultlessly for six months, and you want to flag the first sign of a bearing failure. Which is it?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5.3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Isolation Forest - Anomalies Are Easy to Isolate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insight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an anomaly sits in a sparse region, so a few random splits are enough to separate it from everything else. A normal point in a dense region needs many.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How it works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build many trees. In each, repeatedly pick a random feature and a random split value until every point is isolated.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score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the average number of splits needed to isolate a point, across all trees. This is its PATH LENGTH.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Short path = anomaly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the easier a point is to cut off, the more anomalous it is.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Why it is efficient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it never computes a distance and never models the normal data. It is roughly linear in the number of points.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contamination parameter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you tell it what proportion you expect to be anomalous, and that sets the threshold.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A method built on how quickly a point can be cut 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5.3 LOCAL OUTLIER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Local Outlier Factor - Anomalies Are Locally Sparse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2811962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insight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a point is anomalous if the region around it is much sparser than the regions around its neighbours.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How it works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for each point, estimate a local density from its k nearest neighbours, then compare it with the local densities of those neighbours.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score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LOF ≈ 1 means the point is as dense as its neighbours. LOF substantially above 1 means it is in a relatively sparse region.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Why LOCAL matters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a point can be perfectly ordinary globally and still be isolated relative to its own neighbourhood.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Where it beats Isolation Forest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when clusters have very different densities, or the anomaly sits between two clusters rather than far outside everything.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cost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it computes neighbourhoods, so it is slower and inherits every problem distance has in high dimensions.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A method that compares a point's density with its neighbours'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05354"/>
            <a:ext cx="11186129" cy="152229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01168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Choosing between them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Isolation Forest: large data, global outliers, speed matters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LOF: varying density, local outliers, moderate data size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In practice, run both and examine the points they disagree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5.3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Why Accuracy Is Useless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FDE9E7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setting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fraud is often well under 1% of transactions; machine faults are rarer still.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trivial model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'return NORMAL' for every input. One line, and it ignores its input entirely.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Its accuracy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anomalies are 0.1% of the data, that model is 99.9% accurate.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Its usefulness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zero. It detects nothing at all.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So report instead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precision, recall, and the confusion matrix. Precision-recall curves are more informative than ROC when the positive class is very rare.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And frame the trade-off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every extra anomaly you catch costs a number of false alarms. That balance is a business decision, and your job is to present the curve rather than pick a point on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COMMON PITFALL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metric trap that defines rare-event problems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5.3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Applications in Cybersecurity and Fraud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The common thread: the labels either do not exist, or arrive far too late to be useful.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267712"/>
          <a:ext cx="11186128" cy="4059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7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Domain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What is anomalous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Why unsupervised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82B49"/>
                          </a:solidFill>
                          <a:latin typeface="Segoe UI Semibold"/>
                        </a:rPr>
                        <a:t>Card fraud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A transaction unlike that cardholder's own history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Confirmed labels arrive weeks late, via complaints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82B49"/>
                          </a:solidFill>
                          <a:latin typeface="Segoe UI Semibold"/>
                        </a:rPr>
                        <a:t>Network intrusion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Traffic patterns unlike normal operation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New attack types have no prior examples at all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82B49"/>
                          </a:solidFill>
                          <a:latin typeface="Segoe UI Semibold"/>
                        </a:rPr>
                        <a:t>Account takeover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A login from an unusual device, place or hour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Attack methods change faster than labels accumulate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82B49"/>
                          </a:solidFill>
                          <a:latin typeface="Segoe UI Semibold"/>
                        </a:rPr>
                        <a:t>Insurance claims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A claim profile unlike the population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Investigating every claim is prohibitively expensive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20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82B49"/>
                          </a:solidFill>
                          <a:latin typeface="Segoe UI Semibold"/>
                        </a:rPr>
                        <a:t>Industrial faults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Vibration or current unlike normal running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330"/>
                          </a:solidFill>
                          <a:latin typeface="Segoe UI"/>
                        </a:rPr>
                        <a:t>Nobody has labelled examples of a failure not yet seen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Quick Check - Unit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93268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A623"/>
                </a:solidFill>
                <a:latin typeface="Segoe UI Semibold"/>
              </a:rPr>
              <a:t>QUICK CHECK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A rule has confidence 0.90 and lift 1.02. What should you conclude?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56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A strong rule - 90% confidence is excellent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9992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33728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3496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The consequent is simply very common; the rule adds almost nothing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The rule is invalid because lift must exceed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9992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33728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3496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You need more transactions before you can judge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26379"/>
            <a:ext cx="11186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86476"/>
                </a:solidFill>
                <a:latin typeface="Segoe UI"/>
              </a:rPr>
              <a:t>◆  click to reveal the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52059"/>
            <a:ext cx="11186129" cy="960120"/>
          </a:xfrm>
          <a:prstGeom prst="roundRect">
            <a:avLst>
              <a:gd name="adj" fmla="val 6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C41"/>
                </a:solidFill>
                <a:latin typeface="Segoe UI Semibold"/>
              </a:rPr>
              <a:t>ANSWER: B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Lift near 1 means the antecedent barely changes the probability of the consequent - they are close to independent. The high confidence comes from the consequent appearing in most baskets anyway. Always read lift alongside confidence.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52059"/>
            <a:ext cx="77724" cy="9601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V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Activity: Mine It, Then Question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84124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GROUP WORK   ·   12 minutes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In groups of 3-4, design an analysis for one scenario and then attack your own conclusion.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8412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60"/>
              </a:spcAft>
            </a:pPr>
            <a:r>
              <a:rPr sz="1330" b="1" i="0">
                <a:solidFill>
                  <a:srgbClr val="182B49"/>
                </a:solidFill>
                <a:latin typeface="Segoe UI Semibold"/>
              </a:rPr>
              <a:t>Choose a scenario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40" b="0" i="0">
                <a:solidFill>
                  <a:srgbClr val="1C2330"/>
                </a:solidFill>
                <a:latin typeface="Segoe UI"/>
              </a:rPr>
              <a:t>Campus canteen transaction records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40" b="0" i="0">
                <a:solidFill>
                  <a:srgbClr val="1C2330"/>
                </a:solidFill>
                <a:latin typeface="Segoe UI"/>
              </a:rPr>
              <a:t>Library borrowing history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40" b="0" i="0">
                <a:solidFill>
                  <a:srgbClr val="1C2330"/>
                </a:solidFill>
                <a:latin typeface="Segoe UI"/>
              </a:rPr>
              <a:t>Login records for a college portal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40" b="0" i="0">
                <a:solidFill>
                  <a:srgbClr val="1C2330"/>
                </a:solidFill>
                <a:latin typeface="Segoe UI"/>
              </a:rPr>
              <a:t>Or propose your own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6028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</a:pPr>
            <a:r>
              <a:rPr sz="1380" b="1" i="0">
                <a:solidFill>
                  <a:srgbClr val="182B49"/>
                </a:solidFill>
                <a:latin typeface="Segoe UI Semibold"/>
              </a:rPr>
              <a:t>Association side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What would an itemset be? What is a transaction?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What minimum support is sensible, and why?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Write one rule you would expect to find</a:t>
            </a:r>
          </a:p>
        </p:txBody>
      </p:sp>
      <p:sp>
        <p:nvSpPr>
          <p:cNvPr id="16" name="Oval 15"/>
          <p:cNvSpPr/>
          <p:nvPr/>
        </p:nvSpPr>
        <p:spPr>
          <a:xfrm>
            <a:off x="3518908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9136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</a:pPr>
            <a:r>
              <a:rPr sz="1380" b="1" i="0">
                <a:solidFill>
                  <a:srgbClr val="182B49"/>
                </a:solidFill>
                <a:latin typeface="Segoe UI Semibold"/>
              </a:rPr>
              <a:t>Anomaly side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What would an anomaly mean here?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Anomaly detection or novelty detection? Justify it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Isolation Forest or LOF, and why</a:t>
            </a:r>
          </a:p>
        </p:txBody>
      </p:sp>
      <p:sp>
        <p:nvSpPr>
          <p:cNvPr id="18" name="Oval 17"/>
          <p:cNvSpPr/>
          <p:nvPr/>
        </p:nvSpPr>
        <p:spPr>
          <a:xfrm>
            <a:off x="6352016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2245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Attack your own result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Give a non-causal explanation for your rule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Name a group your anomaly detector might unfairly flag</a:t>
            </a:r>
          </a:p>
        </p:txBody>
      </p:sp>
      <p:sp>
        <p:nvSpPr>
          <p:cNvPr id="20" name="Oval 19"/>
          <p:cNvSpPr/>
          <p:nvPr/>
        </p:nvSpPr>
        <p:spPr>
          <a:xfrm>
            <a:off x="9185125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41264"/>
            <a:ext cx="11186129" cy="786384"/>
          </a:xfrm>
          <a:prstGeom prst="roundRect">
            <a:avLst>
              <a:gd name="adj" fmla="val 70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DELIVERABLE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One speaker per group: 60 seconds on your rule, your anomaly method, and the alternative explanation you could not rule 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77724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V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Unit V - The Seven Ideas Worth Remembering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5: Association Rule Mining and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" y="200025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38528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Support, confidence, lift and conviction describe one rule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Support is coverage, confidence is reliability, lift compares against chance, and conviction measures how rarely the rule is violated.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280" y="1792224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8280" y="1792224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97736" y="200025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8088" y="1938528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Confidence alone misleads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If the consequent is common, almost any rule has high confidence. Lift divides that baseline out, which is why lift is the metric to read.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56915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756915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2376" y="2964941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2903220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The Apriori property makes the search possible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If an itemset is infrequent, every superset of it must be too - so whole branches of the search can be discarded untested.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280" y="2756915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8280" y="2756915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7736" y="2964941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8088" y="2903220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FP-Growth gets the same answer with less work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It compresses the data into a tree and reads patterns off it, generating no candidates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21608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3721608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2376" y="392963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3867912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Association is not causation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A rule says two things co-occur. Acting on it requires an experiment, not a lift value.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280" y="3721608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8280" y="3721608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97736" y="392963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8088" y="3867912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Anomaly and novelty detection differ in their training data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Anomaly detection works on contaminated data; novelty detection assumes the training set is clean.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686300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4686300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2376" y="4894326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832604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Isolation Forest is global, LOF is local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One asks how easily a point can be cut off from everything; the other compares its density with its own neighbours'.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96128"/>
            <a:ext cx="11186129" cy="731520"/>
          </a:xfrm>
          <a:prstGeom prst="roundRect">
            <a:avLst>
              <a:gd name="adj" fmla="val 7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Segoe UI Semibold"/>
              </a:rPr>
              <a:t>NEXT UP   </a:t>
            </a:r>
            <a:r>
              <a:rPr sz="1350" b="0" i="0">
                <a:solidFill>
                  <a:srgbClr val="D6E2F0"/>
                </a:solidFill>
                <a:latin typeface="Segoe UI"/>
              </a:rPr>
              <a:t>Unit VI - Evaluation and Applications: internal and external validation, cohesion and separation, stability-based evaluation, interpretability, and the ethics of pattern discovery.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96128"/>
            <a:ext cx="77724" cy="7315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</TotalTime>
  <Words>3132</Words>
  <Application>Microsoft Office PowerPoint</Application>
  <PresentationFormat>Widescreen</PresentationFormat>
  <Paragraphs>347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INT396 Unit 5 - Association Rule Mining and Anomaly Detection</dc:title>
  <dc:subject>Unsupervised Learning</dc:subject>
  <dc:creator>School of Computer Science &amp; Engineering</dc:creator>
  <cp:lastModifiedBy>Piyush Sharma</cp:lastModifiedBy>
  <cp:revision>95</cp:revision>
  <dcterms:created xsi:type="dcterms:W3CDTF">2025-07-15T03:53:59Z</dcterms:created>
  <dcterms:modified xsi:type="dcterms:W3CDTF">2026-10-27T23:18:18Z</dcterms:modified>
</cp:coreProperties>
</file>