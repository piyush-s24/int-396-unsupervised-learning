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A107856-5554-42FB-B03E-39F5DBC370BA}" styleName="Medium Style 4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8D230F3-CF80-4859-8CE7-A43EE81993B5}" styleName="Light Style 1 –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–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86542" autoAdjust="0"/>
  </p:normalViewPr>
  <p:slideViewPr>
    <p:cSldViewPr snapToGrid="0">
      <p:cViewPr varScale="1">
        <p:scale>
          <a:sx n="62" d="100"/>
          <a:sy n="62" d="100"/>
        </p:scale>
        <p:origin x="10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6" d="100"/>
        <a:sy n="8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BC2B38-6B8B-8144-9502-D52FD2780971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226FD-0AA1-C14C-A7A7-3D3E3FAEE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120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64493-2CA9-8571-4937-E45C2294E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01036C-6384-5668-A896-8F559C66D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52FCC-C458-4578-09B1-A7F96EF6A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8DFC3-F3A1-B8C9-8624-B917C1EAE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F230D-3CC0-26B9-4D66-CFD85F08D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485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DFAAA-C090-FF11-A066-5D037A73A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008CB-F94A-8780-3C82-AD1340EEB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E06A8-829A-BE65-08EE-2D7F3F9BD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3E45F-FB75-B34E-27F0-544E92E35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404ED-1139-D1C8-97B4-6A9FB8A34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203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04447-F8E8-EC31-5553-D60623A55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9DCF8-A867-D420-A672-6C959A5DE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EFED3-BE17-9E41-ED8D-B9B42ACDC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AFFA2-5A46-EBEA-9E9A-D8C485AF4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DA7B3-BE26-7D7E-8473-2FB857A9F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142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88B39-26AC-466A-D6B5-461E03BF3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B1A01-4126-5D51-BEDC-E4D44A01C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FDED90-651B-4EDC-1F5A-BEFE59B6F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CB8B3-05BB-BAF6-00B6-CD97987C7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94D950-7D44-86BB-087A-5209FF391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7ED68-4DC4-1CD3-45DD-44AB832EB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500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F579F-E9B9-4FB3-079C-AC0EE8F9A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608D8-61E9-0EC2-1135-4E5AB3694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A57A8-1B67-3DEF-41A5-D689D0D4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2DF143-0F17-FE98-282E-1935E343A6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D70667-B2E8-5A38-38FA-A6706EAF2E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505CCF-F585-0F17-DABE-05E4FF795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947FE8-0E8D-A94F-B474-4909D0E78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E5C681-F6A7-1471-4241-23FFAA8CC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217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711E3-2766-C194-3035-EA92294F7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254F45-D083-1E23-0957-2B94E1164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571DE8-9CC0-DE1B-A9E8-E900DDCAE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D2338-EB70-78B3-04E8-081C7B229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397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6F10A3-7809-E665-6D31-0B72448C2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A10D3E-488E-86AE-1886-0C478399E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E70C7-6B8D-6A95-A5E8-91CD215A6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342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5E71E-D6EB-AD5F-11C9-859F8E795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62502-4DAC-0FAC-7A99-641DFC4DB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412D85-CFBA-1710-8727-6E8044116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1AF872-86E4-F287-51DC-4C920820B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5091E-9F74-B1FD-AC91-4BA422427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D5CCCE-FB4C-AE93-2649-11EF8B40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995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547C5-4675-05F0-572E-818103276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E8D475-8AA4-40FA-19E0-C3CAFF96D1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74253-2D73-FFBA-52EC-16A6704C6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753DF-4D80-39C5-C82B-0BD5B45DC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38F90-7261-DC07-035E-01C5FF9F0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4CDC3-BA46-E5C1-BFD7-E02B99826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296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1F0DE-07EB-5404-5128-D2B464E70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2F2CA-0910-4A3C-BE51-67A4CBFD30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07D85-B05A-A890-F61A-331F8D038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9AD34-418D-1BD5-4033-0A9C0FE87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7C38A-C1A3-02F3-460A-AED17037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36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AF4D08-5D6D-E381-F67C-A2A38B5BDC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34A61E-3091-96AE-E93F-FD899F09E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D3682-979B-BD81-BBE6-E10D5F02C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BDE2A-6E26-3AB5-63D2-91533C506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2DC8D-491E-1FC1-DD4B-A90886C94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13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08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D99742-43DF-60DD-E25A-A8A794C58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8CF3D-1224-31C1-BC1E-97D09C5BA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E14CC-6728-1948-0D35-9401CB2966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C3085B-59BF-413B-BC82-B4923E5EA610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F7C21-BCD5-1B37-9FC5-0B14606436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37B22-005B-A688-B01E-2C4677E63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086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0"/>
            <a:ext cx="12191969" cy="6046927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256032" cy="6046927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731520"/>
            <a:ext cx="82296" cy="6046927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689049" y="1600200"/>
            <a:ext cx="182880" cy="50292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89049" y="2331720"/>
            <a:ext cx="182880" cy="50292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689049" y="3063240"/>
            <a:ext cx="182880" cy="502920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689049" y="3794760"/>
            <a:ext cx="182880" cy="50292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689049" y="4526280"/>
            <a:ext cx="182880" cy="502920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1810512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EC5E2"/>
                </a:solidFill>
                <a:latin typeface="Segoe UI Semibold"/>
              </a:rPr>
              <a:t>INT396  ·  UNSUPERVISED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49424"/>
            <a:ext cx="9326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7D35"/>
                </a:solidFill>
                <a:latin typeface="Segoe UI Semibold"/>
              </a:rPr>
              <a:t>UNIT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15184"/>
            <a:ext cx="9509760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FFFFFF"/>
                </a:solidFill>
                <a:latin typeface="Segoe UI Semibold"/>
              </a:rPr>
              <a:t>Evaluation and Applications of
Unsupervised Learning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4224528"/>
            <a:ext cx="2377440" cy="45720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4443984"/>
            <a:ext cx="90525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ACADE"/>
                </a:solidFill>
                <a:latin typeface="Segoe UI"/>
              </a:rPr>
              <a:t>How to judge a result when nobody can tell you the right answer - and what responsibility comes with discovering patterns about people.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175504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CA5C4"/>
                </a:solidFill>
                <a:latin typeface="Segoe UI"/>
              </a:rPr>
              <a:t>Internal vs External Validation  •  Cohesion &amp; Separation  •  Silhouette  •  Stability-Based Evaluation  •  Interpretability  •  Case Studies  •  Ethics of Pattern Discovery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6035040"/>
            <a:ext cx="10088849" cy="10972"/>
          </a:xfrm>
          <a:prstGeom prst="rect">
            <a:avLst/>
          </a:prstGeom>
          <a:solidFill>
            <a:srgbClr val="3C5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6181344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6AFCD"/>
                </a:solidFill>
                <a:latin typeface="Segoe UI"/>
              </a:rPr>
              <a:t>School of Computer Science &amp;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569" y="6181344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6AFCD"/>
                </a:solidFill>
                <a:latin typeface="Segoe UI"/>
              </a:rPr>
              <a:t>Session 2026-27  ·  L:2  T:0  P:2  ·  Credits: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UNIT VI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What This Unit Covers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6: Evaluation and Applications of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The unit that decides whether anything you built in Units II-V can actually be trusted.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04288"/>
            <a:ext cx="6998177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37744" indent="-237744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700" b="0" i="0">
                <a:solidFill>
                  <a:srgbClr val="1C2330"/>
                </a:solidFill>
                <a:latin typeface="Segoe UI"/>
              </a:rPr>
              <a:t>Validation without ground truth</a:t>
            </a:r>
          </a:p>
          <a:p>
            <a:pPr marL="475488" indent="-237744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586476"/>
              </a:buClr>
              <a:buSzPct val="86000"/>
              <a:buFont typeface="Arial"/>
              <a:buChar char="–"/>
            </a:pPr>
            <a:r>
              <a:rPr sz="1400" b="0" i="0">
                <a:solidFill>
                  <a:srgbClr val="586476"/>
                </a:solidFill>
                <a:latin typeface="Segoe UI"/>
              </a:rPr>
              <a:t>Internal and external clustering validation metrics</a:t>
            </a:r>
          </a:p>
          <a:p>
            <a:pPr marL="475488" indent="-237744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586476"/>
              </a:buClr>
              <a:buSzPct val="86000"/>
              <a:buFont typeface="Arial"/>
              <a:buChar char="–"/>
            </a:pPr>
            <a:r>
              <a:rPr sz="1400" b="0" i="0">
                <a:solidFill>
                  <a:srgbClr val="586476"/>
                </a:solidFill>
                <a:latin typeface="Segoe UI"/>
              </a:rPr>
              <a:t>Cohesion and separation - the intuition behind silhouette</a:t>
            </a:r>
          </a:p>
          <a:p>
            <a:pPr marL="475488" indent="-237744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586476"/>
              </a:buClr>
              <a:buSzPct val="86000"/>
              <a:buFont typeface="Arial"/>
              <a:buChar char="–"/>
            </a:pPr>
            <a:r>
              <a:rPr sz="1400" b="0" i="0">
                <a:solidFill>
                  <a:srgbClr val="586476"/>
                </a:solidFill>
                <a:latin typeface="Segoe UI"/>
              </a:rPr>
              <a:t>Stability-based evaluation</a:t>
            </a:r>
          </a:p>
          <a:p>
            <a:pPr marL="237744" indent="-237744" algn="l">
              <a:lnSpc>
                <a:spcPct val="116000"/>
              </a:lnSpc>
              <a:spcBef>
                <a:spcPts val="110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700" b="0" i="0">
                <a:solidFill>
                  <a:srgbClr val="1C2330"/>
                </a:solidFill>
                <a:latin typeface="Segoe UI"/>
              </a:rPr>
              <a:t>Making results usable</a:t>
            </a:r>
          </a:p>
          <a:p>
            <a:pPr marL="475488" indent="-237744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586476"/>
              </a:buClr>
              <a:buSzPct val="86000"/>
              <a:buFont typeface="Arial"/>
              <a:buChar char="–"/>
            </a:pPr>
            <a:r>
              <a:rPr sz="1400" b="0" i="0">
                <a:solidFill>
                  <a:srgbClr val="586476"/>
                </a:solidFill>
                <a:latin typeface="Segoe UI"/>
              </a:rPr>
              <a:t>Interpretability challenges specific to unsupervised learning</a:t>
            </a:r>
          </a:p>
          <a:p>
            <a:pPr marL="475488" indent="-237744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586476"/>
              </a:buClr>
              <a:buSzPct val="86000"/>
              <a:buFont typeface="Arial"/>
              <a:buChar char="–"/>
            </a:pPr>
            <a:r>
              <a:rPr sz="1400" b="0" i="0">
                <a:solidFill>
                  <a:srgbClr val="586476"/>
                </a:solidFill>
                <a:latin typeface="Segoe UI"/>
              </a:rPr>
              <a:t>Real-world case studies</a:t>
            </a:r>
          </a:p>
          <a:p>
            <a:pPr marL="237744" indent="-237744" algn="l">
              <a:lnSpc>
                <a:spcPct val="116000"/>
              </a:lnSpc>
              <a:spcBef>
                <a:spcPts val="110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700" b="0" i="0">
                <a:solidFill>
                  <a:srgbClr val="1C2330"/>
                </a:solidFill>
                <a:latin typeface="Segoe UI"/>
              </a:rPr>
              <a:t>Responsibility</a:t>
            </a:r>
          </a:p>
          <a:p>
            <a:pPr marL="475488" indent="-237744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586476"/>
              </a:buClr>
              <a:buSzPct val="86000"/>
              <a:buFont typeface="Arial"/>
              <a:buChar char="–"/>
            </a:pPr>
            <a:r>
              <a:rPr sz="1400" b="0" i="0">
                <a:solidFill>
                  <a:srgbClr val="586476"/>
                </a:solidFill>
                <a:latin typeface="Segoe UI"/>
              </a:rPr>
              <a:t>Ethical considerations in pattern discovery</a:t>
            </a:r>
          </a:p>
          <a:p>
            <a:pPr marL="475488" indent="-237744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586476"/>
              </a:buClr>
              <a:buSzPct val="86000"/>
              <a:buFont typeface="Arial"/>
              <a:buChar char="–"/>
            </a:pPr>
            <a:r>
              <a:rPr sz="1400" b="0" i="0">
                <a:solidFill>
                  <a:srgbClr val="586476"/>
                </a:solidFill>
                <a:latin typeface="Segoe UI"/>
              </a:rPr>
              <a:t>What a segment can do to the people inside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57129" y="2304288"/>
            <a:ext cx="3931920" cy="937260"/>
          </a:xfrm>
          <a:prstGeom prst="roundRect">
            <a:avLst>
              <a:gd name="adj" fmla="val 8000"/>
            </a:avLst>
          </a:prstGeom>
          <a:solidFill>
            <a:srgbClr val="DBF0F7"/>
          </a:solidFill>
          <a:ln w="22860">
            <a:solidFill>
              <a:srgbClr val="009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6C7"/>
                </a:solidFill>
                <a:latin typeface="Segoe UI Semibold"/>
              </a:rPr>
              <a:t>Internal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geometry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57129" y="3332988"/>
            <a:ext cx="3931920" cy="937260"/>
          </a:xfrm>
          <a:prstGeom prst="roundRect">
            <a:avLst>
              <a:gd name="adj" fmla="val 8000"/>
            </a:avLst>
          </a:prstGeom>
          <a:solidFill>
            <a:srgbClr val="DDECE4"/>
          </a:solidFill>
          <a:ln w="22860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7C41"/>
                </a:solidFill>
                <a:latin typeface="Segoe UI Semibold"/>
              </a:rPr>
              <a:t>External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compare to known labels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57129" y="4361688"/>
            <a:ext cx="3931920" cy="937260"/>
          </a:xfrm>
          <a:prstGeom prst="roundRect">
            <a:avLst>
              <a:gd name="adj" fmla="val 8000"/>
            </a:avLst>
          </a:prstGeom>
          <a:solidFill>
            <a:srgbClr val="F9EBDC"/>
          </a:solidFill>
          <a:ln w="2286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7706"/>
                </a:solidFill>
                <a:latin typeface="Segoe UI Semibold"/>
              </a:rPr>
              <a:t>Stability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would you get it again?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57129" y="5390388"/>
            <a:ext cx="3931920" cy="937260"/>
          </a:xfrm>
          <a:prstGeom prst="roundRect">
            <a:avLst>
              <a:gd name="adj" fmla="val 8000"/>
            </a:avLst>
          </a:prstGeom>
          <a:solidFill>
            <a:srgbClr val="F4E0DE"/>
          </a:solidFill>
          <a:ln w="2286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2318"/>
                </a:solidFill>
                <a:latin typeface="Segoe UI Semibold"/>
              </a:rPr>
              <a:t>Ethics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who does this affect?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0"/>
            <a:ext cx="12191969" cy="6046927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969" cy="82296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151"/>
            <a:ext cx="12191969" cy="82296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0" b="1" i="0">
                <a:solidFill>
                  <a:srgbClr val="2B4770"/>
                </a:solidFill>
                <a:latin typeface="Segoe UI Semibol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29584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7D35"/>
                </a:solidFill>
                <a:latin typeface="Segoe UI Semibold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822191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Internal and External
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10512"/>
            <a:ext cx="4983480" cy="4069080"/>
          </a:xfrm>
          <a:prstGeom prst="roundRect">
            <a:avLst>
              <a:gd name="adj" fmla="val 4500"/>
            </a:avLst>
          </a:prstGeom>
          <a:solidFill>
            <a:srgbClr val="1F3558"/>
          </a:solidFill>
          <a:ln w="12700">
            <a:solidFill>
              <a:srgbClr val="3A58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1" i="0">
                <a:solidFill>
                  <a:srgbClr val="0096C7"/>
                </a:solidFill>
                <a:latin typeface="Segoe UI Semibold"/>
              </a:rPr>
              <a:t>IN THIS SECTION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The defining difficulty: there is no ground truth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Internal metrics - judge the geometry alone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External metrics - compare against known labels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When each is available, and what each can prove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6.1 VALIDATION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Internal vs External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6: Evaluation and Applications of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One is always available and proves little. The other proves more and is rarely available.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67712"/>
            <a:ext cx="5455904" cy="323697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30352" rIns="164592" bIns="0" rtlCol="0" anchor="t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96C7"/>
                </a:solidFill>
                <a:latin typeface="Segoe UI Semibold"/>
              </a:rPr>
              <a:t>Uses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only the data and the cluster assignments. No labels anywhere.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0096C7"/>
                </a:solidFill>
                <a:latin typeface="Segoe UI Semibold"/>
              </a:rPr>
              <a:t>Asks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are these clusters tight inside and well separated from each other?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0096C7"/>
                </a:solidFill>
                <a:latin typeface="Segoe UI Semibold"/>
              </a:rPr>
              <a:t>Examples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Silhouette Coefficient, Davies-Bouldin Index, Calinski-Harabasz Index, inertia.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0096C7"/>
                </a:solidFill>
                <a:latin typeface="Segoe UI Semibold"/>
              </a:rPr>
              <a:t>Available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always - which is why it is what you normally use.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0096C7"/>
                </a:solidFill>
                <a:latin typeface="Segoe UI Semibold"/>
              </a:rPr>
              <a:t>Cannot tell you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whether the clusters MEAN anything. It measures geometry, not truth.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67712"/>
            <a:ext cx="5455904" cy="3840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336292"/>
            <a:ext cx="50901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Internal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144" y="2267712"/>
            <a:ext cx="5455904" cy="323697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30352" rIns="164592" bIns="0" rtlCol="0" anchor="t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7C41"/>
                </a:solidFill>
                <a:latin typeface="Segoe UI Semibold"/>
              </a:rPr>
              <a:t>Uses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the clustering AND a known set of true labels.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07C41"/>
                </a:solidFill>
                <a:latin typeface="Segoe UI Semibold"/>
              </a:rPr>
              <a:t>Asks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does this clustering agree with the grouping we already knew about?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07C41"/>
                </a:solidFill>
                <a:latin typeface="Segoe UI Semibold"/>
              </a:rPr>
              <a:t>Examples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Adjusted Rand Index, Normalised Mutual Information, homogeneity and completeness.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07C41"/>
                </a:solidFill>
                <a:latin typeface="Segoe UI Semibold"/>
              </a:rPr>
              <a:t>Available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rarely - if you had the labels you would probably not be clustering.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07C41"/>
                </a:solidFill>
                <a:latin typeface="Segoe UI Semibold"/>
              </a:rPr>
              <a:t>Used for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benchmarking an algorithm on data where labels exist, so you can trust it where they do not.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144" y="2267712"/>
            <a:ext cx="5455904" cy="384048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6024" y="2336292"/>
            <a:ext cx="50901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External validation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96128"/>
            <a:ext cx="11186129" cy="676656"/>
          </a:xfrm>
          <a:prstGeom prst="roundRect">
            <a:avLst>
              <a:gd name="adj" fmla="val 10000"/>
            </a:avLst>
          </a:prstGeom>
          <a:solidFill>
            <a:srgbClr val="FEF3E0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7706"/>
                </a:solidFill>
                <a:latin typeface="Segoe UI Semibold"/>
              </a:rPr>
              <a:t>CONSIDER 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If you have true labels, why would you cluster at all?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596128"/>
            <a:ext cx="68580" cy="6766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6.1 VALIDATION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The Metrics You Should Know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6: Evaluation and Applications of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Learn the direction of improvement for each - it is a standard exam question.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2267712"/>
          <a:ext cx="11186127" cy="40599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3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56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480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Metric</a:t>
                      </a:r>
                    </a:p>
                  </a:txBody>
                  <a:tcPr marL="118872" marR="100584" marT="64008" marB="64008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Type</a:t>
                      </a:r>
                    </a:p>
                  </a:txBody>
                  <a:tcPr marL="118872" marR="100584" marT="64008" marB="64008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Range</a:t>
                      </a:r>
                    </a:p>
                  </a:txBody>
                  <a:tcPr marL="118872" marR="100584" marT="64008" marB="64008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Direction</a:t>
                      </a:r>
                    </a:p>
                  </a:txBody>
                  <a:tcPr marL="118872" marR="100584" marT="64008" marB="64008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What it measures</a:t>
                      </a:r>
                    </a:p>
                  </a:txBody>
                  <a:tcPr marL="118872" marR="100584" marT="64008" marB="64008" anchor="ctr">
                    <a:solidFill>
                      <a:srgbClr val="182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3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82B49"/>
                          </a:solidFill>
                          <a:latin typeface="Segoe UI Semibold"/>
                        </a:rPr>
                        <a:t>Silhouette</a:t>
                      </a:r>
                    </a:p>
                  </a:txBody>
                  <a:tcPr marL="118872" marR="10058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C2330"/>
                          </a:solidFill>
                          <a:latin typeface="Segoe UI"/>
                        </a:rPr>
                        <a:t>Internal</a:t>
                      </a:r>
                    </a:p>
                  </a:txBody>
                  <a:tcPr marL="118872" marR="10058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C2330"/>
                          </a:solidFill>
                          <a:latin typeface="Segoe UI"/>
                        </a:rPr>
                        <a:t>−1 to +1</a:t>
                      </a:r>
                    </a:p>
                  </a:txBody>
                  <a:tcPr marL="118872" marR="10058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C2330"/>
                          </a:solidFill>
                          <a:latin typeface="Segoe UI"/>
                        </a:rPr>
                        <a:t>higher</a:t>
                      </a:r>
                    </a:p>
                  </a:txBody>
                  <a:tcPr marL="118872" marR="10058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C2330"/>
                          </a:solidFill>
                          <a:latin typeface="Segoe UI"/>
                        </a:rPr>
                        <a:t>Cohesion against separation, per point</a:t>
                      </a:r>
                    </a:p>
                  </a:txBody>
                  <a:tcPr marL="118872" marR="100584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3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82B49"/>
                          </a:solidFill>
                          <a:latin typeface="Segoe UI Semibold"/>
                        </a:rPr>
                        <a:t>Davies-Bouldin</a:t>
                      </a:r>
                    </a:p>
                  </a:txBody>
                  <a:tcPr marL="118872" marR="100584" marT="64008" marB="6400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C2330"/>
                          </a:solidFill>
                          <a:latin typeface="Segoe UI"/>
                        </a:rPr>
                        <a:t>Internal</a:t>
                      </a:r>
                    </a:p>
                  </a:txBody>
                  <a:tcPr marL="118872" marR="100584" marT="64008" marB="6400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C2330"/>
                          </a:solidFill>
                          <a:latin typeface="Cambria Math"/>
                        </a:rPr>
                        <a:t>0 to ∞</a:t>
                      </a:r>
                    </a:p>
                  </a:txBody>
                  <a:tcPr marL="118872" marR="100584" marT="64008" marB="6400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C2330"/>
                          </a:solidFill>
                          <a:latin typeface="Segoe UI"/>
                        </a:rPr>
                        <a:t>lower</a:t>
                      </a:r>
                    </a:p>
                  </a:txBody>
                  <a:tcPr marL="118872" marR="100584" marT="64008" marB="6400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C2330"/>
                          </a:solidFill>
                          <a:latin typeface="Segoe UI"/>
                        </a:rPr>
                        <a:t>Worst-case ratio of spread to separation</a:t>
                      </a:r>
                    </a:p>
                  </a:txBody>
                  <a:tcPr marL="118872" marR="100584" marT="64008" marB="6400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3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82B49"/>
                          </a:solidFill>
                          <a:latin typeface="Segoe UI Semibold"/>
                        </a:rPr>
                        <a:t>Calinski-Harabasz</a:t>
                      </a:r>
                    </a:p>
                  </a:txBody>
                  <a:tcPr marL="118872" marR="10058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C2330"/>
                          </a:solidFill>
                          <a:latin typeface="Segoe UI"/>
                        </a:rPr>
                        <a:t>Internal</a:t>
                      </a:r>
                    </a:p>
                  </a:txBody>
                  <a:tcPr marL="118872" marR="10058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C2330"/>
                          </a:solidFill>
                          <a:latin typeface="Cambria Math"/>
                        </a:rPr>
                        <a:t>0 to ∞</a:t>
                      </a:r>
                    </a:p>
                  </a:txBody>
                  <a:tcPr marL="118872" marR="10058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C2330"/>
                          </a:solidFill>
                          <a:latin typeface="Segoe UI"/>
                        </a:rPr>
                        <a:t>higher</a:t>
                      </a:r>
                    </a:p>
                  </a:txBody>
                  <a:tcPr marL="118872" marR="10058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C2330"/>
                          </a:solidFill>
                          <a:latin typeface="Segoe UI"/>
                        </a:rPr>
                        <a:t>Between-cluster over within-cluster variance</a:t>
                      </a:r>
                    </a:p>
                  </a:txBody>
                  <a:tcPr marL="118872" marR="100584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3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82B49"/>
                          </a:solidFill>
                          <a:latin typeface="Segoe UI Semibold"/>
                        </a:rPr>
                        <a:t>Inertia (WCSS)</a:t>
                      </a:r>
                    </a:p>
                  </a:txBody>
                  <a:tcPr marL="118872" marR="100584" marT="64008" marB="6400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C2330"/>
                          </a:solidFill>
                          <a:latin typeface="Segoe UI"/>
                        </a:rPr>
                        <a:t>Internal</a:t>
                      </a:r>
                    </a:p>
                  </a:txBody>
                  <a:tcPr marL="118872" marR="100584" marT="64008" marB="6400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C2330"/>
                          </a:solidFill>
                          <a:latin typeface="Cambria Math"/>
                        </a:rPr>
                        <a:t>0 to ∞</a:t>
                      </a:r>
                    </a:p>
                  </a:txBody>
                  <a:tcPr marL="118872" marR="100584" marT="64008" marB="6400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C2330"/>
                          </a:solidFill>
                          <a:latin typeface="Segoe UI"/>
                        </a:rPr>
                        <a:t>lower</a:t>
                      </a:r>
                    </a:p>
                  </a:txBody>
                  <a:tcPr marL="118872" marR="100584" marT="64008" marB="6400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C2330"/>
                          </a:solidFill>
                          <a:latin typeface="Segoe UI"/>
                        </a:rPr>
                        <a:t>Compactness only - falls monotonically with k</a:t>
                      </a:r>
                    </a:p>
                  </a:txBody>
                  <a:tcPr marL="118872" marR="100584" marT="64008" marB="6400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3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82B49"/>
                          </a:solidFill>
                          <a:latin typeface="Segoe UI Semibold"/>
                        </a:rPr>
                        <a:t>Adjusted Rand Index</a:t>
                      </a:r>
                    </a:p>
                  </a:txBody>
                  <a:tcPr marL="118872" marR="10058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C2330"/>
                          </a:solidFill>
                          <a:latin typeface="Segoe UI"/>
                        </a:rPr>
                        <a:t>External</a:t>
                      </a:r>
                    </a:p>
                  </a:txBody>
                  <a:tcPr marL="118872" marR="10058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C2330"/>
                          </a:solidFill>
                          <a:latin typeface="Segoe UI"/>
                        </a:rPr>
                        <a:t>−1 to +1</a:t>
                      </a:r>
                    </a:p>
                  </a:txBody>
                  <a:tcPr marL="118872" marR="10058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C2330"/>
                          </a:solidFill>
                          <a:latin typeface="Segoe UI"/>
                        </a:rPr>
                        <a:t>higher</a:t>
                      </a:r>
                    </a:p>
                  </a:txBody>
                  <a:tcPr marL="118872" marR="10058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C2330"/>
                          </a:solidFill>
                          <a:latin typeface="Segoe UI"/>
                        </a:rPr>
                        <a:t>Agreement with true labels, corrected for chance</a:t>
                      </a:r>
                    </a:p>
                  </a:txBody>
                  <a:tcPr marL="118872" marR="100584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3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82B49"/>
                          </a:solidFill>
                          <a:latin typeface="Segoe UI Semibold"/>
                        </a:rPr>
                        <a:t>Normalised Mutual Info</a:t>
                      </a:r>
                    </a:p>
                  </a:txBody>
                  <a:tcPr marL="118872" marR="100584" marT="64008" marB="6400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C2330"/>
                          </a:solidFill>
                          <a:latin typeface="Segoe UI"/>
                        </a:rPr>
                        <a:t>External</a:t>
                      </a:r>
                    </a:p>
                  </a:txBody>
                  <a:tcPr marL="118872" marR="100584" marT="64008" marB="6400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C2330"/>
                          </a:solidFill>
                          <a:latin typeface="Segoe UI"/>
                        </a:rPr>
                        <a:t>0 to 1</a:t>
                      </a:r>
                    </a:p>
                  </a:txBody>
                  <a:tcPr marL="118872" marR="100584" marT="64008" marB="6400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C2330"/>
                          </a:solidFill>
                          <a:latin typeface="Segoe UI"/>
                        </a:rPr>
                        <a:t>higher</a:t>
                      </a:r>
                    </a:p>
                  </a:txBody>
                  <a:tcPr marL="118872" marR="100584" marT="64008" marB="6400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C2330"/>
                          </a:solidFill>
                          <a:latin typeface="Segoe UI"/>
                        </a:rPr>
                        <a:t>Shared information with the true labelling</a:t>
                      </a:r>
                    </a:p>
                  </a:txBody>
                  <a:tcPr marL="118872" marR="100584" marT="64008" marB="6400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6.1 EXTERNAL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Why the Adjusted Rand Index Is 'Adjusted'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6: Evaluation and Applications of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11186129" cy="4535424"/>
          </a:xfrm>
          <a:prstGeom prst="roundRect">
            <a:avLst>
              <a:gd name="adj" fmla="val 3500"/>
            </a:avLst>
          </a:prstGeom>
          <a:solidFill>
            <a:srgbClr val="EEF2F8"/>
          </a:solidFill>
          <a:ln w="15875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603504" rIns="237744" bIns="0" rtlCol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The problem with a raw agreement count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two random clusterings of the same data will agree on a surprising number of pairs, purely by chance.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So a raw score is inflated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and the inflation depends on the number of clusters and their sizes, which makes scores incomparable.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The correction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ARI subtracts the agreement expected by chance and rescales, so that a random clustering scores approximately 0.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Reading it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1.0 is a perfect match; 0.0 is what random labelling achieves; negative means worse than random.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Why it ignores label names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cluster 0 in your result may correspond to class 2 in the truth. ARI compares the PARTITION, not the names.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Which is exactly what you need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when comparing your own implementation against a library's, since the numbering will differ.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11186129" cy="420624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1883664"/>
            <a:ext cx="107289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KEY CONCEPT   ·   </a:t>
            </a:r>
            <a:r>
              <a:rPr sz="1400" b="1" i="0">
                <a:solidFill>
                  <a:srgbClr val="FFFFFF"/>
                </a:solidFill>
                <a:latin typeface="Segoe UI Semibold"/>
              </a:rPr>
              <a:t>Correcting for agreement that would happen by chance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0"/>
            <a:ext cx="12191969" cy="6046927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969" cy="82296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151"/>
            <a:ext cx="12191969" cy="82296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0" b="1" i="0">
                <a:solidFill>
                  <a:srgbClr val="2B4770"/>
                </a:solidFill>
                <a:latin typeface="Segoe UI Semibold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29584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7D35"/>
                </a:solidFill>
                <a:latin typeface="Segoe UI Semibold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822191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Cohesion, Separation
and Silhouette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10512"/>
            <a:ext cx="4983480" cy="4069080"/>
          </a:xfrm>
          <a:prstGeom prst="roundRect">
            <a:avLst>
              <a:gd name="adj" fmla="val 4500"/>
            </a:avLst>
          </a:prstGeom>
          <a:solidFill>
            <a:srgbClr val="1F3558"/>
          </a:solidFill>
          <a:ln w="12700">
            <a:solidFill>
              <a:srgbClr val="3A58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1" i="0">
                <a:solidFill>
                  <a:srgbClr val="107C41"/>
                </a:solidFill>
                <a:latin typeface="Segoe UI Semibold"/>
              </a:rPr>
              <a:t>IN THIS SECTION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The two quantities every internal metric is built from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The silhouette coefficient, derived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Reading a silhouette plot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Why the mean hides the problem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6.2 COHESION AND SEPARATION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Cohesion, Separation and the Silhouette Coefficient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6: Evaluation and Applications of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Every internal metric trades the same two quantities off against each other.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49424"/>
            <a:ext cx="7702265" cy="896112"/>
          </a:xfrm>
          <a:prstGeom prst="roundRect">
            <a:avLst>
              <a:gd name="adj" fmla="val 5000"/>
            </a:avLst>
          </a:prstGeom>
          <a:solidFill>
            <a:srgbClr val="F0EAFA"/>
          </a:solidFill>
          <a:ln w="1270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46304" rIns="201168" bIns="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50"/>
              </a:spcAft>
            </a:pPr>
            <a:r>
              <a:rPr sz="750" b="1" i="0">
                <a:solidFill>
                  <a:srgbClr val="5C2D91"/>
                </a:solidFill>
                <a:latin typeface="Segoe UI Semibold"/>
              </a:rPr>
              <a:t>COHESION - HOW TIGHT IS A CLUSTER?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82B49"/>
                </a:solidFill>
                <a:latin typeface="Cambria Math"/>
              </a:rPr>
              <a:t>a(i)  =  mean distance from i to the other points of ITS OWN cluster</a:t>
            </a:r>
          </a:p>
          <a:p>
            <a:pPr algn="l">
              <a:lnSpc>
                <a:spcPct val="114000"/>
              </a:lnSpc>
              <a:spcBef>
                <a:spcPts val="350"/>
              </a:spcBef>
              <a:spcAft>
                <a:spcPts val="0"/>
              </a:spcAft>
            </a:pPr>
            <a:r>
              <a:rPr sz="750" b="0" i="0">
                <a:solidFill>
                  <a:srgbClr val="586476"/>
                </a:solidFill>
                <a:latin typeface="Segoe UI"/>
              </a:rPr>
              <a:t>Small a(i) means the point sits comfortably inside its cluster. This is the cohesion term.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9424"/>
            <a:ext cx="68580" cy="896112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" y="3310128"/>
            <a:ext cx="7702265" cy="896112"/>
          </a:xfrm>
          <a:prstGeom prst="roundRect">
            <a:avLst>
              <a:gd name="adj" fmla="val 5000"/>
            </a:avLst>
          </a:prstGeom>
          <a:solidFill>
            <a:srgbClr val="F0EAFA"/>
          </a:solidFill>
          <a:ln w="1270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46304" rIns="201168" bIns="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50"/>
              </a:spcAft>
            </a:pPr>
            <a:r>
              <a:rPr sz="750" b="1" i="0">
                <a:solidFill>
                  <a:srgbClr val="5C2D91"/>
                </a:solidFill>
                <a:latin typeface="Segoe UI Semibold"/>
              </a:rPr>
              <a:t>SEPARATION - HOW FAR IS THE NEXT CLUSTER?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82B49"/>
                </a:solidFill>
                <a:latin typeface="Cambria Math"/>
              </a:rPr>
              <a:t>b(i)  =  mean distance from i to all points of the NEAREST OTHER cluster</a:t>
            </a:r>
          </a:p>
          <a:p>
            <a:pPr algn="l">
              <a:lnSpc>
                <a:spcPct val="114000"/>
              </a:lnSpc>
              <a:spcBef>
                <a:spcPts val="350"/>
              </a:spcBef>
              <a:spcAft>
                <a:spcPts val="0"/>
              </a:spcAft>
            </a:pPr>
            <a:r>
              <a:rPr sz="750" b="0" i="0">
                <a:solidFill>
                  <a:srgbClr val="586476"/>
                </a:solidFill>
                <a:latin typeface="Segoe UI"/>
              </a:rPr>
              <a:t>Large b(i) means the neighbouring cluster is far away. This is the separation term.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10128"/>
            <a:ext cx="68580" cy="896112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4370831"/>
            <a:ext cx="7702265" cy="896112"/>
          </a:xfrm>
          <a:prstGeom prst="roundRect">
            <a:avLst>
              <a:gd name="adj" fmla="val 5000"/>
            </a:avLst>
          </a:prstGeom>
          <a:solidFill>
            <a:srgbClr val="F0EAFA"/>
          </a:solidFill>
          <a:ln w="1270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46304" rIns="201168" bIns="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80"/>
              </a:spcAft>
            </a:pPr>
            <a:r>
              <a:rPr sz="840" b="1" i="0">
                <a:solidFill>
                  <a:srgbClr val="5C2D91"/>
                </a:solidFill>
                <a:latin typeface="Segoe UI Semibold"/>
              </a:rPr>
              <a:t>THE SILHOUETTE COEFFICIENT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 i="0">
                <a:solidFill>
                  <a:srgbClr val="182B49"/>
                </a:solidFill>
                <a:latin typeface="Cambria Math"/>
              </a:rPr>
              <a:t>s(i)  =  ( b(i) − a(i) )  /  max{ a(i), b(i) }</a:t>
            </a:r>
          </a:p>
          <a:p>
            <a:pPr algn="l">
              <a:lnSpc>
                <a:spcPct val="114000"/>
              </a:lnSpc>
              <a:spcBef>
                <a:spcPts val="480"/>
              </a:spcBef>
              <a:spcAft>
                <a:spcPts val="0"/>
              </a:spcAft>
            </a:pPr>
            <a:r>
              <a:rPr sz="1010" b="0" i="0">
                <a:solidFill>
                  <a:srgbClr val="586476"/>
                </a:solidFill>
                <a:latin typeface="Segoe UI"/>
              </a:rPr>
              <a:t>Combines both into one number in [−1, +1]. Dividing by the larger term is what bounds the range.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370831"/>
            <a:ext cx="68580" cy="896112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2920" y="5431536"/>
            <a:ext cx="7702265" cy="896112"/>
          </a:xfrm>
          <a:prstGeom prst="roundRect">
            <a:avLst>
              <a:gd name="adj" fmla="val 5000"/>
            </a:avLst>
          </a:prstGeom>
          <a:solidFill>
            <a:srgbClr val="F0EAFA"/>
          </a:solidFill>
          <a:ln w="1270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46304" rIns="201168" bIns="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90"/>
              </a:spcAft>
            </a:pPr>
            <a:r>
              <a:rPr sz="750" b="1" i="0">
                <a:solidFill>
                  <a:srgbClr val="5C2D91"/>
                </a:solidFill>
                <a:latin typeface="Segoe UI Semibold"/>
              </a:rPr>
              <a:t>MEAN SILHOUETTE FOR THE WHOLE CLUSTERING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82B49"/>
                </a:solidFill>
                <a:latin typeface="Cambria Math"/>
              </a:rPr>
              <a:t>S  =  (1/n) · Σᵢ s(i)</a:t>
            </a:r>
          </a:p>
          <a:p>
            <a:pPr algn="l">
              <a:lnSpc>
                <a:spcPct val="114000"/>
              </a:lnSpc>
              <a:spcBef>
                <a:spcPts val="390"/>
              </a:spcBef>
              <a:spcAft>
                <a:spcPts val="0"/>
              </a:spcAft>
            </a:pPr>
            <a:r>
              <a:rPr sz="810" b="0" i="0">
                <a:solidFill>
                  <a:srgbClr val="586476"/>
                </a:solidFill>
                <a:latin typeface="Segoe UI"/>
              </a:rPr>
              <a:t>One number for the entire result - useful for comparing values of k, and dangerous if reported alone.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431536"/>
            <a:ext cx="68580" cy="896112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42929" y="2249424"/>
            <a:ext cx="3246120" cy="40782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182880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0096C7"/>
                </a:solidFill>
                <a:latin typeface="Segoe UI Semibold"/>
              </a:rPr>
              <a:t>READING S(I)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near +1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b ≫ a - well inside its own cluster, far from the next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near 0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a ≈ b - sitting on the boundary between two clusters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negative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a &gt; b - closer to another cluster; probably misassigned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singleton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s = 0 by convention, since a(i) is undefined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Good clustering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high mean AND no strongly negative points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6.2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Computing a Silhouette Coefficient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6: Evaluation and Applications of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3703320" cy="2358420"/>
          </a:xfrm>
          <a:prstGeom prst="roundRect">
            <a:avLst>
              <a:gd name="adj" fmla="val 5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19456" rIns="182880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050" b="1" i="0">
                <a:solidFill>
                  <a:srgbClr val="0096C7"/>
                </a:solidFill>
                <a:latin typeface="Segoe UI Semibold"/>
              </a:rPr>
              <a:t>THE PROBLEM</a:t>
            </a:r>
          </a:p>
          <a:p>
            <a:pPr marL="237744" indent="-237744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300" b="0" i="0">
                <a:solidFill>
                  <a:srgbClr val="DEE8F4"/>
                </a:solidFill>
                <a:latin typeface="Segoe UI"/>
              </a:rPr>
              <a:t>Cluster A = {(0,0), (0,2)}</a:t>
            </a:r>
          </a:p>
          <a:p>
            <a:pPr marL="237744" indent="-237744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300" b="0" i="0">
                <a:solidFill>
                  <a:srgbClr val="DEE8F4"/>
                </a:solidFill>
                <a:latin typeface="Segoe UI"/>
              </a:rPr>
              <a:t>Cluster B = {(6,0), (6,2)}</a:t>
            </a:r>
          </a:p>
          <a:p>
            <a:pPr marL="237744" indent="-237744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300" b="0" i="0">
                <a:solidFill>
                  <a:srgbClr val="DEE8F4"/>
                </a:solidFill>
                <a:latin typeface="Segoe UI"/>
              </a:rPr>
              <a:t>Task: compute a, b and s for the point (0,0)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333524"/>
            <a:ext cx="3703320" cy="1994123"/>
          </a:xfrm>
          <a:prstGeom prst="roundRect">
            <a:avLst>
              <a:gd name="adj" fmla="val 5000"/>
            </a:avLst>
          </a:prstGeom>
          <a:solidFill>
            <a:srgbClr val="FEF3E0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182880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20"/>
              </a:spcAft>
            </a:pPr>
            <a:r>
              <a:rPr sz="940" b="1" i="0">
                <a:solidFill>
                  <a:srgbClr val="D97706"/>
                </a:solidFill>
                <a:latin typeface="Segoe UI Semibold"/>
              </a:rPr>
              <a:t>WHY IT MATTERS</a:t>
            </a:r>
          </a:p>
          <a:p>
            <a:pPr marL="237744" indent="-237744" algn="l">
              <a:lnSpc>
                <a:spcPct val="116000"/>
              </a:lnSpc>
              <a:spcBef>
                <a:spcPts val="54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120" b="0" i="0">
                <a:solidFill>
                  <a:srgbClr val="1C2330"/>
                </a:solidFill>
                <a:latin typeface="Segoe UI"/>
              </a:rPr>
              <a:t>a uses only the point's OWN cluster; b uses the nearest OTHER cluster</a:t>
            </a:r>
          </a:p>
          <a:p>
            <a:pPr marL="237744" indent="-237744" algn="l">
              <a:lnSpc>
                <a:spcPct val="116000"/>
              </a:lnSpc>
              <a:spcBef>
                <a:spcPts val="54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120" b="0" i="0">
                <a:solidFill>
                  <a:srgbClr val="1C2330"/>
                </a:solidFill>
                <a:latin typeface="Segoe UI"/>
              </a:rPr>
              <a:t>Dividing by the larger of the two guarantees −1 ≤ s ≤ +1</a:t>
            </a:r>
          </a:p>
          <a:p>
            <a:pPr marL="237744" indent="-237744" algn="l">
              <a:lnSpc>
                <a:spcPct val="116000"/>
              </a:lnSpc>
              <a:spcBef>
                <a:spcPts val="54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120" b="0" i="0">
                <a:solidFill>
                  <a:srgbClr val="1C2330"/>
                </a:solidFill>
                <a:latin typeface="Segoe UI"/>
              </a:rPr>
              <a:t>Always compute b against the nearest cluster, not the average of all others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3983" y="1792224"/>
            <a:ext cx="7245065" cy="358444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19456" rIns="219456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90"/>
              </a:spcAft>
            </a:pPr>
            <a:r>
              <a:rPr sz="1040" b="1" i="0">
                <a:solidFill>
                  <a:srgbClr val="0096C7"/>
                </a:solidFill>
                <a:latin typeface="Segoe UI Semibold"/>
              </a:rPr>
              <a:t>STEP-BY-STEP SOLUTION</a:t>
            </a:r>
          </a:p>
          <a:p>
            <a:pPr algn="l">
              <a:lnSpc>
                <a:spcPct val="120000"/>
              </a:lnSpc>
              <a:spcBef>
                <a:spcPts val="890"/>
              </a:spcBef>
              <a:spcAft>
                <a:spcPts val="0"/>
              </a:spcAft>
            </a:pPr>
            <a:r>
              <a:rPr sz="1340" b="1" i="0">
                <a:solidFill>
                  <a:srgbClr val="182B49"/>
                </a:solidFill>
                <a:latin typeface="Segoe UI Semibold"/>
              </a:rPr>
              <a:t>Step 1 - cohesion a  </a:t>
            </a:r>
            <a:r>
              <a:rPr sz="1340" b="0" i="0">
                <a:solidFill>
                  <a:srgbClr val="1C2330"/>
                </a:solidFill>
                <a:latin typeface="Segoe UI"/>
              </a:rPr>
              <a:t>the only other point in A is (0,2), so a = d((0,0),(0,2)) = 2.000</a:t>
            </a:r>
          </a:p>
          <a:p>
            <a:pPr algn="l">
              <a:lnSpc>
                <a:spcPct val="120000"/>
              </a:lnSpc>
              <a:spcBef>
                <a:spcPts val="890"/>
              </a:spcBef>
              <a:spcAft>
                <a:spcPts val="0"/>
              </a:spcAft>
            </a:pPr>
            <a:r>
              <a:rPr sz="1340" b="1" i="0">
                <a:solidFill>
                  <a:srgbClr val="182B49"/>
                </a:solidFill>
                <a:latin typeface="Segoe UI Semibold"/>
              </a:rPr>
              <a:t>Step 2 - distances to cluster B  </a:t>
            </a:r>
            <a:r>
              <a:rPr sz="1340" b="0" i="0">
                <a:solidFill>
                  <a:srgbClr val="1C2330"/>
                </a:solidFill>
                <a:latin typeface="Cambria Math"/>
              </a:rPr>
              <a:t>d((0,0),(6,0)) = 6.000    and    d((0,0),(6,2)) = √(36+4) = √40 = 6.325</a:t>
            </a:r>
          </a:p>
          <a:p>
            <a:pPr algn="l">
              <a:lnSpc>
                <a:spcPct val="120000"/>
              </a:lnSpc>
              <a:spcBef>
                <a:spcPts val="890"/>
              </a:spcBef>
              <a:spcAft>
                <a:spcPts val="0"/>
              </a:spcAft>
            </a:pPr>
            <a:r>
              <a:rPr sz="1340" b="1" i="0">
                <a:solidFill>
                  <a:srgbClr val="182B49"/>
                </a:solidFill>
                <a:latin typeface="Segoe UI Semibold"/>
              </a:rPr>
              <a:t>Step 3 - separation b  </a:t>
            </a:r>
            <a:r>
              <a:rPr sz="1340" b="0" i="0">
                <a:solidFill>
                  <a:srgbClr val="1C2330"/>
                </a:solidFill>
                <a:latin typeface="Segoe UI"/>
              </a:rPr>
              <a:t>b = (6.000 + 6.325) / 2 = 6.162</a:t>
            </a:r>
          </a:p>
          <a:p>
            <a:pPr algn="l">
              <a:lnSpc>
                <a:spcPct val="120000"/>
              </a:lnSpc>
              <a:spcBef>
                <a:spcPts val="890"/>
              </a:spcBef>
              <a:spcAft>
                <a:spcPts val="0"/>
              </a:spcAft>
            </a:pPr>
            <a:r>
              <a:rPr sz="1340" b="1" i="0">
                <a:solidFill>
                  <a:srgbClr val="182B49"/>
                </a:solidFill>
                <a:latin typeface="Segoe UI Semibold"/>
              </a:rPr>
              <a:t>Step 4 - apply the formula  </a:t>
            </a:r>
            <a:r>
              <a:rPr sz="1340" b="0" i="0">
                <a:solidFill>
                  <a:srgbClr val="1C2330"/>
                </a:solidFill>
                <a:latin typeface="Segoe UI"/>
              </a:rPr>
              <a:t>s = (6.162 − 2.000) / max{2.000, 6.162} = 4.162 / 6.162</a:t>
            </a:r>
          </a:p>
          <a:p>
            <a:pPr algn="l">
              <a:lnSpc>
                <a:spcPct val="120000"/>
              </a:lnSpc>
              <a:spcBef>
                <a:spcPts val="890"/>
              </a:spcBef>
              <a:spcAft>
                <a:spcPts val="0"/>
              </a:spcAft>
            </a:pPr>
            <a:r>
              <a:rPr sz="1340" b="1" i="0">
                <a:solidFill>
                  <a:srgbClr val="182B49"/>
                </a:solidFill>
                <a:latin typeface="Segoe UI Semibold"/>
              </a:rPr>
              <a:t>Result  </a:t>
            </a:r>
            <a:r>
              <a:rPr sz="1340" b="0" i="0">
                <a:solidFill>
                  <a:srgbClr val="1C2330"/>
                </a:solidFill>
                <a:latin typeface="Segoe UI"/>
              </a:rPr>
              <a:t>s = 0.675 - comfortably well clustered</a:t>
            </a:r>
          </a:p>
          <a:p>
            <a:pPr algn="l">
              <a:lnSpc>
                <a:spcPct val="120000"/>
              </a:lnSpc>
              <a:spcBef>
                <a:spcPts val="890"/>
              </a:spcBef>
              <a:spcAft>
                <a:spcPts val="0"/>
              </a:spcAft>
            </a:pPr>
            <a:r>
              <a:rPr sz="1340" b="1" i="0">
                <a:solidFill>
                  <a:srgbClr val="182B49"/>
                </a:solidFill>
                <a:latin typeface="Segoe UI Semibold"/>
              </a:rPr>
              <a:t>Sanity check  </a:t>
            </a:r>
            <a:r>
              <a:rPr sz="1340" b="0" i="0">
                <a:solidFill>
                  <a:srgbClr val="1C2330"/>
                </a:solidFill>
                <a:latin typeface="Segoe UI"/>
              </a:rPr>
              <a:t>b is much larger than a, so s must be positive and well below 1. It 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3" y="5541264"/>
            <a:ext cx="7245065" cy="786384"/>
          </a:xfrm>
          <a:prstGeom prst="roundRect">
            <a:avLst>
              <a:gd name="adj" fmla="val 8000"/>
            </a:avLst>
          </a:prstGeom>
          <a:solidFill>
            <a:srgbClr val="E4F6EB"/>
          </a:solidFill>
          <a:ln w="15875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7C41"/>
                </a:solidFill>
                <a:latin typeface="Segoe UI Semibold"/>
              </a:rPr>
              <a:t>ANSWER   </a:t>
            </a:r>
            <a:r>
              <a:rPr sz="1500" b="1" i="0">
                <a:solidFill>
                  <a:srgbClr val="182B49"/>
                </a:solidFill>
                <a:latin typeface="Cambria Math"/>
              </a:rPr>
              <a:t>a = 2.000   ·   b = 6.162   ·   s = 0.675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43983" y="5541264"/>
            <a:ext cx="73152" cy="786384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6.2 READING SILHOUETTE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Read the Distribution, Not Just the Mean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6: Evaluation and Applications of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11186129" cy="3712463"/>
          </a:xfrm>
          <a:prstGeom prst="roundRect">
            <a:avLst>
              <a:gd name="adj" fmla="val 3500"/>
            </a:avLst>
          </a:prstGeom>
          <a:solidFill>
            <a:srgbClr val="FDE9E7"/>
          </a:solidFill>
          <a:ln w="15875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603504" rIns="237744" bIns="0" rtlCol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42318"/>
                </a:solidFill>
                <a:latin typeface="Segoe UI Semibold"/>
              </a:rPr>
              <a:t>The problem  </a:t>
            </a:r>
            <a:r>
              <a:rPr sz="1450" b="0" i="0">
                <a:solidFill>
                  <a:srgbClr val="1C2330"/>
                </a:solidFill>
                <a:latin typeface="Segoe UI"/>
              </a:rPr>
              <a:t>the mean silhouette compresses every point into one number, and one number cannot show you where the failure is.</a:t>
            </a:r>
          </a:p>
          <a:p>
            <a:pPr algn="l">
              <a:lnSpc>
                <a:spcPct val="120000"/>
              </a:lnSpc>
              <a:spcBef>
                <a:spcPts val="969"/>
              </a:spcBef>
              <a:spcAft>
                <a:spcPts val="0"/>
              </a:spcAft>
            </a:pPr>
            <a:r>
              <a:rPr sz="1450" b="1" i="0">
                <a:solidFill>
                  <a:srgbClr val="B42318"/>
                </a:solidFill>
                <a:latin typeface="Segoe UI Semibold"/>
              </a:rPr>
              <a:t>A concrete case  </a:t>
            </a:r>
            <a:r>
              <a:rPr sz="1450" b="0" i="0">
                <a:solidFill>
                  <a:srgbClr val="1C2330"/>
                </a:solidFill>
                <a:latin typeface="Segoe UI"/>
              </a:rPr>
              <a:t>two points scoring +0.5 and one scoring −0.85 average out to something unremarkable, while a point is plainly in the wrong cluster.</a:t>
            </a:r>
          </a:p>
          <a:p>
            <a:pPr algn="l">
              <a:lnSpc>
                <a:spcPct val="120000"/>
              </a:lnSpc>
              <a:spcBef>
                <a:spcPts val="969"/>
              </a:spcBef>
              <a:spcAft>
                <a:spcPts val="0"/>
              </a:spcAft>
            </a:pPr>
            <a:r>
              <a:rPr sz="1450" b="1" i="0">
                <a:solidFill>
                  <a:srgbClr val="B42318"/>
                </a:solidFill>
                <a:latin typeface="Segoe UI Semibold"/>
              </a:rPr>
              <a:t>So plot it  </a:t>
            </a:r>
            <a:r>
              <a:rPr sz="1450" b="0" i="0">
                <a:solidFill>
                  <a:srgbClr val="1C2330"/>
                </a:solidFill>
                <a:latin typeface="Segoe UI"/>
              </a:rPr>
              <a:t>a silhouette plot draws every point's s(i), grouped by cluster and sorted within each group.</a:t>
            </a:r>
          </a:p>
          <a:p>
            <a:pPr algn="l">
              <a:lnSpc>
                <a:spcPct val="120000"/>
              </a:lnSpc>
              <a:spcBef>
                <a:spcPts val="969"/>
              </a:spcBef>
              <a:spcAft>
                <a:spcPts val="0"/>
              </a:spcAft>
            </a:pPr>
            <a:r>
              <a:rPr sz="1450" b="1" i="0">
                <a:solidFill>
                  <a:srgbClr val="B42318"/>
                </a:solidFill>
                <a:latin typeface="Segoe UI Semibold"/>
              </a:rPr>
              <a:t>What to look for  </a:t>
            </a:r>
            <a:r>
              <a:rPr sz="1450" b="0" i="0">
                <a:solidFill>
                  <a:srgbClr val="1C2330"/>
                </a:solidFill>
                <a:latin typeface="Segoe UI"/>
              </a:rPr>
              <a:t>any cluster whose bar is short overall, and any bar extending below zero.</a:t>
            </a:r>
          </a:p>
          <a:p>
            <a:pPr algn="l">
              <a:lnSpc>
                <a:spcPct val="120000"/>
              </a:lnSpc>
              <a:spcBef>
                <a:spcPts val="969"/>
              </a:spcBef>
              <a:spcAft>
                <a:spcPts val="0"/>
              </a:spcAft>
            </a:pPr>
            <a:r>
              <a:rPr sz="1450" b="1" i="0">
                <a:solidFill>
                  <a:srgbClr val="B42318"/>
                </a:solidFill>
                <a:latin typeface="Segoe UI Semibold"/>
              </a:rPr>
              <a:t>Every negative value  </a:t>
            </a:r>
            <a:r>
              <a:rPr sz="1450" b="0" i="0">
                <a:solidFill>
                  <a:srgbClr val="1C2330"/>
                </a:solidFill>
                <a:latin typeface="Segoe UI"/>
              </a:rPr>
              <a:t>marks a point the algorithm has actively misplaced. Those are worth inspecting individually.</a:t>
            </a:r>
          </a:p>
          <a:p>
            <a:pPr algn="l">
              <a:lnSpc>
                <a:spcPct val="120000"/>
              </a:lnSpc>
              <a:spcBef>
                <a:spcPts val="969"/>
              </a:spcBef>
              <a:spcAft>
                <a:spcPts val="0"/>
              </a:spcAft>
            </a:pPr>
            <a:r>
              <a:rPr sz="1450" b="1" i="0">
                <a:solidFill>
                  <a:srgbClr val="B42318"/>
                </a:solidFill>
                <a:latin typeface="Segoe UI Semibold"/>
              </a:rPr>
              <a:t>Also compare cluster sizes  </a:t>
            </a:r>
            <a:r>
              <a:rPr sz="1450" b="0" i="0">
                <a:solidFill>
                  <a:srgbClr val="1C2330"/>
                </a:solidFill>
                <a:latin typeface="Segoe UI"/>
              </a:rPr>
              <a:t>one enormous cluster and several tiny ones usually means the wrong k, or the wrong algorithm entirely.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11186129" cy="42062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1883664"/>
            <a:ext cx="107289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COMMON PITFALL   ·   </a:t>
            </a:r>
            <a:r>
              <a:rPr sz="1400" b="1" i="0">
                <a:solidFill>
                  <a:srgbClr val="FFFFFF"/>
                </a:solidFill>
                <a:latin typeface="Segoe UI Semibold"/>
              </a:rPr>
              <a:t>A respectable average can hide a badly placed cluster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596128"/>
            <a:ext cx="11186129" cy="676656"/>
          </a:xfrm>
          <a:prstGeom prst="roundRect">
            <a:avLst>
              <a:gd name="adj" fmla="val 10000"/>
            </a:avLst>
          </a:prstGeom>
          <a:solidFill>
            <a:srgbClr val="FEF3E0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7706"/>
                </a:solidFill>
                <a:latin typeface="Segoe UI Semibold"/>
              </a:rPr>
              <a:t>JUDGE IT 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Mean silhouette 0.55, but one cluster averages 0.05. Do you ship it?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596128"/>
            <a:ext cx="68580" cy="6766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0"/>
            <a:ext cx="12191969" cy="6046927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969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151"/>
            <a:ext cx="12191969" cy="82296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0" b="1" i="0">
                <a:solidFill>
                  <a:srgbClr val="2B4770"/>
                </a:solidFill>
                <a:latin typeface="Segoe UI Semibold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29584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7D35"/>
                </a:solidFill>
                <a:latin typeface="Segoe UI Semibold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822191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Stability-Based
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10512"/>
            <a:ext cx="4983480" cy="4069080"/>
          </a:xfrm>
          <a:prstGeom prst="roundRect">
            <a:avLst>
              <a:gd name="adj" fmla="val 4500"/>
            </a:avLst>
          </a:prstGeom>
          <a:solidFill>
            <a:srgbClr val="1F3558"/>
          </a:solidFill>
          <a:ln w="12700">
            <a:solidFill>
              <a:srgbClr val="3A58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1" i="0">
                <a:solidFill>
                  <a:srgbClr val="D97706"/>
                </a:solidFill>
                <a:latin typeface="Segoe UI Semibold"/>
              </a:rPr>
              <a:t>IN THIS SECTION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The question a geometric score cannot answer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Resampling and measuring agreement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Comparing against a null model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Assembling evidence rather than quoting one number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6.3 STABILITY-BASED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Would You Get the Same Answer Tomorrow?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6: Evaluation and Applications of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11186129" cy="4535424"/>
          </a:xfrm>
          <a:prstGeom prst="roundRect">
            <a:avLst>
              <a:gd name="adj" fmla="val 3500"/>
            </a:avLst>
          </a:prstGeom>
          <a:solidFill>
            <a:srgbClr val="EEF2F8"/>
          </a:solidFill>
          <a:ln w="15875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603504" rIns="237744" bIns="0" rtlCol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The idea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if clusters reflect genuine structure, they should reappear when you re-run the analysis on a slightly different sample.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The procedure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repeatedly draw a random subset - say 80% of the rows - cluster it, and measure how well the result agrees with the clustering of the full data.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Measuring agreement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use the Adjusted Rand Index between the two labellings, since cluster numbering is arbitrary.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Reading it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consistently high agreement means stable structure. Agreement that collapses as k rises means the algorithm is carving arbitrary boundaries.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Why it is convincing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it does not assume clusters are spherical or well separated, so it works where silhouette misleads.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Use it to choose k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prefer the k that is both reasonable geometrically AND stable under resampling.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11186129" cy="420624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1883664"/>
            <a:ext cx="107289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KEY CONCEPT   ·   </a:t>
            </a:r>
            <a:r>
              <a:rPr sz="1400" b="1" i="0">
                <a:solidFill>
                  <a:srgbClr val="FFFFFF"/>
                </a:solidFill>
                <a:latin typeface="Segoe UI Semibold"/>
              </a:rPr>
              <a:t>Stability as evidence that structure is real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6.3 STABILITY-BASED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The Null-Model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6: Evaluation and Applications of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11186129" cy="2811962"/>
          </a:xfrm>
          <a:prstGeom prst="roundRect">
            <a:avLst>
              <a:gd name="adj" fmla="val 3500"/>
            </a:avLst>
          </a:prstGeom>
          <a:solidFill>
            <a:srgbClr val="FEF3E0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603504" rIns="237744" bIns="0" rtlCol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D97706"/>
                </a:solidFill>
                <a:latin typeface="Segoe UI Semibold"/>
              </a:rPr>
              <a:t>The difficulty  </a:t>
            </a:r>
            <a:r>
              <a:rPr sz="930" b="0" i="0">
                <a:solidFill>
                  <a:srgbClr val="1C2330"/>
                </a:solidFill>
                <a:latin typeface="Segoe UI"/>
              </a:rPr>
              <a:t>a silhouette of 0.42 means nothing on its own. Is that good? Compared with what?</a:t>
            </a:r>
          </a:p>
          <a:p>
            <a:pPr algn="l">
              <a:lnSpc>
                <a:spcPct val="120000"/>
              </a:lnSpc>
              <a:spcBef>
                <a:spcPts val="620"/>
              </a:spcBef>
              <a:spcAft>
                <a:spcPts val="0"/>
              </a:spcAft>
            </a:pPr>
            <a:r>
              <a:rPr sz="930" b="1" i="0">
                <a:solidFill>
                  <a:srgbClr val="D97706"/>
                </a:solidFill>
                <a:latin typeface="Segoe UI Semibold"/>
              </a:rPr>
              <a:t>The baseline  </a:t>
            </a:r>
            <a:r>
              <a:rPr sz="930" b="0" i="0">
                <a:solidFill>
                  <a:srgbClr val="1C2330"/>
                </a:solidFill>
                <a:latin typeface="Segoe UI"/>
              </a:rPr>
              <a:t>destroy the structure while keeping the data's superficial properties - shuffle each feature column independently.</a:t>
            </a:r>
          </a:p>
          <a:p>
            <a:pPr algn="l">
              <a:lnSpc>
                <a:spcPct val="120000"/>
              </a:lnSpc>
              <a:spcBef>
                <a:spcPts val="620"/>
              </a:spcBef>
              <a:spcAft>
                <a:spcPts val="0"/>
              </a:spcAft>
            </a:pPr>
            <a:r>
              <a:rPr sz="930" b="1" i="0">
                <a:solidFill>
                  <a:srgbClr val="D97706"/>
                </a:solidFill>
                <a:latin typeface="Segoe UI Semibold"/>
              </a:rPr>
              <a:t>Then re-run  </a:t>
            </a:r>
            <a:r>
              <a:rPr sz="930" b="0" i="0">
                <a:solidFill>
                  <a:srgbClr val="1C2330"/>
                </a:solidFill>
                <a:latin typeface="Segoe UI"/>
              </a:rPr>
              <a:t>cluster the shuffled data the same way, several times, and record the scores.</a:t>
            </a:r>
          </a:p>
          <a:p>
            <a:pPr algn="l">
              <a:lnSpc>
                <a:spcPct val="120000"/>
              </a:lnSpc>
              <a:spcBef>
                <a:spcPts val="620"/>
              </a:spcBef>
              <a:spcAft>
                <a:spcPts val="0"/>
              </a:spcAft>
            </a:pPr>
            <a:r>
              <a:rPr sz="930" b="1" i="0">
                <a:solidFill>
                  <a:srgbClr val="D97706"/>
                </a:solidFill>
                <a:latin typeface="Segoe UI Semibold"/>
              </a:rPr>
              <a:t>Compare  </a:t>
            </a:r>
            <a:r>
              <a:rPr sz="930" b="0" i="0">
                <a:solidFill>
                  <a:srgbClr val="1C2330"/>
                </a:solidFill>
                <a:latin typeface="Segoe UI"/>
              </a:rPr>
              <a:t>if your real score sits far above the shuffled distribution, the structure is real. If it sits inside it, you have found what noise looks like.</a:t>
            </a:r>
          </a:p>
          <a:p>
            <a:pPr algn="l">
              <a:lnSpc>
                <a:spcPct val="120000"/>
              </a:lnSpc>
              <a:spcBef>
                <a:spcPts val="620"/>
              </a:spcBef>
              <a:spcAft>
                <a:spcPts val="0"/>
              </a:spcAft>
            </a:pPr>
            <a:r>
              <a:rPr sz="930" b="1" i="0">
                <a:solidFill>
                  <a:srgbClr val="D97706"/>
                </a:solidFill>
                <a:latin typeface="Segoe UI Semibold"/>
              </a:rPr>
              <a:t>Report it as  </a:t>
            </a:r>
            <a:r>
              <a:rPr sz="930" b="0" i="0">
                <a:solidFill>
                  <a:srgbClr val="1C2330"/>
                </a:solidFill>
                <a:latin typeface="Segoe UI"/>
              </a:rPr>
              <a:t>'silhouette 0.52 against a null baseline of 0.31, which is about six standard deviations above' - a claim someone can challenge.</a:t>
            </a:r>
          </a:p>
          <a:p>
            <a:pPr algn="l">
              <a:lnSpc>
                <a:spcPct val="120000"/>
              </a:lnSpc>
              <a:spcBef>
                <a:spcPts val="620"/>
              </a:spcBef>
              <a:spcAft>
                <a:spcPts val="0"/>
              </a:spcAft>
            </a:pPr>
            <a:r>
              <a:rPr sz="930" b="1" i="0">
                <a:solidFill>
                  <a:srgbClr val="D97706"/>
                </a:solidFill>
                <a:latin typeface="Segoe UI Semibold"/>
              </a:rPr>
              <a:t>Why this matters  </a:t>
            </a:r>
            <a:r>
              <a:rPr sz="930" b="0" i="0">
                <a:solidFill>
                  <a:srgbClr val="1C2330"/>
                </a:solidFill>
                <a:latin typeface="Segoe UI"/>
              </a:rPr>
              <a:t>every clustering algorithm returns clusters. Only a baseline can tell you whether they were there to begin with.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11186129" cy="4206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1883664"/>
            <a:ext cx="107289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EXAM TIP   ·   </a:t>
            </a:r>
            <a:r>
              <a:rPr sz="1400" b="1" i="0">
                <a:solidFill>
                  <a:srgbClr val="FFFFFF"/>
                </a:solidFill>
                <a:latin typeface="Segoe UI Semibold"/>
              </a:rPr>
              <a:t>The comparison that turns a number into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805354"/>
            <a:ext cx="11186129" cy="152229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64592" rIns="201168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The three-part evidence to report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300" b="0" i="0">
                <a:solidFill>
                  <a:srgbClr val="1C2330"/>
                </a:solidFill>
                <a:latin typeface="Segoe UI"/>
              </a:rPr>
              <a:t>An internal metric - silhouette or Davies-Bouldin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300" b="0" i="0">
                <a:solidFill>
                  <a:srgbClr val="1C2330"/>
                </a:solidFill>
                <a:latin typeface="Segoe UI"/>
              </a:rPr>
              <a:t>A null-model comparison - is it better than shuffled data?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300" b="0" i="0">
                <a:solidFill>
                  <a:srgbClr val="1C2330"/>
                </a:solidFill>
                <a:latin typeface="Segoe UI"/>
              </a:rPr>
              <a:t>A stability score - does it survive resampling?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CHECK YOUR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Quick Check - Sections 1 to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6: Evaluation and Applications of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11186129" cy="932688"/>
          </a:xfrm>
          <a:prstGeom prst="roundRect">
            <a:avLst>
              <a:gd name="adj" fmla="val 5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0" rIns="219456" bIns="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5A623"/>
                </a:solidFill>
                <a:latin typeface="Segoe UI Semibold"/>
              </a:rPr>
              <a:t>QUICK CHECK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You cluster uniformly random data with k-Means and get a silhouette of 0.35. What does this tell you?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77724" cy="9326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2920" y="3259835"/>
            <a:ext cx="5529056" cy="713232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76656" y="3461003"/>
            <a:ext cx="310896" cy="310896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3351275"/>
            <a:ext cx="47609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330"/>
                </a:solidFill>
                <a:latin typeface="Segoe UI"/>
              </a:rPr>
              <a:t>The data has moderate cluster structure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9992" y="3259835"/>
            <a:ext cx="5529056" cy="713232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33728" y="3461003"/>
            <a:ext cx="310896" cy="310896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3496" y="3351275"/>
            <a:ext cx="47609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330"/>
                </a:solidFill>
                <a:latin typeface="Segoe UI"/>
              </a:rPr>
              <a:t>Almost nothing - you need a null baseline to interpret 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101083"/>
            <a:ext cx="5529056" cy="713232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76656" y="4302251"/>
            <a:ext cx="310896" cy="310896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" y="4192523"/>
            <a:ext cx="47609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330"/>
                </a:solidFill>
                <a:latin typeface="Segoe UI"/>
              </a:rPr>
              <a:t>The clustering failed and should be re-run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9992" y="4101083"/>
            <a:ext cx="5529056" cy="713232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33728" y="4302251"/>
            <a:ext cx="310896" cy="310896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3496" y="4192523"/>
            <a:ext cx="47609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330"/>
                </a:solidFill>
                <a:latin typeface="Segoe UI"/>
              </a:rPr>
              <a:t>k was chosen incorrectly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326379"/>
            <a:ext cx="11186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586476"/>
                </a:solidFill>
                <a:latin typeface="Segoe UI"/>
              </a:rPr>
              <a:t>◆  click to reveal the answer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052059"/>
            <a:ext cx="11186129" cy="960120"/>
          </a:xfrm>
          <a:prstGeom prst="roundRect">
            <a:avLst>
              <a:gd name="adj" fmla="val 6000"/>
            </a:avLst>
          </a:prstGeom>
          <a:solidFill>
            <a:srgbClr val="E4F6EB"/>
          </a:solidFill>
          <a:ln w="15875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0" rIns="219456" bIns="0" rtlCol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7C41"/>
                </a:solidFill>
                <a:latin typeface="Segoe UI Semibold"/>
              </a:rPr>
              <a:t>ANSWER: B 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Internal metrics return a value for any input, including structureless data. A silhouette of 0.35 is only interpretable against something: a null model built by shuffling the features, or the scores obtained at other values of k. Without that comparison the number carries no information.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052059"/>
            <a:ext cx="77724" cy="96012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0"/>
            <a:ext cx="12191969" cy="6046927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969" cy="82296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151"/>
            <a:ext cx="12191969" cy="82296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0" b="1" i="0">
                <a:solidFill>
                  <a:srgbClr val="2B4770"/>
                </a:solidFill>
                <a:latin typeface="Segoe UI Semibold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29584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7D35"/>
                </a:solidFill>
                <a:latin typeface="Segoe UI Semibold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822191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Interpretability and
Case Studies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10512"/>
            <a:ext cx="4983480" cy="4069080"/>
          </a:xfrm>
          <a:prstGeom prst="roundRect">
            <a:avLst>
              <a:gd name="adj" fmla="val 4500"/>
            </a:avLst>
          </a:prstGeom>
          <a:solidFill>
            <a:srgbClr val="1F3558"/>
          </a:solidFill>
          <a:ln w="12700">
            <a:solidFill>
              <a:srgbClr val="3A58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1" i="0">
                <a:solidFill>
                  <a:srgbClr val="5C2D91"/>
                </a:solidFill>
                <a:latin typeface="Segoe UI Semibold"/>
              </a:rPr>
              <a:t>IN THIS SECTION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Why unsupervised results are harder to interpret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Naming a cluster so somebody can act on it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Case study: visualising handwritten digits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Case study: customer segmentation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6.4 INTERPRETABILITY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Interpretability Challenges Specific to Unsupervised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6: Evaluation and Applications of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11186129" cy="4535424"/>
          </a:xfrm>
          <a:prstGeom prst="roundRect">
            <a:avLst>
              <a:gd name="adj" fmla="val 3500"/>
            </a:avLst>
          </a:prstGeom>
          <a:solidFill>
            <a:srgbClr val="FDE9E7"/>
          </a:solidFill>
          <a:ln w="15875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603504" rIns="237744" bIns="0" rtlCol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42318"/>
                </a:solidFill>
                <a:latin typeface="Segoe UI Semibold"/>
              </a:rPr>
              <a:t>There is no target to point at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a classifier can be explained in terms of the thing it predicts. A cluster has no such anchor.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B42318"/>
                </a:solidFill>
                <a:latin typeface="Segoe UI Semibold"/>
              </a:rPr>
              <a:t>The clusters have no names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the algorithm returns 0, 1, 2. Turning those into 'bargain hunters' and 'loyal regulars' is human work, and it is where the value is created.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B42318"/>
                </a:solidFill>
                <a:latin typeface="Segoe UI Semibold"/>
              </a:rPr>
              <a:t>The features may be unreadable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if you reduced dimensions first, your clusters live in principal-component space, which nobody can interpret directly.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B42318"/>
                </a:solidFill>
                <a:latin typeface="Segoe UI Semibold"/>
              </a:rPr>
              <a:t>Post-hoc storytelling is a real risk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you look at the output, then invent a plausible explanation. Nobody sets out to do this, and everybody does it.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B42318"/>
                </a:solidFill>
                <a:latin typeface="Segoe UI Semibold"/>
              </a:rPr>
              <a:t>The guard against it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write down what a good result would look like BEFORE you run the algorithm.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B42318"/>
                </a:solidFill>
                <a:latin typeface="Segoe UI Semibold"/>
              </a:rPr>
              <a:t>A practical test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if a domain expert cannot name each cluster in one sentence, the result is not yet usable - regardless of its silhouette score.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11186129" cy="42062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1883664"/>
            <a:ext cx="107289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COMMON PITFALL   ·   </a:t>
            </a:r>
            <a:r>
              <a:rPr sz="1400" b="1" i="0">
                <a:solidFill>
                  <a:srgbClr val="FFFFFF"/>
                </a:solidFill>
                <a:latin typeface="Segoe UI Semibold"/>
              </a:rPr>
              <a:t>Why these results are harder to explain than a classifier's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6.4 INTERPRETABILITY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How to Make a Cluster Interpretable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6: Evaluation and Applications of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Interpretation is a step you perform, not a property the algorithm provides.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67712"/>
            <a:ext cx="5492480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96C7"/>
                </a:solidFill>
                <a:latin typeface="Segoe UI Semibold"/>
              </a:rPr>
              <a:t>TECHNIQUE 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Profile the centroids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Report each cluster's mean on every ORIGINAL feature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Convert back from scaled units to real ones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This is the single most useful table you can produce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67712"/>
            <a:ext cx="5492480" cy="6858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96568" y="2267712"/>
            <a:ext cx="5492480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D97706"/>
                </a:solidFill>
                <a:latin typeface="Segoe UI Semibold"/>
              </a:rPr>
              <a:t>TECHNIQUE 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Find the distinguishing features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Which features differ most between clusters?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Rank by the gap between cluster means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Name the cluster from its top two or three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6568" y="2267712"/>
            <a:ext cx="5492480" cy="685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4398264"/>
            <a:ext cx="5492480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07C41"/>
                </a:solidFill>
                <a:latin typeface="Segoe UI Semibold"/>
              </a:rPr>
              <a:t>TECHNIQUE 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Show representative members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107C41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The points nearest each centroid, or the medoid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107C41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A real example is more convincing than a mean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107C41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Domain experts respond to cases, not statistics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398264"/>
            <a:ext cx="5492480" cy="6858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96568" y="4398264"/>
            <a:ext cx="5492480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C2D91"/>
                </a:solidFill>
                <a:latin typeface="Segoe UI Semibold"/>
              </a:rPr>
              <a:t>TECHNIQUE 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State the action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Each cluster should imply a different decision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If two clusters lead to the same action, merge them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A segment nobody acts on has failed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6568" y="4398264"/>
            <a:ext cx="5492480" cy="68580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6.5 REAL-WORLD CASE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Two Case Studies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6: Evaluation and Applications of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One is about seeing structure; the other is about acting on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67712"/>
            <a:ext cx="5455904" cy="405993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30352" rIns="164592" bIns="0" rtlCol="0" anchor="t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96C7"/>
                </a:solidFill>
                <a:latin typeface="Segoe UI Semibold"/>
              </a:rPr>
              <a:t>The data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each image is 8×8 or 28×28 pixels, so 64 or 784 features per digit.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0096C7"/>
                </a:solidFill>
                <a:latin typeface="Segoe UI Semibold"/>
              </a:rPr>
              <a:t>The problem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nobody can picture 64 dimensions, so the structure is invisible.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0096C7"/>
                </a:solidFill>
                <a:latin typeface="Segoe UI Semibold"/>
              </a:rPr>
              <a:t>The approach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reduce to two dimensions with PCA, then with t-SNE, and plot both.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0096C7"/>
                </a:solidFill>
                <a:latin typeface="Segoe UI Semibold"/>
              </a:rPr>
              <a:t>What you see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PCA separates some digits and overlaps others; t-SNE separates them far more sharply.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0096C7"/>
                </a:solidFill>
                <a:latin typeface="Segoe UI Semibold"/>
              </a:rPr>
              <a:t>The lesson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overlapping digits in the plot are exactly the pairs a classifier will confuse - the visualisation predicts the errors.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67712"/>
            <a:ext cx="5455904" cy="3840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336292"/>
            <a:ext cx="50901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Visualising handwritten digits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144" y="2267712"/>
            <a:ext cx="5455904" cy="405993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30352" rIns="164592" bIns="0" rtlCol="0" anchor="t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7C41"/>
                </a:solidFill>
                <a:latin typeface="Segoe UI Semibold"/>
              </a:rPr>
              <a:t>The data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recency, frequency, monetary value, category spread.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07C41"/>
                </a:solidFill>
                <a:latin typeface="Segoe UI Semibold"/>
              </a:rPr>
              <a:t>The problem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there is no 'correct' segment column anywhere in the data.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07C41"/>
                </a:solidFill>
                <a:latin typeface="Segoe UI Semibold"/>
              </a:rPr>
              <a:t>The approach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scale, choose k with silhouette and business constraints, cluster, then profile the centroids.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07C41"/>
                </a:solidFill>
                <a:latin typeface="Segoe UI Semibold"/>
              </a:rPr>
              <a:t>What you deliver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three to six named segments, each with a one-sentence description and a proposed action.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07C41"/>
                </a:solidFill>
                <a:latin typeface="Segoe UI Semibold"/>
              </a:rPr>
              <a:t>The lesson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a mathematically excellent clustering nobody can act on has failed the brief.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144" y="2267712"/>
            <a:ext cx="5455904" cy="384048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6024" y="2336292"/>
            <a:ext cx="50901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Customer segmentation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0"/>
            <a:ext cx="12191969" cy="6046927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969" cy="82296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151"/>
            <a:ext cx="12191969" cy="82296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0" b="1" i="0">
                <a:solidFill>
                  <a:srgbClr val="2B4770"/>
                </a:solidFill>
                <a:latin typeface="Segoe UI Semibold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29584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7D35"/>
                </a:solidFill>
                <a:latin typeface="Segoe UI Semibold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822191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Ethics of
Pattern Discovery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10512"/>
            <a:ext cx="4983480" cy="4069080"/>
          </a:xfrm>
          <a:prstGeom prst="roundRect">
            <a:avLst>
              <a:gd name="adj" fmla="val 4500"/>
            </a:avLst>
          </a:prstGeom>
          <a:solidFill>
            <a:srgbClr val="1F3558"/>
          </a:solidFill>
          <a:ln w="12700">
            <a:solidFill>
              <a:srgbClr val="3A58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1" i="0">
                <a:solidFill>
                  <a:srgbClr val="B42318"/>
                </a:solidFill>
                <a:latin typeface="Segoe UI Semibold"/>
              </a:rPr>
              <a:t>IN THIS SECTION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Segments describe people, not just points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Proxy variables and indirect discrimination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Consent, purpose and re-identification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F47D35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What to check before you deploy a segmentation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6.6 ETHICAL CONSIDERATIONS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Five Ethical Considerations in Pattern Discovery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6: Evaluation and Applications of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Unsupervised learning discovers groupings nobody asked to be placed 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67712"/>
            <a:ext cx="3594597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40"/>
              </a:spcAft>
            </a:pPr>
            <a:r>
              <a:rPr sz="850" b="1" i="0">
                <a:solidFill>
                  <a:srgbClr val="B42318"/>
                </a:solidFill>
                <a:latin typeface="Segoe UI Semibold"/>
              </a:rPr>
              <a:t>CONSIDERATION 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80" b="1" i="0">
                <a:solidFill>
                  <a:srgbClr val="182B49"/>
                </a:solidFill>
                <a:latin typeface="Segoe UI Semibold"/>
              </a:rPr>
              <a:t>Segments become treatment</a:t>
            </a:r>
          </a:p>
          <a:p>
            <a:pPr marL="237744" indent="-237744" algn="l">
              <a:lnSpc>
                <a:spcPct val="116000"/>
              </a:lnSpc>
              <a:spcBef>
                <a:spcPts val="430"/>
              </a:spcBef>
              <a:spcAft>
                <a:spcPts val="0"/>
              </a:spcAft>
              <a:buClr>
                <a:srgbClr val="B42318"/>
              </a:buClr>
              <a:buSzPct val="86000"/>
              <a:buFont typeface="Arial"/>
              <a:buChar char="▪"/>
            </a:pPr>
            <a:r>
              <a:rPr sz="1019" b="0" i="0">
                <a:solidFill>
                  <a:srgbClr val="1C2330"/>
                </a:solidFill>
                <a:latin typeface="Segoe UI"/>
              </a:rPr>
              <a:t>A segment is rarely just a description</a:t>
            </a:r>
          </a:p>
          <a:p>
            <a:pPr marL="237744" indent="-237744" algn="l">
              <a:lnSpc>
                <a:spcPct val="116000"/>
              </a:lnSpc>
              <a:spcBef>
                <a:spcPts val="430"/>
              </a:spcBef>
              <a:spcAft>
                <a:spcPts val="0"/>
              </a:spcAft>
              <a:buClr>
                <a:srgbClr val="B42318"/>
              </a:buClr>
              <a:buSzPct val="86000"/>
              <a:buFont typeface="Arial"/>
              <a:buChar char="▪"/>
            </a:pPr>
            <a:r>
              <a:rPr sz="1019" b="0" i="0">
                <a:solidFill>
                  <a:srgbClr val="1C2330"/>
                </a:solidFill>
                <a:latin typeface="Segoe UI"/>
              </a:rPr>
              <a:t>It decides who is offered what, and at what price</a:t>
            </a:r>
          </a:p>
          <a:p>
            <a:pPr marL="237744" indent="-237744" algn="l">
              <a:lnSpc>
                <a:spcPct val="116000"/>
              </a:lnSpc>
              <a:spcBef>
                <a:spcPts val="430"/>
              </a:spcBef>
              <a:spcAft>
                <a:spcPts val="0"/>
              </a:spcAft>
              <a:buClr>
                <a:srgbClr val="B42318"/>
              </a:buClr>
              <a:buSzPct val="86000"/>
              <a:buFont typeface="Arial"/>
              <a:buChar char="▪"/>
            </a:pPr>
            <a:r>
              <a:rPr sz="1019" b="0" i="0">
                <a:solidFill>
                  <a:srgbClr val="1C2330"/>
                </a:solidFill>
                <a:latin typeface="Segoe UI"/>
              </a:rPr>
              <a:t>The people inside never agreed to the grouping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67712"/>
            <a:ext cx="3594597" cy="685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298685" y="2267712"/>
            <a:ext cx="3594597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760" b="1" i="0">
                <a:solidFill>
                  <a:srgbClr val="D97706"/>
                </a:solidFill>
                <a:latin typeface="Segoe UI Semibold"/>
              </a:rPr>
              <a:t>CONSIDERATION 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30"/>
              </a:spcAft>
            </a:pPr>
            <a:r>
              <a:rPr sz="1140" b="1" i="0">
                <a:solidFill>
                  <a:srgbClr val="182B49"/>
                </a:solidFill>
                <a:latin typeface="Segoe UI Semibold"/>
              </a:rPr>
              <a:t>Proxy variables</a:t>
            </a:r>
          </a:p>
          <a:p>
            <a:pPr marL="237744" indent="-237744" algn="l">
              <a:lnSpc>
                <a:spcPct val="116000"/>
              </a:lnSpc>
              <a:spcBef>
                <a:spcPts val="38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910" b="0" i="0">
                <a:solidFill>
                  <a:srgbClr val="1C2330"/>
                </a:solidFill>
                <a:latin typeface="Segoe UI"/>
              </a:rPr>
              <a:t>Removing a protected attribute does not remove it</a:t>
            </a:r>
          </a:p>
          <a:p>
            <a:pPr marL="237744" indent="-237744" algn="l">
              <a:lnSpc>
                <a:spcPct val="116000"/>
              </a:lnSpc>
              <a:spcBef>
                <a:spcPts val="38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910" b="0" i="0">
                <a:solidFill>
                  <a:srgbClr val="1C2330"/>
                </a:solidFill>
                <a:latin typeface="Segoe UI"/>
              </a:rPr>
              <a:t>Postcode, income and device correlate with it</a:t>
            </a:r>
          </a:p>
          <a:p>
            <a:pPr marL="237744" indent="-237744" algn="l">
              <a:lnSpc>
                <a:spcPct val="116000"/>
              </a:lnSpc>
              <a:spcBef>
                <a:spcPts val="38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910" b="0" i="0">
                <a:solidFill>
                  <a:srgbClr val="1C2330"/>
                </a:solidFill>
                <a:latin typeface="Segoe UI"/>
              </a:rPr>
              <a:t>Clusters can reconstruct what you excluded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8685" y="2267712"/>
            <a:ext cx="3594597" cy="685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94451" y="2267712"/>
            <a:ext cx="3594597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760" b="1" i="0">
                <a:solidFill>
                  <a:srgbClr val="0096C7"/>
                </a:solidFill>
                <a:latin typeface="Segoe UI Semibold"/>
              </a:rPr>
              <a:t>CONSIDERATION 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30"/>
              </a:spcAft>
            </a:pPr>
            <a:r>
              <a:rPr sz="1140" b="1" i="0">
                <a:solidFill>
                  <a:srgbClr val="182B49"/>
                </a:solidFill>
                <a:latin typeface="Segoe UI Semibold"/>
              </a:rPr>
              <a:t>Purpose creep</a:t>
            </a:r>
          </a:p>
          <a:p>
            <a:pPr marL="237744" indent="-237744" algn="l">
              <a:lnSpc>
                <a:spcPct val="116000"/>
              </a:lnSpc>
              <a:spcBef>
                <a:spcPts val="38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910" b="0" i="0">
                <a:solidFill>
                  <a:srgbClr val="1C2330"/>
                </a:solidFill>
                <a:latin typeface="Segoe UI"/>
              </a:rPr>
              <a:t>Data collected for one purpose gets reused</a:t>
            </a:r>
          </a:p>
          <a:p>
            <a:pPr marL="237744" indent="-237744" algn="l">
              <a:lnSpc>
                <a:spcPct val="116000"/>
              </a:lnSpc>
              <a:spcBef>
                <a:spcPts val="38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910" b="0" i="0">
                <a:solidFill>
                  <a:srgbClr val="1C2330"/>
                </a:solidFill>
                <a:latin typeface="Segoe UI"/>
              </a:rPr>
              <a:t>A segmentation built for marketing ends up in pricing</a:t>
            </a:r>
          </a:p>
          <a:p>
            <a:pPr marL="237744" indent="-237744" algn="l">
              <a:lnSpc>
                <a:spcPct val="116000"/>
              </a:lnSpc>
              <a:spcBef>
                <a:spcPts val="38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910" b="0" i="0">
                <a:solidFill>
                  <a:srgbClr val="1C2330"/>
                </a:solidFill>
                <a:latin typeface="Segoe UI"/>
              </a:rPr>
              <a:t>Consent was given for the first, not the second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4451" y="2267712"/>
            <a:ext cx="3594597" cy="6858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2920" y="4398264"/>
            <a:ext cx="3594597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90"/>
              </a:spcAft>
            </a:pPr>
            <a:r>
              <a:rPr sz="960" b="1" i="0">
                <a:solidFill>
                  <a:srgbClr val="5C2D91"/>
                </a:solidFill>
                <a:latin typeface="Segoe UI Semibold"/>
              </a:rPr>
              <a:t>CONSIDERATION 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</a:pPr>
            <a:r>
              <a:rPr sz="1440" b="1" i="0">
                <a:solidFill>
                  <a:srgbClr val="182B49"/>
                </a:solidFill>
                <a:latin typeface="Segoe UI Semibold"/>
              </a:rPr>
              <a:t>Re-identification</a:t>
            </a:r>
          </a:p>
          <a:p>
            <a:pPr marL="237744" indent="-237744" algn="l">
              <a:lnSpc>
                <a:spcPct val="116000"/>
              </a:lnSpc>
              <a:spcBef>
                <a:spcPts val="48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60" b="0" i="0">
                <a:solidFill>
                  <a:srgbClr val="1C2330"/>
                </a:solidFill>
                <a:latin typeface="Segoe UI"/>
              </a:rPr>
              <a:t>'Anonymised' data plus a few features can identify people</a:t>
            </a:r>
          </a:p>
          <a:p>
            <a:pPr marL="237744" indent="-237744" algn="l">
              <a:lnSpc>
                <a:spcPct val="116000"/>
              </a:lnSpc>
              <a:spcBef>
                <a:spcPts val="48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60" b="0" i="0">
                <a:solidFill>
                  <a:srgbClr val="1C2330"/>
                </a:solidFill>
                <a:latin typeface="Segoe UI"/>
              </a:rPr>
              <a:t>Small clusters are especially revealing</a:t>
            </a:r>
          </a:p>
          <a:p>
            <a:pPr marL="237744" indent="-237744" algn="l">
              <a:lnSpc>
                <a:spcPct val="116000"/>
              </a:lnSpc>
              <a:spcBef>
                <a:spcPts val="48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60" b="0" i="0">
                <a:solidFill>
                  <a:srgbClr val="1C2330"/>
                </a:solidFill>
                <a:latin typeface="Segoe UI"/>
              </a:rPr>
              <a:t>Aggregation is not the same as anonymity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98264"/>
            <a:ext cx="3594597" cy="68580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298685" y="4398264"/>
            <a:ext cx="3594597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40"/>
              </a:spcAft>
            </a:pPr>
            <a:r>
              <a:rPr sz="850" b="1" i="0">
                <a:solidFill>
                  <a:srgbClr val="107C41"/>
                </a:solidFill>
                <a:latin typeface="Segoe UI Semibold"/>
              </a:rPr>
              <a:t>CONSIDERATION 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80" b="1" i="0">
                <a:solidFill>
                  <a:srgbClr val="182B49"/>
                </a:solidFill>
                <a:latin typeface="Segoe UI Semibold"/>
              </a:rPr>
              <a:t>Feedback loops</a:t>
            </a:r>
          </a:p>
          <a:p>
            <a:pPr marL="237744" indent="-237744" algn="l">
              <a:lnSpc>
                <a:spcPct val="116000"/>
              </a:lnSpc>
              <a:spcBef>
                <a:spcPts val="430"/>
              </a:spcBef>
              <a:spcAft>
                <a:spcPts val="0"/>
              </a:spcAft>
              <a:buClr>
                <a:srgbClr val="107C41"/>
              </a:buClr>
              <a:buSzPct val="86000"/>
              <a:buFont typeface="Arial"/>
              <a:buChar char="▪"/>
            </a:pPr>
            <a:r>
              <a:rPr sz="1019" b="0" i="0">
                <a:solidFill>
                  <a:srgbClr val="1C2330"/>
                </a:solidFill>
                <a:latin typeface="Segoe UI"/>
              </a:rPr>
              <a:t>Acting on a segment changes the behaviour you measured</a:t>
            </a:r>
          </a:p>
          <a:p>
            <a:pPr marL="237744" indent="-237744" algn="l">
              <a:lnSpc>
                <a:spcPct val="116000"/>
              </a:lnSpc>
              <a:spcBef>
                <a:spcPts val="430"/>
              </a:spcBef>
              <a:spcAft>
                <a:spcPts val="0"/>
              </a:spcAft>
              <a:buClr>
                <a:srgbClr val="107C41"/>
              </a:buClr>
              <a:buSzPct val="86000"/>
              <a:buFont typeface="Arial"/>
              <a:buChar char="▪"/>
            </a:pPr>
            <a:r>
              <a:rPr sz="1019" b="0" i="0">
                <a:solidFill>
                  <a:srgbClr val="1C2330"/>
                </a:solidFill>
                <a:latin typeface="Segoe UI"/>
              </a:rPr>
              <a:t>Next year's data reflects your intervention</a:t>
            </a:r>
          </a:p>
          <a:p>
            <a:pPr marL="237744" indent="-237744" algn="l">
              <a:lnSpc>
                <a:spcPct val="116000"/>
              </a:lnSpc>
              <a:spcBef>
                <a:spcPts val="430"/>
              </a:spcBef>
              <a:spcAft>
                <a:spcPts val="0"/>
              </a:spcAft>
              <a:buClr>
                <a:srgbClr val="107C41"/>
              </a:buClr>
              <a:buSzPct val="86000"/>
              <a:buFont typeface="Arial"/>
              <a:buChar char="▪"/>
            </a:pPr>
            <a:r>
              <a:rPr sz="1019" b="0" i="0">
                <a:solidFill>
                  <a:srgbClr val="1C2330"/>
                </a:solidFill>
                <a:latin typeface="Segoe UI"/>
              </a:rPr>
              <a:t>The pattern becomes self-fulfilling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8685" y="4398264"/>
            <a:ext cx="3594597" cy="6858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94451" y="4398264"/>
            <a:ext cx="3594597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760" b="1" i="0">
                <a:solidFill>
                  <a:srgbClr val="182B49"/>
                </a:solidFill>
                <a:latin typeface="Segoe UI Semibold"/>
              </a:rPr>
              <a:t>THE HABIT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30"/>
              </a:spcAft>
            </a:pPr>
            <a:r>
              <a:rPr sz="1140" b="1" i="0">
                <a:solidFill>
                  <a:srgbClr val="182B49"/>
                </a:solidFill>
                <a:latin typeface="Segoe UI Semibold"/>
              </a:rPr>
              <a:t>Ask before you deploy</a:t>
            </a:r>
          </a:p>
          <a:p>
            <a:pPr marL="237744" indent="-237744" algn="l">
              <a:lnSpc>
                <a:spcPct val="116000"/>
              </a:lnSpc>
              <a:spcBef>
                <a:spcPts val="380"/>
              </a:spcBef>
              <a:spcAft>
                <a:spcPts val="0"/>
              </a:spcAft>
              <a:buClr>
                <a:srgbClr val="182B49"/>
              </a:buClr>
              <a:buSzPct val="86000"/>
              <a:buFont typeface="Arial"/>
              <a:buChar char="▪"/>
            </a:pPr>
            <a:r>
              <a:rPr sz="910" b="0" i="0">
                <a:solidFill>
                  <a:srgbClr val="1C2330"/>
                </a:solidFill>
                <a:latin typeface="Segoe UI"/>
              </a:rPr>
              <a:t>Who is in the smallest cluster, and what happens to them?</a:t>
            </a:r>
          </a:p>
          <a:p>
            <a:pPr marL="237744" indent="-237744" algn="l">
              <a:lnSpc>
                <a:spcPct val="116000"/>
              </a:lnSpc>
              <a:spcBef>
                <a:spcPts val="380"/>
              </a:spcBef>
              <a:spcAft>
                <a:spcPts val="0"/>
              </a:spcAft>
              <a:buClr>
                <a:srgbClr val="182B49"/>
              </a:buClr>
              <a:buSzPct val="86000"/>
              <a:buFont typeface="Arial"/>
              <a:buChar char="▪"/>
            </a:pPr>
            <a:r>
              <a:rPr sz="910" b="0" i="0">
                <a:solidFill>
                  <a:srgbClr val="1C2330"/>
                </a:solidFill>
                <a:latin typeface="Segoe UI"/>
              </a:rPr>
              <a:t>Would I be comfortable explaining this grouping to them?</a:t>
            </a:r>
          </a:p>
          <a:p>
            <a:pPr marL="237744" indent="-237744" algn="l">
              <a:lnSpc>
                <a:spcPct val="116000"/>
              </a:lnSpc>
              <a:spcBef>
                <a:spcPts val="380"/>
              </a:spcBef>
              <a:spcAft>
                <a:spcPts val="0"/>
              </a:spcAft>
              <a:buClr>
                <a:srgbClr val="182B49"/>
              </a:buClr>
              <a:buSzPct val="86000"/>
              <a:buFont typeface="Arial"/>
              <a:buChar char="▪"/>
            </a:pPr>
            <a:r>
              <a:rPr sz="910" b="0" i="0">
                <a:solidFill>
                  <a:srgbClr val="1C2330"/>
                </a:solidFill>
                <a:latin typeface="Segoe UI"/>
              </a:rPr>
              <a:t>What changes as a result of this analysis?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4451" y="4398264"/>
            <a:ext cx="3594597" cy="68580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6.6 ETHICAL CONSIDERATIONS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Proxy Variables - Why Dropping a Column Is Not Enough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6: Evaluation and Applications of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11186129" cy="4535424"/>
          </a:xfrm>
          <a:prstGeom prst="roundRect">
            <a:avLst>
              <a:gd name="adj" fmla="val 3500"/>
            </a:avLst>
          </a:prstGeom>
          <a:solidFill>
            <a:srgbClr val="FDE9E7"/>
          </a:solidFill>
          <a:ln w="15875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603504" rIns="237744" bIns="0" rtlCol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42318"/>
                </a:solidFill>
                <a:latin typeface="Segoe UI Semibold"/>
              </a:rPr>
              <a:t>The claim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'our model is fair because we never used gender, caste or religion.'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B42318"/>
                </a:solidFill>
                <a:latin typeface="Segoe UI Semibold"/>
              </a:rPr>
              <a:t>Why it fails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other features correlate with the excluded one. Postcode, income, education, purchase categories and device type can all carry it.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B42318"/>
                </a:solidFill>
                <a:latin typeface="Segoe UI Semibold"/>
              </a:rPr>
              <a:t>In clustering specifically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the algorithm groups by overall similarity, so it can reconstruct the excluded attribute as a by-product without ever being given it.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B42318"/>
                </a:solidFill>
                <a:latin typeface="Segoe UI Semibold"/>
              </a:rPr>
              <a:t>How to check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after clustering, test whether the protected attribute is predictable from your cluster labels. If it is, the clusters encode it.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B42318"/>
                </a:solidFill>
                <a:latin typeface="Segoe UI Semibold"/>
              </a:rPr>
              <a:t>What to do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measure the disparity, document it, and decide deliberately - reweight, drop the offending features, or accept it with a stated justification.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B42318"/>
                </a:solidFill>
                <a:latin typeface="Segoe UI Semibold"/>
              </a:rPr>
              <a:t>What not to do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claim fairness because a column is absent. That is not a defence anybody informed will accept.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11186129" cy="42062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1883664"/>
            <a:ext cx="107289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COMMON PITFALL   ·   </a:t>
            </a:r>
            <a:r>
              <a:rPr sz="1400" b="1" i="0">
                <a:solidFill>
                  <a:srgbClr val="FFFFFF"/>
                </a:solidFill>
                <a:latin typeface="Segoe UI Semibold"/>
              </a:rPr>
              <a:t>The most common mistaken defence in a fairness discussion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UNIT VI CONSOLIDATION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Activity: Validate and Interrogate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6: Evaluation and Applications of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11186129" cy="841248"/>
          </a:xfrm>
          <a:prstGeom prst="roundRect">
            <a:avLst>
              <a:gd name="adj" fmla="val 5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0" rIns="219456" bIns="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5C2D91"/>
                </a:solidFill>
                <a:latin typeface="Segoe UI Semibold"/>
              </a:rPr>
              <a:t>GROUP WORK   ·   12 minutes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In groups of 3-4, take a clustering result and build the case for and against trusting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77724" cy="841248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2920" y="2816352"/>
            <a:ext cx="2686804" cy="2596896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13232" rIns="164592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40"/>
              </a:spcAft>
            </a:pPr>
            <a:r>
              <a:rPr sz="1080" b="1" i="0">
                <a:solidFill>
                  <a:srgbClr val="182B49"/>
                </a:solidFill>
                <a:latin typeface="Segoe UI Semibold"/>
              </a:rPr>
              <a:t>The scenario</a:t>
            </a:r>
          </a:p>
          <a:p>
            <a:pPr marL="237744" indent="-237744" algn="l">
              <a:lnSpc>
                <a:spcPct val="116000"/>
              </a:lnSpc>
              <a:spcBef>
                <a:spcPts val="39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930" b="0" i="0">
                <a:solidFill>
                  <a:srgbClr val="1C2330"/>
                </a:solidFill>
                <a:latin typeface="Segoe UI"/>
              </a:rPr>
              <a:t>A university has clustered its students into five groups</a:t>
            </a:r>
          </a:p>
          <a:p>
            <a:pPr marL="237744" indent="-237744" algn="l">
              <a:lnSpc>
                <a:spcPct val="116000"/>
              </a:lnSpc>
              <a:spcBef>
                <a:spcPts val="39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930" b="0" i="0">
                <a:solidFill>
                  <a:srgbClr val="1C2330"/>
                </a:solidFill>
                <a:latin typeface="Segoe UI"/>
              </a:rPr>
              <a:t>Features: attendance, submission timing, library use, marks</a:t>
            </a:r>
          </a:p>
          <a:p>
            <a:pPr marL="237744" indent="-237744" algn="l">
              <a:lnSpc>
                <a:spcPct val="116000"/>
              </a:lnSpc>
              <a:spcBef>
                <a:spcPts val="39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930" b="0" i="0">
                <a:solidFill>
                  <a:srgbClr val="1C2330"/>
                </a:solidFill>
                <a:latin typeface="Segoe UI"/>
              </a:rPr>
              <a:t>Mean silhouette is 0.48</a:t>
            </a:r>
          </a:p>
          <a:p>
            <a:pPr marL="237744" indent="-237744" algn="l">
              <a:lnSpc>
                <a:spcPct val="116000"/>
              </a:lnSpc>
              <a:spcBef>
                <a:spcPts val="39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930" b="0" i="0">
                <a:solidFill>
                  <a:srgbClr val="1C2330"/>
                </a:solidFill>
                <a:latin typeface="Segoe UI"/>
              </a:rPr>
              <a:t>The intended use is to target academic support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017520"/>
            <a:ext cx="365760" cy="365760"/>
          </a:xfrm>
          <a:prstGeom prst="ellipse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6028" y="2816352"/>
            <a:ext cx="2686804" cy="2596896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13232" rIns="164592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10"/>
              </a:spcAft>
            </a:pPr>
            <a:r>
              <a:rPr sz="1230" b="1" i="0">
                <a:solidFill>
                  <a:srgbClr val="182B49"/>
                </a:solidFill>
                <a:latin typeface="Segoe UI Semibold"/>
              </a:rPr>
              <a:t>Build the case FOR</a:t>
            </a:r>
          </a:p>
          <a:p>
            <a:pPr marL="237744" indent="-237744" algn="l">
              <a:lnSpc>
                <a:spcPct val="116000"/>
              </a:lnSpc>
              <a:spcBef>
                <a:spcPts val="44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050" b="0" i="0">
                <a:solidFill>
                  <a:srgbClr val="1C2330"/>
                </a:solidFill>
                <a:latin typeface="Segoe UI"/>
              </a:rPr>
              <a:t>What further evidence would you gather?</a:t>
            </a:r>
          </a:p>
          <a:p>
            <a:pPr marL="237744" indent="-237744" algn="l">
              <a:lnSpc>
                <a:spcPct val="116000"/>
              </a:lnSpc>
              <a:spcBef>
                <a:spcPts val="44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050" b="0" i="0">
                <a:solidFill>
                  <a:srgbClr val="1C2330"/>
                </a:solidFill>
                <a:latin typeface="Segoe UI"/>
              </a:rPr>
              <a:t>What null baseline and stability check would you run?</a:t>
            </a:r>
          </a:p>
          <a:p>
            <a:pPr marL="237744" indent="-237744" algn="l">
              <a:lnSpc>
                <a:spcPct val="116000"/>
              </a:lnSpc>
              <a:spcBef>
                <a:spcPts val="44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050" b="0" i="0">
                <a:solidFill>
                  <a:srgbClr val="1C2330"/>
                </a:solidFill>
                <a:latin typeface="Segoe UI"/>
              </a:rPr>
              <a:t>How would you name and profile each cluster?</a:t>
            </a:r>
          </a:p>
        </p:txBody>
      </p:sp>
      <p:sp>
        <p:nvSpPr>
          <p:cNvPr id="16" name="Oval 15"/>
          <p:cNvSpPr/>
          <p:nvPr/>
        </p:nvSpPr>
        <p:spPr>
          <a:xfrm>
            <a:off x="3518908" y="3017520"/>
            <a:ext cx="365760" cy="365760"/>
          </a:xfrm>
          <a:prstGeom prst="ellipse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9136" y="2816352"/>
            <a:ext cx="2686804" cy="2596896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13232" rIns="164592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</a:pPr>
            <a:r>
              <a:rPr sz="1380" b="1" i="0">
                <a:solidFill>
                  <a:srgbClr val="182B49"/>
                </a:solidFill>
                <a:latin typeface="Segoe UI Semibold"/>
              </a:rPr>
              <a:t>Build the case AGAINST</a:t>
            </a:r>
          </a:p>
          <a:p>
            <a:pPr marL="237744" indent="-237744" algn="l">
              <a:lnSpc>
                <a:spcPct val="116000"/>
              </a:lnSpc>
              <a:spcBef>
                <a:spcPts val="49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80" b="0" i="0">
                <a:solidFill>
                  <a:srgbClr val="1C2330"/>
                </a:solidFill>
                <a:latin typeface="Segoe UI"/>
              </a:rPr>
              <a:t>What could a silhouette of 0.48 be hiding?</a:t>
            </a:r>
          </a:p>
          <a:p>
            <a:pPr marL="237744" indent="-237744" algn="l">
              <a:lnSpc>
                <a:spcPct val="116000"/>
              </a:lnSpc>
              <a:spcBef>
                <a:spcPts val="49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80" b="0" i="0">
                <a:solidFill>
                  <a:srgbClr val="1C2330"/>
                </a:solidFill>
                <a:latin typeface="Segoe UI"/>
              </a:rPr>
              <a:t>Which students might be unfairly grouped?</a:t>
            </a:r>
          </a:p>
          <a:p>
            <a:pPr marL="237744" indent="-237744" algn="l">
              <a:lnSpc>
                <a:spcPct val="116000"/>
              </a:lnSpc>
              <a:spcBef>
                <a:spcPts val="49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80" b="0" i="0">
                <a:solidFill>
                  <a:srgbClr val="1C2330"/>
                </a:solidFill>
                <a:latin typeface="Segoe UI"/>
              </a:rPr>
              <a:t>What proxy variables could be at work here?</a:t>
            </a:r>
          </a:p>
        </p:txBody>
      </p:sp>
      <p:sp>
        <p:nvSpPr>
          <p:cNvPr id="18" name="Oval 17"/>
          <p:cNvSpPr/>
          <p:nvPr/>
        </p:nvSpPr>
        <p:spPr>
          <a:xfrm>
            <a:off x="6352016" y="3017520"/>
            <a:ext cx="365760" cy="365760"/>
          </a:xfrm>
          <a:prstGeom prst="ellipse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2245" y="2816352"/>
            <a:ext cx="2686804" cy="2596896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13232" rIns="164592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82B49"/>
                </a:solidFill>
                <a:latin typeface="Segoe UI Semibold"/>
              </a:rPr>
              <a:t>Decide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200" b="0" i="0">
                <a:solidFill>
                  <a:srgbClr val="1C2330"/>
                </a:solidFill>
                <a:latin typeface="Segoe UI"/>
              </a:rPr>
              <a:t>Would you deploy it? Under what conditions?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200" b="0" i="0">
                <a:solidFill>
                  <a:srgbClr val="1C2330"/>
                </a:solidFill>
                <a:latin typeface="Segoe UI"/>
              </a:rPr>
              <a:t>Who else must be in the decision?</a:t>
            </a:r>
          </a:p>
        </p:txBody>
      </p:sp>
      <p:sp>
        <p:nvSpPr>
          <p:cNvPr id="20" name="Oval 19"/>
          <p:cNvSpPr/>
          <p:nvPr/>
        </p:nvSpPr>
        <p:spPr>
          <a:xfrm>
            <a:off x="9185125" y="3017520"/>
            <a:ext cx="365760" cy="365760"/>
          </a:xfrm>
          <a:prstGeom prst="ellipse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541264"/>
            <a:ext cx="11186129" cy="786384"/>
          </a:xfrm>
          <a:prstGeom prst="roundRect">
            <a:avLst>
              <a:gd name="adj" fmla="val 7000"/>
            </a:avLst>
          </a:prstGeom>
          <a:solidFill>
            <a:srgbClr val="FEF3E0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0" rIns="21945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7706"/>
                </a:solidFill>
                <a:latin typeface="Segoe UI Semibold"/>
              </a:rPr>
              <a:t>DELIVERABLE 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One speaker per group: 60 seconds giving your verdict, your strongest supporting evidence, and your strongest objection.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541264"/>
            <a:ext cx="77724" cy="78638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UNIT VI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Unit VI - The Seven Ideas Worth Remembering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INT396  ·  Unit 6: Evaluation and Applications of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5510768" cy="800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68580" cy="8001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22376" y="2000250"/>
            <a:ext cx="384048" cy="384048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1938528"/>
            <a:ext cx="4578080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40"/>
              </a:spcAft>
            </a:pPr>
            <a:r>
              <a:rPr sz="840" b="1" i="0">
                <a:solidFill>
                  <a:srgbClr val="182B49"/>
                </a:solidFill>
                <a:latin typeface="Segoe UI Semibold"/>
              </a:rPr>
              <a:t>Internal metrics judge geometry; external metrics need labels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476"/>
                </a:solidFill>
                <a:latin typeface="Segoe UI"/>
              </a:rPr>
              <a:t>Internal validation is always available and proves little. External validation proves more and is rarely available.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280" y="1792224"/>
            <a:ext cx="5510768" cy="800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8280" y="1792224"/>
            <a:ext cx="68580" cy="8001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97736" y="2000250"/>
            <a:ext cx="384048" cy="384048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8088" y="1938528"/>
            <a:ext cx="4578080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40"/>
              </a:spcAft>
            </a:pPr>
            <a:r>
              <a:rPr sz="840" b="1" i="0">
                <a:solidFill>
                  <a:srgbClr val="182B49"/>
                </a:solidFill>
                <a:latin typeface="Segoe UI Semibold"/>
              </a:rPr>
              <a:t>Silhouette combines cohesion and separation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476"/>
                </a:solidFill>
                <a:latin typeface="Segoe UI"/>
              </a:rPr>
              <a:t>a(i) is the mean distance within its own cluster, b(i) to the nearest other. s(i) = (b − a) / max{a, b}, bounded in [−1, +1].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756915"/>
            <a:ext cx="5510768" cy="800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2756915"/>
            <a:ext cx="68580" cy="8001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22376" y="2964941"/>
            <a:ext cx="384048" cy="384048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2903220"/>
            <a:ext cx="4578080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90"/>
              </a:spcAft>
            </a:pPr>
            <a:r>
              <a:rPr sz="1010" b="1" i="0">
                <a:solidFill>
                  <a:srgbClr val="182B49"/>
                </a:solidFill>
                <a:latin typeface="Segoe UI Semibold"/>
              </a:rPr>
              <a:t>Read the distribution, not the mean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86476"/>
                </a:solidFill>
                <a:latin typeface="Segoe UI"/>
              </a:rPr>
              <a:t>A respectable average can conceal one badly placed cluster. Every negative silhouette marks a misassigned point.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8280" y="2756915"/>
            <a:ext cx="5510768" cy="800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8280" y="2756915"/>
            <a:ext cx="68580" cy="8001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97736" y="2964941"/>
            <a:ext cx="384048" cy="384048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8088" y="2903220"/>
            <a:ext cx="4578080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90"/>
              </a:spcAft>
            </a:pPr>
            <a:r>
              <a:rPr sz="1010" b="1" i="0">
                <a:solidFill>
                  <a:srgbClr val="182B49"/>
                </a:solidFill>
                <a:latin typeface="Segoe UI Semibold"/>
              </a:rPr>
              <a:t>Every metric returns a number for structureless data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86476"/>
                </a:solidFill>
                <a:latin typeface="Segoe UI"/>
              </a:rPr>
              <a:t>So a score is only interpretable against a null baseline built by shuffling the features.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721608"/>
            <a:ext cx="5510768" cy="800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28" name="Rectangle 27"/>
          <p:cNvSpPr/>
          <p:nvPr/>
        </p:nvSpPr>
        <p:spPr>
          <a:xfrm>
            <a:off x="502920" y="3721608"/>
            <a:ext cx="68580" cy="8001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22376" y="3929634"/>
            <a:ext cx="384048" cy="384048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2728" y="3867912"/>
            <a:ext cx="4578080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40"/>
              </a:spcAft>
            </a:pPr>
            <a:r>
              <a:rPr sz="840" b="1" i="0">
                <a:solidFill>
                  <a:srgbClr val="182B49"/>
                </a:solidFill>
                <a:latin typeface="Segoe UI Semibold"/>
              </a:rPr>
              <a:t>Stability is evidence that structure is real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476"/>
                </a:solidFill>
                <a:latin typeface="Segoe UI"/>
              </a:rPr>
              <a:t>Re-cluster resampled subsets and measure agreement with ARI. Structure that survives resampling is more trustworthy than a high score.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8280" y="3721608"/>
            <a:ext cx="5510768" cy="800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78280" y="3721608"/>
            <a:ext cx="68580" cy="8001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397736" y="3929634"/>
            <a:ext cx="384048" cy="384048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28088" y="3867912"/>
            <a:ext cx="4578080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40"/>
              </a:spcAft>
            </a:pPr>
            <a:r>
              <a:rPr sz="840" b="1" i="0">
                <a:solidFill>
                  <a:srgbClr val="182B49"/>
                </a:solidFill>
                <a:latin typeface="Segoe UI Semibold"/>
              </a:rPr>
              <a:t>Interpretation is a step you perform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476"/>
                </a:solidFill>
                <a:latin typeface="Segoe UI"/>
              </a:rPr>
              <a:t>Profile the centroids in original units, find the distinguishing features, show representative members, and state the action.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686300"/>
            <a:ext cx="5510768" cy="800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02920" y="4686300"/>
            <a:ext cx="68580" cy="80010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22376" y="4894326"/>
            <a:ext cx="384048" cy="384048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52728" y="4832604"/>
            <a:ext cx="4578080" cy="544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40"/>
              </a:spcAft>
            </a:pPr>
            <a:r>
              <a:rPr sz="840" b="1" i="0">
                <a:solidFill>
                  <a:srgbClr val="182B49"/>
                </a:solidFill>
                <a:latin typeface="Segoe UI Semibold"/>
              </a:rPr>
              <a:t>A segment is a decision about people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476"/>
                </a:solidFill>
                <a:latin typeface="Segoe UI"/>
              </a:rPr>
              <a:t>Removing a protected attribute does not remove it - proxies remain. Test whether your clusters encode it, and document what you find.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596128"/>
            <a:ext cx="11186129" cy="731520"/>
          </a:xfrm>
          <a:prstGeom prst="roundRect">
            <a:avLst>
              <a:gd name="adj" fmla="val 7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0" rIns="21945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A623"/>
                </a:solidFill>
                <a:latin typeface="Segoe UI Semibold"/>
              </a:rPr>
              <a:t>NEXT UP   </a:t>
            </a:r>
            <a:r>
              <a:rPr sz="1350" b="0" i="0">
                <a:solidFill>
                  <a:srgbClr val="D6E2F0"/>
                </a:solidFill>
                <a:latin typeface="Segoe UI"/>
              </a:rPr>
              <a:t>The capstone: an end-to-end unsupervised solution integrating preprocessing, clustering, dimensionality reduction, anomaly detection, validation and an honest statement of limitations.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596128"/>
            <a:ext cx="77724" cy="731520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5898</TotalTime>
  <Words>3521</Words>
  <Application>Microsoft Office PowerPoint</Application>
  <PresentationFormat>Widescreen</PresentationFormat>
  <Paragraphs>405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Cambria Math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INT396 Unit 6 - Evaluation and Applications of Unsupervised Learning</dc:title>
  <dc:subject>Unsupervised Learning</dc:subject>
  <dc:creator>School of Computer Science &amp; Engineering</dc:creator>
  <cp:lastModifiedBy>Piyush Sharma</cp:lastModifiedBy>
  <cp:revision>95</cp:revision>
  <dcterms:created xsi:type="dcterms:W3CDTF">2025-07-15T03:53:59Z</dcterms:created>
  <dcterms:modified xsi:type="dcterms:W3CDTF">2026-10-27T23:18:35Z</dcterms:modified>
</cp:coreProperties>
</file>