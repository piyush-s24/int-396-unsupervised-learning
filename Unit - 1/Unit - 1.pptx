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302" r:id="rId4"/>
    <p:sldId id="258" r:id="rId5"/>
    <p:sldId id="259" r:id="rId6"/>
    <p:sldId id="260" r:id="rId7"/>
    <p:sldId id="261" r:id="rId8"/>
    <p:sldId id="262" r:id="rId9"/>
    <p:sldId id="295" r:id="rId10"/>
    <p:sldId id="263" r:id="rId11"/>
    <p:sldId id="296" r:id="rId12"/>
    <p:sldId id="264" r:id="rId13"/>
    <p:sldId id="265" r:id="rId14"/>
    <p:sldId id="266" r:id="rId15"/>
    <p:sldId id="267" r:id="rId16"/>
    <p:sldId id="268" r:id="rId17"/>
    <p:sldId id="269" r:id="rId18"/>
    <p:sldId id="270" r:id="rId19"/>
    <p:sldId id="271" r:id="rId20"/>
    <p:sldId id="272" r:id="rId21"/>
    <p:sldId id="273" r:id="rId22"/>
    <p:sldId id="274" r:id="rId23"/>
    <p:sldId id="297" r:id="rId24"/>
    <p:sldId id="275" r:id="rId25"/>
    <p:sldId id="276" r:id="rId26"/>
    <p:sldId id="277" r:id="rId27"/>
    <p:sldId id="278" r:id="rId28"/>
    <p:sldId id="279" r:id="rId29"/>
    <p:sldId id="280" r:id="rId30"/>
    <p:sldId id="281" r:id="rId31"/>
    <p:sldId id="282" r:id="rId32"/>
    <p:sldId id="283" r:id="rId33"/>
    <p:sldId id="298" r:id="rId34"/>
    <p:sldId id="284" r:id="rId35"/>
    <p:sldId id="299" r:id="rId36"/>
    <p:sldId id="285" r:id="rId37"/>
    <p:sldId id="286" r:id="rId38"/>
    <p:sldId id="287" r:id="rId39"/>
    <p:sldId id="288" r:id="rId40"/>
    <p:sldId id="289" r:id="rId41"/>
    <p:sldId id="300" r:id="rId42"/>
    <p:sldId id="290" r:id="rId43"/>
    <p:sldId id="301" r:id="rId44"/>
    <p:sldId id="291" r:id="rId45"/>
    <p:sldId id="292" r:id="rId46"/>
    <p:sldId id="29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86650" autoAdjust="0"/>
  </p:normalViewPr>
  <p:slideViewPr>
    <p:cSldViewPr snapToGrid="0">
      <p:cViewPr varScale="1">
        <p:scale>
          <a:sx n="77" d="100"/>
          <a:sy n="77" d="100"/>
        </p:scale>
        <p:origin x="912" y="58"/>
      </p:cViewPr>
      <p:guideLst/>
    </p:cSldViewPr>
  </p:slideViewPr>
  <p:notesTextViewPr>
    <p:cViewPr>
      <p:scale>
        <a:sx n="1" d="1"/>
        <a:sy n="1" d="1"/>
      </p:scale>
      <p:origin x="0" y="0"/>
    </p:cViewPr>
  </p:notesTextViewPr>
  <p:sorterViewPr>
    <p:cViewPr>
      <p:scale>
        <a:sx n="86" d="100"/>
        <a:sy n="8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C2B38-6B8B-8144-9502-D52FD2780971}"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226FD-0AA1-C14C-A7A7-3D3E3FAEEC78}" type="slidenum">
              <a:rPr lang="en-US" smtClean="0"/>
              <a:t>‹#›</a:t>
            </a:fld>
            <a:endParaRPr lang="en-US"/>
          </a:p>
        </p:txBody>
      </p:sp>
    </p:spTree>
    <p:extLst>
      <p:ext uri="{BB962C8B-B14F-4D97-AF65-F5344CB8AC3E}">
        <p14:creationId xmlns:p14="http://schemas.microsoft.com/office/powerpoint/2010/main" val="397712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4493-2CA9-8571-4937-E45C2294EF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01036C-6384-5668-A896-8F559C66D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352FCC-C458-4578-09B1-A7F96EF6AB48}"/>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5" name="Footer Placeholder 4">
            <a:extLst>
              <a:ext uri="{FF2B5EF4-FFF2-40B4-BE49-F238E27FC236}">
                <a16:creationId xmlns:a16="http://schemas.microsoft.com/office/drawing/2014/main" id="{8A68DFC3-F3A1-B8C9-8624-B917C1EAE1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2F230D-3CC0-26B9-4D66-CFD85F08D0CF}"/>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347485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FAAA-C090-FF11-A066-5D037A73A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8008CB-F94A-8780-3C82-AD1340EEB0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6E06A8-829A-BE65-08EE-2D7F3F9BD467}"/>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5" name="Footer Placeholder 4">
            <a:extLst>
              <a:ext uri="{FF2B5EF4-FFF2-40B4-BE49-F238E27FC236}">
                <a16:creationId xmlns:a16="http://schemas.microsoft.com/office/drawing/2014/main" id="{58E3E45F-FB75-B34E-27F0-544E92E359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404ED-1139-D1C8-97B4-6A9FB8A34EDA}"/>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05020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4447-F8E8-EC31-5553-D60623A552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09DCF8-A867-D420-A672-6C959A5DE9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BEFED3-BE17-9E41-ED8D-B9B42ACDC7C7}"/>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5" name="Footer Placeholder 4">
            <a:extLst>
              <a:ext uri="{FF2B5EF4-FFF2-40B4-BE49-F238E27FC236}">
                <a16:creationId xmlns:a16="http://schemas.microsoft.com/office/drawing/2014/main" id="{22FAFFA2-5A46-EBEA-9E9A-D8C485AF42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DA7B3-BE26-7D7E-8473-2FB857A9F246}"/>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1044142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8B39-26AC-466A-D6B5-461E03BF3B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4B1A01-4126-5D51-BEDC-E4D44A01C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FDED90-651B-4EDC-1F5A-BEFE59B6F9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8CB8B3-05BB-BAF6-00B6-CD97987C7421}"/>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6" name="Footer Placeholder 5">
            <a:extLst>
              <a:ext uri="{FF2B5EF4-FFF2-40B4-BE49-F238E27FC236}">
                <a16:creationId xmlns:a16="http://schemas.microsoft.com/office/drawing/2014/main" id="{8094D950-7D44-86BB-087A-5209FF3914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17ED68-4DC4-1CD3-45DD-44AB832EBFFD}"/>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052500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579F-E9B9-4FB3-079C-AC0EE8F9A7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3608D8-61E9-0EC2-1135-4E5AB3694D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9A57A8-1B67-3DEF-41A5-D689D0D4A5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2DF143-0F17-FE98-282E-1935E343A6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D70667-B2E8-5A38-38FA-A6706EAF2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505CCF-F585-0F17-DABE-05E4FF795B83}"/>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8" name="Footer Placeholder 7">
            <a:extLst>
              <a:ext uri="{FF2B5EF4-FFF2-40B4-BE49-F238E27FC236}">
                <a16:creationId xmlns:a16="http://schemas.microsoft.com/office/drawing/2014/main" id="{AB947FE8-0E8D-A94F-B474-4909D0E789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E5C681-F6A7-1471-4241-23FFAA8CC065}"/>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2303217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711E3-2766-C194-3035-EA92294F71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D254F45-D083-1E23-0957-2B94E1164928}"/>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4" name="Footer Placeholder 3">
            <a:extLst>
              <a:ext uri="{FF2B5EF4-FFF2-40B4-BE49-F238E27FC236}">
                <a16:creationId xmlns:a16="http://schemas.microsoft.com/office/drawing/2014/main" id="{D0571DE8-9CC0-DE1B-A9E8-E900DDCAE6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DD2338-EB70-78B3-04E8-081C7B2293E2}"/>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27639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F10A3-7809-E665-6D31-0B72448C2EBC}"/>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3" name="Footer Placeholder 2">
            <a:extLst>
              <a:ext uri="{FF2B5EF4-FFF2-40B4-BE49-F238E27FC236}">
                <a16:creationId xmlns:a16="http://schemas.microsoft.com/office/drawing/2014/main" id="{22A10D3E-488E-86AE-1886-0C478399E0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4E70C7-6B8D-6A95-A5E8-91CD215A617E}"/>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1633342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E71E-D6EB-AD5F-11C9-859F8E795F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662502-4DAC-0FAC-7A99-641DFC4DB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412D85-CFBA-1710-8727-6E8044116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1AF872-86E4-F287-51DC-4C920820B0D5}"/>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6" name="Footer Placeholder 5">
            <a:extLst>
              <a:ext uri="{FF2B5EF4-FFF2-40B4-BE49-F238E27FC236}">
                <a16:creationId xmlns:a16="http://schemas.microsoft.com/office/drawing/2014/main" id="{EA65091E-9F74-B1FD-AC91-4BA4224274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D5CCCE-FB4C-AE93-2649-11EF8B40CDC7}"/>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885995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47C5-4675-05F0-572E-818103276A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E8D475-8AA4-40FA-19E0-C3CAFF96D1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B74253-2D73-FFBA-52EC-16A6704C69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753DF-4D80-39C5-C82B-0BD5B45DC8E3}"/>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6" name="Footer Placeholder 5">
            <a:extLst>
              <a:ext uri="{FF2B5EF4-FFF2-40B4-BE49-F238E27FC236}">
                <a16:creationId xmlns:a16="http://schemas.microsoft.com/office/drawing/2014/main" id="{F4938F90-7261-DC07-035E-01C5FF9F01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E4CDC3-BA46-E5C1-BFD7-E02B99826A2F}"/>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65429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1F0DE-07EB-5404-5128-D2B464E707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52F2CA-0910-4A3C-BE51-67A4CBFD30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007D85-B05A-A890-F61A-331F8D038723}"/>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5" name="Footer Placeholder 4">
            <a:extLst>
              <a:ext uri="{FF2B5EF4-FFF2-40B4-BE49-F238E27FC236}">
                <a16:creationId xmlns:a16="http://schemas.microsoft.com/office/drawing/2014/main" id="{2689AD34-418D-1BD5-4033-0A9C0FE87E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B7C38A-C1A3-02F3-460A-AED170379B94}"/>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76436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AF4D08-5D6D-E381-F67C-A2A38B5BDC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34A61E-3091-96AE-E93F-FD899F09E4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D3682-979B-BD81-BBE6-E10D5F02CA63}"/>
              </a:ext>
            </a:extLst>
          </p:cNvPr>
          <p:cNvSpPr>
            <a:spLocks noGrp="1"/>
          </p:cNvSpPr>
          <p:nvPr>
            <p:ph type="dt" sz="half" idx="10"/>
          </p:nvPr>
        </p:nvSpPr>
        <p:spPr/>
        <p:txBody>
          <a:bodyPr/>
          <a:lstStyle/>
          <a:p>
            <a:fld id="{34C3085B-59BF-413B-BC82-B4923E5EA610}" type="datetimeFigureOut">
              <a:rPr lang="en-IN" smtClean="0"/>
              <a:t>21-08-2026</a:t>
            </a:fld>
            <a:endParaRPr lang="en-IN"/>
          </a:p>
        </p:txBody>
      </p:sp>
      <p:sp>
        <p:nvSpPr>
          <p:cNvPr id="5" name="Footer Placeholder 4">
            <a:extLst>
              <a:ext uri="{FF2B5EF4-FFF2-40B4-BE49-F238E27FC236}">
                <a16:creationId xmlns:a16="http://schemas.microsoft.com/office/drawing/2014/main" id="{1DEBDE2A-6E26-3AB5-63D2-91533C506C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52DC8D-491E-1FC1-DD4B-A90886C94B3B}"/>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209313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2404081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D99742-43DF-60DD-E25A-A8A794C58F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A8CF3D-1224-31C1-BC1E-97D09C5BA1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5E14CC-6728-1948-0D35-9401CB2966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C3085B-59BF-413B-BC82-B4923E5EA610}" type="datetimeFigureOut">
              <a:rPr lang="en-IN" smtClean="0"/>
              <a:t>21-08-2026</a:t>
            </a:fld>
            <a:endParaRPr lang="en-IN"/>
          </a:p>
        </p:txBody>
      </p:sp>
      <p:sp>
        <p:nvSpPr>
          <p:cNvPr id="5" name="Footer Placeholder 4">
            <a:extLst>
              <a:ext uri="{FF2B5EF4-FFF2-40B4-BE49-F238E27FC236}">
                <a16:creationId xmlns:a16="http://schemas.microsoft.com/office/drawing/2014/main" id="{56CF7C21-BCD5-1B37-9FC5-0B14606436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1837B22-005B-A688-B01E-2C4677E63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5C793E-F706-40D9-8BEC-FAE7851A491D}" type="slidenum">
              <a:rPr lang="en-IN" smtClean="0"/>
              <a:t>‹#›</a:t>
            </a:fld>
            <a:endParaRPr lang="en-IN"/>
          </a:p>
        </p:txBody>
      </p:sp>
    </p:spTree>
    <p:extLst>
      <p:ext uri="{BB962C8B-B14F-4D97-AF65-F5344CB8AC3E}">
        <p14:creationId xmlns:p14="http://schemas.microsoft.com/office/powerpoint/2010/main" val="1169086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256032" cy="6046927"/>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256032" y="731520"/>
            <a:ext cx="82296" cy="604692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11689049" y="1600200"/>
            <a:ext cx="182880" cy="5029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11689049" y="2331720"/>
            <a:ext cx="182880" cy="50292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11689049" y="3063240"/>
            <a:ext cx="182880" cy="502920"/>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1689049" y="3794760"/>
            <a:ext cx="182880" cy="50292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11689049" y="4526280"/>
            <a:ext cx="182880" cy="50292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51560" y="1810512"/>
            <a:ext cx="8778240" cy="365760"/>
          </a:xfrm>
          <a:prstGeom prst="rect">
            <a:avLst/>
          </a:prstGeom>
          <a:noFill/>
        </p:spPr>
        <p:txBody>
          <a:bodyPr wrap="square" lIns="0" tIns="0" rIns="0" bIns="0" anchor="t">
            <a:spAutoFit/>
          </a:bodyPr>
          <a:lstStyle/>
          <a:p>
            <a:pPr algn="l">
              <a:lnSpc>
                <a:spcPct val="115000"/>
              </a:lnSpc>
              <a:spcBef>
                <a:spcPts val="0"/>
              </a:spcBef>
              <a:spcAft>
                <a:spcPts val="0"/>
              </a:spcAft>
            </a:pPr>
            <a:r>
              <a:rPr sz="1250" b="1" i="0">
                <a:solidFill>
                  <a:srgbClr val="7EC5E2"/>
                </a:solidFill>
                <a:latin typeface="Segoe UI Semibold"/>
              </a:rPr>
              <a:t>INT396  ·  UNSUPERVISED LEARNING</a:t>
            </a:r>
          </a:p>
        </p:txBody>
      </p:sp>
      <p:sp>
        <p:nvSpPr>
          <p:cNvPr id="11" name="TextBox 10"/>
          <p:cNvSpPr txBox="1"/>
          <p:nvPr/>
        </p:nvSpPr>
        <p:spPr>
          <a:xfrm>
            <a:off x="1051560" y="2249424"/>
            <a:ext cx="9326880" cy="384048"/>
          </a:xfrm>
          <a:prstGeom prst="rect">
            <a:avLst/>
          </a:prstGeom>
          <a:noFill/>
        </p:spPr>
        <p:txBody>
          <a:bodyPr wrap="square" lIns="0" tIns="0" rIns="0" bIns="0" anchor="t">
            <a:spAutoFit/>
          </a:bodyPr>
          <a:lstStyle/>
          <a:p>
            <a:pPr algn="l">
              <a:lnSpc>
                <a:spcPct val="115000"/>
              </a:lnSpc>
              <a:spcBef>
                <a:spcPts val="0"/>
              </a:spcBef>
              <a:spcAft>
                <a:spcPts val="0"/>
              </a:spcAft>
            </a:pPr>
            <a:r>
              <a:rPr sz="1500" b="1" i="0">
                <a:solidFill>
                  <a:srgbClr val="F47D35"/>
                </a:solidFill>
                <a:latin typeface="Segoe UI Semibold"/>
              </a:rPr>
              <a:t>UNIT 1</a:t>
            </a:r>
          </a:p>
        </p:txBody>
      </p:sp>
      <p:sp>
        <p:nvSpPr>
          <p:cNvPr id="12" name="TextBox 11"/>
          <p:cNvSpPr txBox="1"/>
          <p:nvPr/>
        </p:nvSpPr>
        <p:spPr>
          <a:xfrm>
            <a:off x="1051560" y="2615184"/>
            <a:ext cx="9509760" cy="1481328"/>
          </a:xfrm>
          <a:prstGeom prst="rect">
            <a:avLst/>
          </a:prstGeom>
          <a:noFill/>
        </p:spPr>
        <p:txBody>
          <a:bodyPr wrap="square" lIns="0" tIns="0" rIns="0" bIns="0" anchor="t">
            <a:spAutoFit/>
          </a:bodyPr>
          <a:lstStyle/>
          <a:p>
            <a:pPr algn="l">
              <a:lnSpc>
                <a:spcPct val="103000"/>
              </a:lnSpc>
              <a:spcBef>
                <a:spcPts val="0"/>
              </a:spcBef>
              <a:spcAft>
                <a:spcPts val="0"/>
              </a:spcAft>
            </a:pPr>
            <a:r>
              <a:rPr sz="3500" b="1" i="0">
                <a:solidFill>
                  <a:srgbClr val="FFFFFF"/>
                </a:solidFill>
                <a:latin typeface="Segoe UI Semibold"/>
              </a:rPr>
              <a:t>Foundations of Unsupervised Learning</a:t>
            </a:r>
          </a:p>
        </p:txBody>
      </p:sp>
      <p:sp>
        <p:nvSpPr>
          <p:cNvPr id="13" name="Rectangle 12"/>
          <p:cNvSpPr/>
          <p:nvPr/>
        </p:nvSpPr>
        <p:spPr>
          <a:xfrm>
            <a:off x="1051560" y="4224528"/>
            <a:ext cx="2377440" cy="45720"/>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51560" y="4443984"/>
            <a:ext cx="9052560" cy="621792"/>
          </a:xfrm>
          <a:prstGeom prst="rect">
            <a:avLst/>
          </a:prstGeom>
          <a:noFill/>
        </p:spPr>
        <p:txBody>
          <a:bodyPr wrap="square" lIns="0" tIns="0" rIns="0" bIns="0" anchor="t">
            <a:spAutoFit/>
          </a:bodyPr>
          <a:lstStyle/>
          <a:p>
            <a:pPr algn="l">
              <a:lnSpc>
                <a:spcPct val="125000"/>
              </a:lnSpc>
              <a:spcBef>
                <a:spcPts val="0"/>
              </a:spcBef>
              <a:spcAft>
                <a:spcPts val="0"/>
              </a:spcAft>
            </a:pPr>
            <a:r>
              <a:rPr sz="1500" b="0" i="0">
                <a:solidFill>
                  <a:srgbClr val="BACADE"/>
                </a:solidFill>
                <a:latin typeface="Segoe UI"/>
              </a:rPr>
              <a:t>What you can learn from data when nobody has told you the answer - and why the whole thing rests on how you choose to measure 'similar'.</a:t>
            </a:r>
          </a:p>
        </p:txBody>
      </p:sp>
      <p:sp>
        <p:nvSpPr>
          <p:cNvPr id="15" name="TextBox 14"/>
          <p:cNvSpPr txBox="1"/>
          <p:nvPr/>
        </p:nvSpPr>
        <p:spPr>
          <a:xfrm>
            <a:off x="1051560" y="5175504"/>
            <a:ext cx="9326880" cy="457200"/>
          </a:xfrm>
          <a:prstGeom prst="rect">
            <a:avLst/>
          </a:prstGeom>
          <a:noFill/>
        </p:spPr>
        <p:txBody>
          <a:bodyPr wrap="square" lIns="0" tIns="0" rIns="0" bIns="0" anchor="t">
            <a:spAutoFit/>
          </a:bodyPr>
          <a:lstStyle/>
          <a:p>
            <a:pPr algn="l">
              <a:lnSpc>
                <a:spcPct val="115000"/>
              </a:lnSpc>
              <a:spcBef>
                <a:spcPts val="0"/>
              </a:spcBef>
              <a:spcAft>
                <a:spcPts val="0"/>
              </a:spcAft>
            </a:pPr>
            <a:r>
              <a:rPr sz="1150" b="0" i="0">
                <a:solidFill>
                  <a:srgbClr val="8CA5C4"/>
                </a:solidFill>
                <a:latin typeface="Segoe UI"/>
              </a:rPr>
              <a:t>Supervised vs Unsupervised vs Semi-Supervised  •  Problem Formulation  •  Market Segmentation  •  Anomaly &amp; Fraud Detection  •  Euclidean  •  Manhattan  •  Cosine  •  Why Metric Choice Matters</a:t>
            </a:r>
          </a:p>
        </p:txBody>
      </p:sp>
      <p:sp>
        <p:nvSpPr>
          <p:cNvPr id="16" name="Rectangle 15"/>
          <p:cNvSpPr/>
          <p:nvPr/>
        </p:nvSpPr>
        <p:spPr>
          <a:xfrm>
            <a:off x="1051560" y="6035040"/>
            <a:ext cx="10088849" cy="10972"/>
          </a:xfrm>
          <a:prstGeom prst="rect">
            <a:avLst/>
          </a:prstGeom>
          <a:solidFill>
            <a:srgbClr val="3C588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051560" y="6181344"/>
            <a:ext cx="5943600" cy="365760"/>
          </a:xfrm>
          <a:prstGeom prst="rect">
            <a:avLst/>
          </a:prstGeom>
          <a:noFill/>
        </p:spPr>
        <p:txBody>
          <a:bodyPr wrap="square" lIns="0" tIns="0" rIns="0" bIns="0" anchor="t">
            <a:spAutoFit/>
          </a:bodyPr>
          <a:lstStyle/>
          <a:p>
            <a:pPr algn="l">
              <a:lnSpc>
                <a:spcPct val="115000"/>
              </a:lnSpc>
              <a:spcBef>
                <a:spcPts val="0"/>
              </a:spcBef>
              <a:spcAft>
                <a:spcPts val="0"/>
              </a:spcAft>
            </a:pPr>
            <a:r>
              <a:rPr sz="1150" b="0" i="0">
                <a:solidFill>
                  <a:srgbClr val="96AFCD"/>
                </a:solidFill>
                <a:latin typeface="Segoe UI"/>
              </a:rPr>
              <a:t>School of Computer Science &amp; Engineering</a:t>
            </a:r>
          </a:p>
        </p:txBody>
      </p:sp>
      <p:sp>
        <p:nvSpPr>
          <p:cNvPr id="18" name="TextBox 17"/>
          <p:cNvSpPr txBox="1"/>
          <p:nvPr/>
        </p:nvSpPr>
        <p:spPr>
          <a:xfrm>
            <a:off x="6705569" y="6181344"/>
            <a:ext cx="4572000" cy="365760"/>
          </a:xfrm>
          <a:prstGeom prst="rect">
            <a:avLst/>
          </a:prstGeom>
          <a:noFill/>
        </p:spPr>
        <p:txBody>
          <a:bodyPr wrap="square" lIns="0" tIns="0" rIns="0" bIns="0" anchor="t">
            <a:spAutoFit/>
          </a:bodyPr>
          <a:lstStyle/>
          <a:p>
            <a:pPr algn="r">
              <a:lnSpc>
                <a:spcPct val="115000"/>
              </a:lnSpc>
              <a:spcBef>
                <a:spcPts val="0"/>
              </a:spcBef>
              <a:spcAft>
                <a:spcPts val="0"/>
              </a:spcAft>
            </a:pPr>
            <a:r>
              <a:rPr sz="1150" b="0" i="0">
                <a:solidFill>
                  <a:srgbClr val="96AFCD"/>
                </a:solidFill>
                <a:latin typeface="Segoe UI"/>
              </a:rPr>
              <a:t>Session 2026-27  ·  L:2  T:0  P:2  ·  Credits: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UNIT I ROADMAP</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What This Unit Covers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a:t>
            </a:r>
          </a:p>
        </p:txBody>
      </p:sp>
      <p:sp>
        <p:nvSpPr>
          <p:cNvPr id="11" name="TextBox 10"/>
          <p:cNvSpPr txBox="1"/>
          <p:nvPr/>
        </p:nvSpPr>
        <p:spPr>
          <a:xfrm>
            <a:off x="502920" y="1792224"/>
            <a:ext cx="11186129" cy="457200"/>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Four topics. The last one is the foundation the rest of the course stands on.</a:t>
            </a:r>
          </a:p>
        </p:txBody>
      </p:sp>
      <p:sp>
        <p:nvSpPr>
          <p:cNvPr id="12" name="TextBox 11"/>
          <p:cNvSpPr txBox="1"/>
          <p:nvPr/>
        </p:nvSpPr>
        <p:spPr>
          <a:xfrm>
            <a:off x="502920" y="2304288"/>
            <a:ext cx="6998177" cy="3182112"/>
          </a:xfrm>
          <a:prstGeom prst="rect">
            <a:avLst/>
          </a:prstGeom>
          <a:noFill/>
        </p:spPr>
        <p:txBody>
          <a:bodyPr wrap="square" lIns="0" tIns="0" rIns="0" bIns="0" anchor="t">
            <a:spAutoFit/>
          </a:bodyPr>
          <a:lstStyle/>
          <a:p>
            <a:pPr marL="237744" indent="-237744" algn="l">
              <a:lnSpc>
                <a:spcPct val="116000"/>
              </a:lnSpc>
              <a:spcBef>
                <a:spcPts val="0"/>
              </a:spcBef>
              <a:spcAft>
                <a:spcPts val="0"/>
              </a:spcAft>
              <a:buClr>
                <a:srgbClr val="0096C7"/>
              </a:buClr>
              <a:buSzPct val="86000"/>
              <a:buFont typeface="Arial"/>
              <a:buChar char="▪"/>
            </a:pPr>
            <a:r>
              <a:rPr sz="1230" b="0" i="0">
                <a:solidFill>
                  <a:srgbClr val="1C2330"/>
                </a:solidFill>
                <a:latin typeface="Segoe UI"/>
              </a:rPr>
              <a:t>Learning paradigms</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Supervised vs. Unsupervised vs. Semi-Supervised learning</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What each needs, what each produces, and when each applies</a:t>
            </a:r>
          </a:p>
          <a:p>
            <a:pPr marL="237744" indent="-237744" algn="l">
              <a:lnSpc>
                <a:spcPct val="116000"/>
              </a:lnSpc>
              <a:spcBef>
                <a:spcPts val="800"/>
              </a:spcBef>
              <a:spcAft>
                <a:spcPts val="0"/>
              </a:spcAft>
              <a:buClr>
                <a:srgbClr val="0096C7"/>
              </a:buClr>
              <a:buSzPct val="86000"/>
              <a:buFont typeface="Arial"/>
              <a:buChar char="▪"/>
            </a:pPr>
            <a:r>
              <a:rPr sz="1230" b="0" i="0">
                <a:solidFill>
                  <a:srgbClr val="1C2330"/>
                </a:solidFill>
                <a:latin typeface="Segoe UI"/>
              </a:rPr>
              <a:t>Problem formulation</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How to state an unsupervised problem precisely</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Why there is no ground truth - and what you do about it</a:t>
            </a:r>
          </a:p>
          <a:p>
            <a:pPr marL="237744" indent="-237744" algn="l">
              <a:lnSpc>
                <a:spcPct val="116000"/>
              </a:lnSpc>
              <a:spcBef>
                <a:spcPts val="800"/>
              </a:spcBef>
              <a:spcAft>
                <a:spcPts val="0"/>
              </a:spcAft>
              <a:buClr>
                <a:srgbClr val="0096C7"/>
              </a:buClr>
              <a:buSzPct val="86000"/>
              <a:buFont typeface="Arial"/>
              <a:buChar char="▪"/>
            </a:pPr>
            <a:r>
              <a:rPr sz="1230" b="0" i="0">
                <a:solidFill>
                  <a:srgbClr val="1C2330"/>
                </a:solidFill>
                <a:latin typeface="Segoe UI"/>
              </a:rPr>
              <a:t>Real-life use cases</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Market segmentation and customer behaviour analysis</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Anomaly and fraud detection</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Pattern discovery in biological and social data</a:t>
            </a:r>
          </a:p>
          <a:p>
            <a:pPr marL="237744" indent="-237744" algn="l">
              <a:lnSpc>
                <a:spcPct val="116000"/>
              </a:lnSpc>
              <a:spcBef>
                <a:spcPts val="800"/>
              </a:spcBef>
              <a:spcAft>
                <a:spcPts val="0"/>
              </a:spcAft>
              <a:buClr>
                <a:srgbClr val="0096C7"/>
              </a:buClr>
              <a:buSzPct val="86000"/>
              <a:buFont typeface="Arial"/>
              <a:buChar char="▪"/>
            </a:pPr>
            <a:r>
              <a:rPr sz="1230" b="0" i="0">
                <a:solidFill>
                  <a:srgbClr val="1C2330"/>
                </a:solidFill>
                <a:latin typeface="Segoe UI"/>
              </a:rPr>
              <a:t>Distance and similarity metrics</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Euclidean, Manhattan and Cosine similarity</a:t>
            </a:r>
          </a:p>
          <a:p>
            <a:pPr marL="475488" indent="-237744" algn="l">
              <a:lnSpc>
                <a:spcPct val="114000"/>
              </a:lnSpc>
              <a:spcBef>
                <a:spcPts val="360"/>
              </a:spcBef>
              <a:spcAft>
                <a:spcPts val="0"/>
              </a:spcAft>
              <a:buClr>
                <a:srgbClr val="586476"/>
              </a:buClr>
              <a:buSzPct val="86000"/>
              <a:buFont typeface="Arial"/>
              <a:buChar char="–"/>
            </a:pPr>
            <a:r>
              <a:rPr sz="1019" b="0" i="0">
                <a:solidFill>
                  <a:srgbClr val="586476"/>
                </a:solidFill>
                <a:latin typeface="Segoe UI"/>
              </a:rPr>
              <a:t>When and WHY the choice of distance changes your answer</a:t>
            </a:r>
          </a:p>
        </p:txBody>
      </p:sp>
      <p:sp>
        <p:nvSpPr>
          <p:cNvPr id="13" name="Rounded Rectangle 12"/>
          <p:cNvSpPr/>
          <p:nvPr/>
        </p:nvSpPr>
        <p:spPr>
          <a:xfrm>
            <a:off x="7757129" y="2304288"/>
            <a:ext cx="3931920" cy="658368"/>
          </a:xfrm>
          <a:prstGeom prst="roundRect">
            <a:avLst>
              <a:gd name="adj" fmla="val 8000"/>
            </a:avLst>
          </a:prstGeom>
          <a:solidFill>
            <a:srgbClr val="DBF0F7"/>
          </a:solidFill>
          <a:ln w="2286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0096C7"/>
                </a:solidFill>
                <a:latin typeface="Segoe UI Semibold"/>
              </a:rPr>
              <a:t>1 · Three paradigms</a:t>
            </a:r>
          </a:p>
          <a:p>
            <a:pPr algn="l">
              <a:lnSpc>
                <a:spcPct val="110000"/>
              </a:lnSpc>
              <a:spcBef>
                <a:spcPts val="200"/>
              </a:spcBef>
              <a:spcAft>
                <a:spcPts val="0"/>
              </a:spcAft>
            </a:pPr>
            <a:r>
              <a:rPr sz="950" b="0" i="0">
                <a:solidFill>
                  <a:srgbClr val="586476"/>
                </a:solidFill>
                <a:latin typeface="Segoe UI"/>
              </a:rPr>
              <a:t>what labels do you have?</a:t>
            </a:r>
          </a:p>
        </p:txBody>
      </p:sp>
      <p:sp>
        <p:nvSpPr>
          <p:cNvPr id="14" name="Rounded Rectangle 13"/>
          <p:cNvSpPr/>
          <p:nvPr/>
        </p:nvSpPr>
        <p:spPr>
          <a:xfrm>
            <a:off x="7757129" y="3054096"/>
            <a:ext cx="3931920" cy="658368"/>
          </a:xfrm>
          <a:prstGeom prst="roundRect">
            <a:avLst>
              <a:gd name="adj" fmla="val 8000"/>
            </a:avLst>
          </a:prstGeom>
          <a:solidFill>
            <a:srgbClr val="F9EBDC"/>
          </a:solidFill>
          <a:ln w="2286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D97706"/>
                </a:solidFill>
                <a:latin typeface="Segoe UI Semibold"/>
              </a:rPr>
              <a:t>2 · Problem formulation</a:t>
            </a:r>
          </a:p>
          <a:p>
            <a:pPr algn="l">
              <a:lnSpc>
                <a:spcPct val="110000"/>
              </a:lnSpc>
              <a:spcBef>
                <a:spcPts val="200"/>
              </a:spcBef>
              <a:spcAft>
                <a:spcPts val="0"/>
              </a:spcAft>
            </a:pPr>
            <a:r>
              <a:rPr sz="950" b="0" i="0">
                <a:solidFill>
                  <a:srgbClr val="586476"/>
                </a:solidFill>
                <a:latin typeface="Segoe UI"/>
              </a:rPr>
              <a:t>five things you must state</a:t>
            </a:r>
          </a:p>
        </p:txBody>
      </p:sp>
      <p:sp>
        <p:nvSpPr>
          <p:cNvPr id="15" name="Rounded Rectangle 14"/>
          <p:cNvSpPr/>
          <p:nvPr/>
        </p:nvSpPr>
        <p:spPr>
          <a:xfrm>
            <a:off x="7757129" y="3803904"/>
            <a:ext cx="3931920" cy="658368"/>
          </a:xfrm>
          <a:prstGeom prst="roundRect">
            <a:avLst>
              <a:gd name="adj" fmla="val 8000"/>
            </a:avLst>
          </a:prstGeom>
          <a:solidFill>
            <a:srgbClr val="DDECE4"/>
          </a:solidFill>
          <a:ln w="2286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107C41"/>
                </a:solidFill>
                <a:latin typeface="Segoe UI Semibold"/>
              </a:rPr>
              <a:t>3 · Real use cases</a:t>
            </a:r>
          </a:p>
          <a:p>
            <a:pPr algn="l">
              <a:lnSpc>
                <a:spcPct val="110000"/>
              </a:lnSpc>
              <a:spcBef>
                <a:spcPts val="200"/>
              </a:spcBef>
              <a:spcAft>
                <a:spcPts val="0"/>
              </a:spcAft>
            </a:pPr>
            <a:r>
              <a:rPr sz="950" b="0" i="0">
                <a:solidFill>
                  <a:srgbClr val="586476"/>
                </a:solidFill>
                <a:latin typeface="Segoe UI"/>
              </a:rPr>
              <a:t>segmentation, fraud, biology</a:t>
            </a:r>
          </a:p>
        </p:txBody>
      </p:sp>
      <p:sp>
        <p:nvSpPr>
          <p:cNvPr id="16" name="Rounded Rectangle 15"/>
          <p:cNvSpPr/>
          <p:nvPr/>
        </p:nvSpPr>
        <p:spPr>
          <a:xfrm>
            <a:off x="7757129" y="4553712"/>
            <a:ext cx="3931920" cy="658368"/>
          </a:xfrm>
          <a:prstGeom prst="roundRect">
            <a:avLst>
              <a:gd name="adj" fmla="val 8000"/>
            </a:avLst>
          </a:prstGeom>
          <a:solidFill>
            <a:srgbClr val="E8E1EF"/>
          </a:solidFill>
          <a:ln w="2286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5C2D91"/>
                </a:solidFill>
                <a:latin typeface="Segoe UI Semibold"/>
              </a:rPr>
              <a:t>4 · Distance metrics</a:t>
            </a:r>
          </a:p>
          <a:p>
            <a:pPr algn="l">
              <a:lnSpc>
                <a:spcPct val="110000"/>
              </a:lnSpc>
              <a:spcBef>
                <a:spcPts val="200"/>
              </a:spcBef>
              <a:spcAft>
                <a:spcPts val="0"/>
              </a:spcAft>
            </a:pPr>
            <a:r>
              <a:rPr sz="950" b="0" i="0">
                <a:solidFill>
                  <a:srgbClr val="586476"/>
                </a:solidFill>
                <a:latin typeface="Segoe UI"/>
              </a:rPr>
              <a:t>the foundation under all of it</a:t>
            </a:r>
          </a:p>
        </p:txBody>
      </p:sp>
      <p:sp>
        <p:nvSpPr>
          <p:cNvPr id="17" name="TextBox 16"/>
          <p:cNvSpPr txBox="1"/>
          <p:nvPr/>
        </p:nvSpPr>
        <p:spPr>
          <a:xfrm>
            <a:off x="7757129" y="5248656"/>
            <a:ext cx="3931920" cy="274320"/>
          </a:xfrm>
          <a:prstGeom prst="rect">
            <a:avLst/>
          </a:prstGeom>
          <a:noFill/>
        </p:spPr>
        <p:txBody>
          <a:bodyPr wrap="square" lIns="0" tIns="0" rIns="0" bIns="0" anchor="t">
            <a:spAutoFit/>
          </a:bodyPr>
          <a:lstStyle/>
          <a:p>
            <a:pPr algn="ctr">
              <a:lnSpc>
                <a:spcPct val="115000"/>
              </a:lnSpc>
              <a:spcBef>
                <a:spcPts val="0"/>
              </a:spcBef>
              <a:spcAft>
                <a:spcPts val="0"/>
              </a:spcAft>
            </a:pPr>
            <a:r>
              <a:rPr sz="1050" b="0" i="1">
                <a:solidFill>
                  <a:srgbClr val="586476"/>
                </a:solidFill>
                <a:latin typeface="Segoe UI"/>
              </a:rPr>
              <a:t>each one depends on the one below it</a:t>
            </a:r>
          </a:p>
        </p:txBody>
      </p:sp>
      <p:sp>
        <p:nvSpPr>
          <p:cNvPr id="18" name="Rounded Rectangle 17"/>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SHOW OF HANDS   </a:t>
            </a:r>
            <a:r>
              <a:rPr sz="1350" b="0" i="0">
                <a:solidFill>
                  <a:srgbClr val="1C2330"/>
                </a:solidFill>
                <a:latin typeface="Segoe UI"/>
              </a:rPr>
              <a:t>Which of these four have you met before today?</a:t>
            </a:r>
          </a:p>
        </p:txBody>
      </p:sp>
      <p:sp>
        <p:nvSpPr>
          <p:cNvPr id="19" name="Rectangle 18"/>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LEARNING OUTCOMES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Learning Outcomes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a:t>
            </a:r>
          </a:p>
        </p:txBody>
      </p:sp>
      <p:sp>
        <p:nvSpPr>
          <p:cNvPr id="11" name="TextBox 10"/>
          <p:cNvSpPr txBox="1"/>
          <p:nvPr/>
        </p:nvSpPr>
        <p:spPr>
          <a:xfrm>
            <a:off x="502920" y="1792224"/>
            <a:ext cx="11186129" cy="384048"/>
          </a:xfrm>
          <a:prstGeom prst="rect">
            <a:avLst/>
          </a:prstGeom>
          <a:noFill/>
        </p:spPr>
        <p:txBody>
          <a:bodyPr wrap="square" lIns="0" tIns="0" rIns="0" bIns="0" anchor="t">
            <a:spAutoFit/>
          </a:bodyPr>
          <a:lstStyle/>
          <a:p>
            <a:pPr algn="l">
              <a:lnSpc>
                <a:spcPct val="115000"/>
              </a:lnSpc>
              <a:spcBef>
                <a:spcPts val="0"/>
              </a:spcBef>
              <a:spcAft>
                <a:spcPts val="0"/>
              </a:spcAft>
            </a:pPr>
            <a:r>
              <a:rPr sz="1450" b="0" i="1">
                <a:solidFill>
                  <a:srgbClr val="586476"/>
                </a:solidFill>
                <a:latin typeface="Segoe UI"/>
              </a:rPr>
              <a:t>By the end of this unit you should be able to:</a:t>
            </a:r>
          </a:p>
        </p:txBody>
      </p:sp>
      <p:sp>
        <p:nvSpPr>
          <p:cNvPr id="12" name="Rounded Rectangle 11"/>
          <p:cNvSpPr/>
          <p:nvPr/>
        </p:nvSpPr>
        <p:spPr>
          <a:xfrm>
            <a:off x="502920" y="2231136"/>
            <a:ext cx="6264232" cy="746150"/>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713232" tIns="0" rIns="201168" bIns="0" rtlCol="0" anchor="ctr"/>
          <a:lstStyle/>
          <a:p>
            <a:pPr algn="l">
              <a:lnSpc>
                <a:spcPct val="116000"/>
              </a:lnSpc>
              <a:spcBef>
                <a:spcPts val="0"/>
              </a:spcBef>
              <a:spcAft>
                <a:spcPts val="0"/>
              </a:spcAft>
            </a:pPr>
            <a:r>
              <a:rPr sz="1350" b="1" i="0">
                <a:solidFill>
                  <a:srgbClr val="182B49"/>
                </a:solidFill>
                <a:latin typeface="Segoe UI Semibold"/>
              </a:rPr>
              <a:t>Distinguish</a:t>
            </a:r>
            <a:r>
              <a:rPr sz="1300" b="0" i="0">
                <a:solidFill>
                  <a:srgbClr val="1C2330"/>
                </a:solidFill>
                <a:latin typeface="Segoe UI"/>
              </a:rPr>
              <a:t>  supervised, unsupervised and semi-supervised learning, with an example of each.</a:t>
            </a:r>
          </a:p>
        </p:txBody>
      </p:sp>
      <p:sp>
        <p:nvSpPr>
          <p:cNvPr id="13" name="Rectangle 12"/>
          <p:cNvSpPr/>
          <p:nvPr/>
        </p:nvSpPr>
        <p:spPr>
          <a:xfrm>
            <a:off x="502920" y="2231136"/>
            <a:ext cx="68580" cy="74615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Oval 13"/>
          <p:cNvSpPr/>
          <p:nvPr/>
        </p:nvSpPr>
        <p:spPr>
          <a:xfrm>
            <a:off x="704088" y="2457907"/>
            <a:ext cx="310896" cy="292608"/>
          </a:xfrm>
          <a:prstGeom prst="ellipse">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100" b="1" i="0">
                <a:solidFill>
                  <a:srgbClr val="FFFFFF"/>
                </a:solidFill>
                <a:latin typeface="Segoe UI Semibold"/>
              </a:rPr>
              <a:t>1</a:t>
            </a:r>
          </a:p>
        </p:txBody>
      </p:sp>
      <p:sp>
        <p:nvSpPr>
          <p:cNvPr id="15" name="Rounded Rectangle 14"/>
          <p:cNvSpPr/>
          <p:nvPr/>
        </p:nvSpPr>
        <p:spPr>
          <a:xfrm>
            <a:off x="502920" y="3068726"/>
            <a:ext cx="6264232" cy="746150"/>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713232" tIns="0" rIns="201168" bIns="0" rtlCol="0" anchor="ctr"/>
          <a:lstStyle/>
          <a:p>
            <a:pPr algn="l">
              <a:lnSpc>
                <a:spcPct val="116000"/>
              </a:lnSpc>
              <a:spcBef>
                <a:spcPts val="0"/>
              </a:spcBef>
              <a:spcAft>
                <a:spcPts val="0"/>
              </a:spcAft>
            </a:pPr>
            <a:r>
              <a:rPr sz="1350" b="1" i="0">
                <a:solidFill>
                  <a:srgbClr val="182B49"/>
                </a:solidFill>
                <a:latin typeface="Segoe UI Semibold"/>
              </a:rPr>
              <a:t>Formulate</a:t>
            </a:r>
            <a:r>
              <a:rPr sz="1300" b="0" i="0">
                <a:solidFill>
                  <a:srgbClr val="1C2330"/>
                </a:solidFill>
                <a:latin typeface="Segoe UI"/>
              </a:rPr>
              <a:t>  an unsupervised problem using all five specifications.</a:t>
            </a:r>
          </a:p>
        </p:txBody>
      </p:sp>
      <p:sp>
        <p:nvSpPr>
          <p:cNvPr id="16" name="Rectangle 15"/>
          <p:cNvSpPr/>
          <p:nvPr/>
        </p:nvSpPr>
        <p:spPr>
          <a:xfrm>
            <a:off x="502920" y="3068726"/>
            <a:ext cx="68580" cy="74615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704088" y="3295497"/>
            <a:ext cx="310896" cy="292608"/>
          </a:xfrm>
          <a:prstGeom prst="ellipse">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100" b="1" i="0">
                <a:solidFill>
                  <a:srgbClr val="FFFFFF"/>
                </a:solidFill>
                <a:latin typeface="Segoe UI Semibold"/>
              </a:rPr>
              <a:t>2</a:t>
            </a:r>
          </a:p>
        </p:txBody>
      </p:sp>
      <p:sp>
        <p:nvSpPr>
          <p:cNvPr id="18" name="Rounded Rectangle 17"/>
          <p:cNvSpPr/>
          <p:nvPr/>
        </p:nvSpPr>
        <p:spPr>
          <a:xfrm>
            <a:off x="502920" y="3906316"/>
            <a:ext cx="6264232" cy="746150"/>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713232" tIns="0" rIns="201168" bIns="0" rtlCol="0" anchor="ctr"/>
          <a:lstStyle/>
          <a:p>
            <a:pPr algn="l">
              <a:lnSpc>
                <a:spcPct val="116000"/>
              </a:lnSpc>
              <a:spcBef>
                <a:spcPts val="0"/>
              </a:spcBef>
              <a:spcAft>
                <a:spcPts val="0"/>
              </a:spcAft>
            </a:pPr>
            <a:r>
              <a:rPr sz="1350" b="1" i="0">
                <a:solidFill>
                  <a:srgbClr val="182B49"/>
                </a:solidFill>
                <a:latin typeface="Segoe UI Semibold"/>
              </a:rPr>
              <a:t>Justify</a:t>
            </a:r>
            <a:r>
              <a:rPr sz="1300" b="0" i="0">
                <a:solidFill>
                  <a:srgbClr val="1C2330"/>
                </a:solidFill>
                <a:latin typeface="Segoe UI"/>
              </a:rPr>
              <a:t>  an evaluation strategy given that no ground truth exists.</a:t>
            </a:r>
          </a:p>
        </p:txBody>
      </p:sp>
      <p:sp>
        <p:nvSpPr>
          <p:cNvPr id="19" name="Rectangle 18"/>
          <p:cNvSpPr/>
          <p:nvPr/>
        </p:nvSpPr>
        <p:spPr>
          <a:xfrm>
            <a:off x="502920" y="3906316"/>
            <a:ext cx="68580" cy="74615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704088" y="4133088"/>
            <a:ext cx="310896" cy="292608"/>
          </a:xfrm>
          <a:prstGeom prst="ellipse">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100" b="1" i="0">
                <a:solidFill>
                  <a:srgbClr val="FFFFFF"/>
                </a:solidFill>
                <a:latin typeface="Segoe UI Semibold"/>
              </a:rPr>
              <a:t>3</a:t>
            </a:r>
          </a:p>
        </p:txBody>
      </p:sp>
      <p:sp>
        <p:nvSpPr>
          <p:cNvPr id="21" name="Rounded Rectangle 20"/>
          <p:cNvSpPr/>
          <p:nvPr/>
        </p:nvSpPr>
        <p:spPr>
          <a:xfrm>
            <a:off x="502920" y="4743907"/>
            <a:ext cx="6264232" cy="746150"/>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713232" tIns="0" rIns="201168" bIns="0" rtlCol="0" anchor="ctr"/>
          <a:lstStyle/>
          <a:p>
            <a:pPr algn="l">
              <a:lnSpc>
                <a:spcPct val="116000"/>
              </a:lnSpc>
              <a:spcBef>
                <a:spcPts val="0"/>
              </a:spcBef>
              <a:spcAft>
                <a:spcPts val="0"/>
              </a:spcAft>
            </a:pPr>
            <a:r>
              <a:rPr sz="1350" b="1" i="0">
                <a:solidFill>
                  <a:srgbClr val="182B49"/>
                </a:solidFill>
                <a:latin typeface="Segoe UI Semibold"/>
              </a:rPr>
              <a:t>Compute</a:t>
            </a:r>
            <a:r>
              <a:rPr sz="1300" b="0" i="0">
                <a:solidFill>
                  <a:srgbClr val="1C2330"/>
                </a:solidFill>
                <a:latin typeface="Segoe UI"/>
              </a:rPr>
              <a:t>  Euclidean, Manhattan and cosine distance by hand for a given pair.</a:t>
            </a:r>
          </a:p>
        </p:txBody>
      </p:sp>
      <p:sp>
        <p:nvSpPr>
          <p:cNvPr id="22" name="Rectangle 21"/>
          <p:cNvSpPr/>
          <p:nvPr/>
        </p:nvSpPr>
        <p:spPr>
          <a:xfrm>
            <a:off x="502920" y="4743907"/>
            <a:ext cx="68580" cy="74615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Oval 22"/>
          <p:cNvSpPr/>
          <p:nvPr/>
        </p:nvSpPr>
        <p:spPr>
          <a:xfrm>
            <a:off x="704088" y="4970678"/>
            <a:ext cx="310896" cy="292608"/>
          </a:xfrm>
          <a:prstGeom prst="ellipse">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100" b="1" i="0">
                <a:solidFill>
                  <a:srgbClr val="FFFFFF"/>
                </a:solidFill>
                <a:latin typeface="Segoe UI Semibold"/>
              </a:rPr>
              <a:t>4</a:t>
            </a:r>
          </a:p>
        </p:txBody>
      </p:sp>
      <p:sp>
        <p:nvSpPr>
          <p:cNvPr id="24" name="Rounded Rectangle 23"/>
          <p:cNvSpPr/>
          <p:nvPr/>
        </p:nvSpPr>
        <p:spPr>
          <a:xfrm>
            <a:off x="502920" y="5581497"/>
            <a:ext cx="6264232" cy="746150"/>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713232" tIns="0" rIns="201168" bIns="0" rtlCol="0" anchor="ctr"/>
          <a:lstStyle/>
          <a:p>
            <a:pPr algn="l">
              <a:lnSpc>
                <a:spcPct val="116000"/>
              </a:lnSpc>
              <a:spcBef>
                <a:spcPts val="0"/>
              </a:spcBef>
              <a:spcAft>
                <a:spcPts val="0"/>
              </a:spcAft>
            </a:pPr>
            <a:r>
              <a:rPr sz="1350" b="1" i="0">
                <a:solidFill>
                  <a:srgbClr val="182B49"/>
                </a:solidFill>
                <a:latin typeface="Segoe UI Semibold"/>
              </a:rPr>
              <a:t>Select</a:t>
            </a:r>
            <a:r>
              <a:rPr sz="1300" b="0" i="0">
                <a:solidFill>
                  <a:srgbClr val="1C2330"/>
                </a:solidFill>
                <a:latin typeface="Segoe UI"/>
              </a:rPr>
              <a:t>  and defend a distance metric and a scaling decision for a new dataset.</a:t>
            </a:r>
          </a:p>
        </p:txBody>
      </p:sp>
      <p:sp>
        <p:nvSpPr>
          <p:cNvPr id="25" name="Rectangle 24"/>
          <p:cNvSpPr/>
          <p:nvPr/>
        </p:nvSpPr>
        <p:spPr>
          <a:xfrm>
            <a:off x="502920" y="5581497"/>
            <a:ext cx="68580" cy="74615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704088" y="5808268"/>
            <a:ext cx="310896" cy="292608"/>
          </a:xfrm>
          <a:prstGeom prst="ellipse">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100" b="1" i="0">
                <a:solidFill>
                  <a:srgbClr val="FFFFFF"/>
                </a:solidFill>
                <a:latin typeface="Segoe UI Semibold"/>
              </a:rPr>
              <a:t>5</a:t>
            </a:r>
          </a:p>
        </p:txBody>
      </p:sp>
      <p:sp>
        <p:nvSpPr>
          <p:cNvPr id="27" name="Rounded Rectangle 26"/>
          <p:cNvSpPr/>
          <p:nvPr/>
        </p:nvSpPr>
        <p:spPr>
          <a:xfrm>
            <a:off x="7004896" y="2231136"/>
            <a:ext cx="4684152" cy="886968"/>
          </a:xfrm>
          <a:prstGeom prst="roundRect">
            <a:avLst>
              <a:gd name="adj" fmla="val 8000"/>
            </a:avLst>
          </a:prstGeom>
          <a:solidFill>
            <a:srgbClr val="DBF0F7"/>
          </a:solidFill>
          <a:ln w="2286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0096C7"/>
                </a:solidFill>
                <a:latin typeface="Segoe UI Semibold"/>
              </a:rPr>
              <a:t>Remember</a:t>
            </a:r>
          </a:p>
          <a:p>
            <a:pPr algn="l">
              <a:lnSpc>
                <a:spcPct val="110000"/>
              </a:lnSpc>
              <a:spcBef>
                <a:spcPts val="200"/>
              </a:spcBef>
              <a:spcAft>
                <a:spcPts val="0"/>
              </a:spcAft>
            </a:pPr>
            <a:r>
              <a:rPr sz="950" b="0" i="0">
                <a:solidFill>
                  <a:srgbClr val="586476"/>
                </a:solidFill>
                <a:latin typeface="Segoe UI"/>
              </a:rPr>
              <a:t>recall the terms</a:t>
            </a:r>
          </a:p>
        </p:txBody>
      </p:sp>
      <p:sp>
        <p:nvSpPr>
          <p:cNvPr id="28" name="Rounded Rectangle 27"/>
          <p:cNvSpPr/>
          <p:nvPr/>
        </p:nvSpPr>
        <p:spPr>
          <a:xfrm>
            <a:off x="7004896" y="3209544"/>
            <a:ext cx="4684152" cy="886968"/>
          </a:xfrm>
          <a:prstGeom prst="roundRect">
            <a:avLst>
              <a:gd name="adj" fmla="val 8000"/>
            </a:avLst>
          </a:prstGeom>
          <a:solidFill>
            <a:srgbClr val="DDECE4"/>
          </a:solidFill>
          <a:ln w="2286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107C41"/>
                </a:solidFill>
                <a:latin typeface="Segoe UI Semibold"/>
              </a:rPr>
              <a:t>Understand</a:t>
            </a:r>
          </a:p>
          <a:p>
            <a:pPr algn="l">
              <a:lnSpc>
                <a:spcPct val="110000"/>
              </a:lnSpc>
              <a:spcBef>
                <a:spcPts val="200"/>
              </a:spcBef>
              <a:spcAft>
                <a:spcPts val="0"/>
              </a:spcAft>
            </a:pPr>
            <a:r>
              <a:rPr sz="950" b="0" i="0">
                <a:solidFill>
                  <a:srgbClr val="586476"/>
                </a:solidFill>
                <a:latin typeface="Segoe UI"/>
              </a:rPr>
              <a:t>explain them in your own words</a:t>
            </a:r>
          </a:p>
        </p:txBody>
      </p:sp>
      <p:sp>
        <p:nvSpPr>
          <p:cNvPr id="29" name="Rounded Rectangle 28"/>
          <p:cNvSpPr/>
          <p:nvPr/>
        </p:nvSpPr>
        <p:spPr>
          <a:xfrm>
            <a:off x="7004896" y="4187952"/>
            <a:ext cx="4684152" cy="886968"/>
          </a:xfrm>
          <a:prstGeom prst="roundRect">
            <a:avLst>
              <a:gd name="adj" fmla="val 8000"/>
            </a:avLst>
          </a:prstGeom>
          <a:solidFill>
            <a:srgbClr val="F9EBDC"/>
          </a:solidFill>
          <a:ln w="2286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D97706"/>
                </a:solidFill>
                <a:latin typeface="Segoe UI Semibold"/>
              </a:rPr>
              <a:t>Apply</a:t>
            </a:r>
          </a:p>
          <a:p>
            <a:pPr algn="l">
              <a:lnSpc>
                <a:spcPct val="110000"/>
              </a:lnSpc>
              <a:spcBef>
                <a:spcPts val="200"/>
              </a:spcBef>
              <a:spcAft>
                <a:spcPts val="0"/>
              </a:spcAft>
            </a:pPr>
            <a:r>
              <a:rPr sz="950" b="0" i="0">
                <a:solidFill>
                  <a:srgbClr val="586476"/>
                </a:solidFill>
                <a:latin typeface="Segoe UI"/>
              </a:rPr>
              <a:t>use them on a problem you have not seen</a:t>
            </a:r>
          </a:p>
        </p:txBody>
      </p:sp>
      <p:sp>
        <p:nvSpPr>
          <p:cNvPr id="30" name="Rounded Rectangle 29"/>
          <p:cNvSpPr/>
          <p:nvPr/>
        </p:nvSpPr>
        <p:spPr>
          <a:xfrm>
            <a:off x="7004896" y="5166360"/>
            <a:ext cx="4684152" cy="886968"/>
          </a:xfrm>
          <a:prstGeom prst="roundRect">
            <a:avLst>
              <a:gd name="adj" fmla="val 8000"/>
            </a:avLst>
          </a:prstGeom>
          <a:solidFill>
            <a:srgbClr val="E8E1EF"/>
          </a:solidFill>
          <a:ln w="2286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5C2D91"/>
                </a:solidFill>
                <a:latin typeface="Segoe UI Semibold"/>
              </a:rPr>
              <a:t>Analyse</a:t>
            </a:r>
          </a:p>
          <a:p>
            <a:pPr algn="l">
              <a:lnSpc>
                <a:spcPct val="110000"/>
              </a:lnSpc>
              <a:spcBef>
                <a:spcPts val="200"/>
              </a:spcBef>
              <a:spcAft>
                <a:spcPts val="0"/>
              </a:spcAft>
            </a:pPr>
            <a:r>
              <a:rPr sz="950" b="0" i="0">
                <a:solidFill>
                  <a:srgbClr val="586476"/>
                </a:solidFill>
                <a:latin typeface="Segoe UI"/>
              </a:rPr>
              <a:t>choose between them and justify it</a:t>
            </a:r>
          </a:p>
        </p:txBody>
      </p:sp>
      <p:sp>
        <p:nvSpPr>
          <p:cNvPr id="31" name="TextBox 30"/>
          <p:cNvSpPr txBox="1"/>
          <p:nvPr/>
        </p:nvSpPr>
        <p:spPr>
          <a:xfrm>
            <a:off x="7004896" y="6089904"/>
            <a:ext cx="4684152" cy="274320"/>
          </a:xfrm>
          <a:prstGeom prst="rect">
            <a:avLst/>
          </a:prstGeom>
          <a:noFill/>
        </p:spPr>
        <p:txBody>
          <a:bodyPr wrap="square" lIns="0" tIns="0" rIns="0" bIns="0" anchor="t">
            <a:spAutoFit/>
          </a:bodyPr>
          <a:lstStyle/>
          <a:p>
            <a:pPr algn="ctr">
              <a:lnSpc>
                <a:spcPct val="115000"/>
              </a:lnSpc>
              <a:spcBef>
                <a:spcPts val="0"/>
              </a:spcBef>
              <a:spcAft>
                <a:spcPts val="0"/>
              </a:spcAft>
            </a:pPr>
            <a:r>
              <a:rPr sz="1050" b="0" i="1">
                <a:solidFill>
                  <a:srgbClr val="586476"/>
                </a:solidFill>
                <a:latin typeface="Segoe UI"/>
              </a:rPr>
              <a:t>the levels this unit is assessed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01</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Supervised vs
Unsupervised vs
Semi-Supervised</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0096C7"/>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Learning with a teacher, and learning by self-exploration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What a 'label' actually is, and why labels are expensive</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The three paradigms side by side</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Where reinforcement learning fits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Classifying unfamiliar problems</a:t>
            </a:r>
          </a:p>
        </p:txBody>
      </p:sp>
      <p:sp>
        <p:nvSpPr>
          <p:cNvPr id="9" name="Rounded Rectangle 8"/>
          <p:cNvSpPr/>
          <p:nvPr/>
        </p:nvSpPr>
        <p:spPr>
          <a:xfrm>
            <a:off x="914400" y="5998464"/>
            <a:ext cx="1993392" cy="408188"/>
          </a:xfrm>
          <a:prstGeom prst="roundRect">
            <a:avLst>
              <a:gd name="adj" fmla="val 14000"/>
            </a:avLst>
          </a:prstGeom>
          <a:solidFill>
            <a:srgbClr val="ED771F"/>
          </a:solidFill>
          <a:ln w="20320">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1" i="0">
                <a:solidFill>
                  <a:srgbClr val="FFFFFF"/>
                </a:solidFill>
                <a:latin typeface="Segoe UI Semibold"/>
              </a:rPr>
              <a:t>1 · Paradigms</a:t>
            </a:r>
          </a:p>
        </p:txBody>
      </p:sp>
      <p:sp>
        <p:nvSpPr>
          <p:cNvPr id="10" name="Rounded Rectangle 9"/>
          <p:cNvSpPr/>
          <p:nvPr/>
        </p:nvSpPr>
        <p:spPr>
          <a:xfrm>
            <a:off x="2999232"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2 · Formulation</a:t>
            </a:r>
          </a:p>
        </p:txBody>
      </p:sp>
      <p:sp>
        <p:nvSpPr>
          <p:cNvPr id="11" name="Rounded Rectangle 10"/>
          <p:cNvSpPr/>
          <p:nvPr/>
        </p:nvSpPr>
        <p:spPr>
          <a:xfrm>
            <a:off x="5084064"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3 · Use cases</a:t>
            </a:r>
          </a:p>
        </p:txBody>
      </p:sp>
      <p:sp>
        <p:nvSpPr>
          <p:cNvPr id="12" name="Rounded Rectangle 11"/>
          <p:cNvSpPr/>
          <p:nvPr/>
        </p:nvSpPr>
        <p:spPr>
          <a:xfrm>
            <a:off x="7168896"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4 · Metrics</a:t>
            </a:r>
          </a:p>
        </p:txBody>
      </p:sp>
      <p:sp>
        <p:nvSpPr>
          <p:cNvPr id="13" name="Rounded Rectangle 12"/>
          <p:cNvSpPr/>
          <p:nvPr/>
        </p:nvSpPr>
        <p:spPr>
          <a:xfrm>
            <a:off x="9253728"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5 · Why it matters</a:t>
            </a:r>
          </a:p>
        </p:txBody>
      </p:sp>
      <p:sp>
        <p:nvSpPr>
          <p:cNvPr id="14" name="TextBox 13"/>
          <p:cNvSpPr txBox="1"/>
          <p:nvPr/>
        </p:nvSpPr>
        <p:spPr>
          <a:xfrm>
            <a:off x="914400" y="6446154"/>
            <a:ext cx="103327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96B2D0"/>
                </a:solidFill>
                <a:latin typeface="Segoe UI"/>
              </a:rPr>
              <a:t>you are 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Supervised Learning - Learning With a Teacher</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5</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You already know the answer for the training data. The job is to generalise it.</a:t>
            </a:r>
          </a:p>
        </p:txBody>
      </p:sp>
      <p:sp>
        <p:nvSpPr>
          <p:cNvPr id="12" name="Rounded Rectangle 11"/>
          <p:cNvSpPr/>
          <p:nvPr/>
        </p:nvSpPr>
        <p:spPr>
          <a:xfrm>
            <a:off x="502920" y="4544568"/>
            <a:ext cx="2453632" cy="960120"/>
          </a:xfrm>
          <a:prstGeom prst="roundRect">
            <a:avLst>
              <a:gd name="adj" fmla="val 10000"/>
            </a:avLst>
          </a:prstGeom>
          <a:solidFill>
            <a:srgbClr val="DBF0F7"/>
          </a:solidFill>
          <a:ln w="22225">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0096C7"/>
                </a:solidFill>
                <a:latin typeface="Segoe UI Semibold"/>
              </a:rPr>
              <a:t>Features X</a:t>
            </a:r>
          </a:p>
          <a:p>
            <a:pPr algn="ctr">
              <a:lnSpc>
                <a:spcPct val="110000"/>
              </a:lnSpc>
              <a:spcBef>
                <a:spcPts val="300"/>
              </a:spcBef>
              <a:spcAft>
                <a:spcPts val="0"/>
              </a:spcAft>
            </a:pPr>
            <a:r>
              <a:rPr sz="950" b="0" i="0">
                <a:solidFill>
                  <a:srgbClr val="586476"/>
                </a:solidFill>
                <a:latin typeface="Segoe UI"/>
              </a:rPr>
              <a:t>what you measure</a:t>
            </a:r>
          </a:p>
        </p:txBody>
      </p:sp>
      <p:sp>
        <p:nvSpPr>
          <p:cNvPr id="13" name="Right Arrow 12"/>
          <p:cNvSpPr/>
          <p:nvPr/>
        </p:nvSpPr>
        <p:spPr>
          <a:xfrm>
            <a:off x="3047992"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3413752" y="4544568"/>
            <a:ext cx="2453632" cy="960120"/>
          </a:xfrm>
          <a:prstGeom prst="roundRect">
            <a:avLst>
              <a:gd name="adj" fmla="val 10000"/>
            </a:avLst>
          </a:prstGeom>
          <a:solidFill>
            <a:srgbClr val="F9EBDC"/>
          </a:solidFill>
          <a:ln w="2222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D97706"/>
                </a:solidFill>
                <a:latin typeface="Segoe UI Semibold"/>
              </a:rPr>
              <a:t>+ Label y</a:t>
            </a:r>
          </a:p>
          <a:p>
            <a:pPr algn="ctr">
              <a:lnSpc>
                <a:spcPct val="110000"/>
              </a:lnSpc>
              <a:spcBef>
                <a:spcPts val="300"/>
              </a:spcBef>
              <a:spcAft>
                <a:spcPts val="0"/>
              </a:spcAft>
            </a:pPr>
            <a:r>
              <a:rPr sz="950" b="0" i="0">
                <a:solidFill>
                  <a:srgbClr val="586476"/>
                </a:solidFill>
                <a:latin typeface="Segoe UI"/>
              </a:rPr>
              <a:t>supplied by a human</a:t>
            </a:r>
          </a:p>
        </p:txBody>
      </p:sp>
      <p:sp>
        <p:nvSpPr>
          <p:cNvPr id="15" name="Right Arrow 14"/>
          <p:cNvSpPr/>
          <p:nvPr/>
        </p:nvSpPr>
        <p:spPr>
          <a:xfrm>
            <a:off x="5958824"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6324584" y="4544568"/>
            <a:ext cx="2453632" cy="960120"/>
          </a:xfrm>
          <a:prstGeom prst="roundRect">
            <a:avLst>
              <a:gd name="adj" fmla="val 10000"/>
            </a:avLst>
          </a:prstGeom>
          <a:solidFill>
            <a:srgbClr val="DDECE4"/>
          </a:solidFill>
          <a:ln w="2222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107C41"/>
                </a:solidFill>
                <a:latin typeface="Segoe UI Semibold"/>
              </a:rPr>
              <a:t>Learn f</a:t>
            </a:r>
          </a:p>
          <a:p>
            <a:pPr algn="ctr">
              <a:lnSpc>
                <a:spcPct val="110000"/>
              </a:lnSpc>
              <a:spcBef>
                <a:spcPts val="300"/>
              </a:spcBef>
              <a:spcAft>
                <a:spcPts val="0"/>
              </a:spcAft>
            </a:pPr>
            <a:r>
              <a:rPr sz="950" b="0" i="0">
                <a:solidFill>
                  <a:srgbClr val="586476"/>
                </a:solidFill>
                <a:latin typeface="Segoe UI"/>
              </a:rPr>
              <a:t>so that f(X) ≈ y</a:t>
            </a:r>
          </a:p>
        </p:txBody>
      </p:sp>
      <p:sp>
        <p:nvSpPr>
          <p:cNvPr id="17" name="Right Arrow 16"/>
          <p:cNvSpPr/>
          <p:nvPr/>
        </p:nvSpPr>
        <p:spPr>
          <a:xfrm>
            <a:off x="8869657"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9235417" y="4544568"/>
            <a:ext cx="2453632" cy="960120"/>
          </a:xfrm>
          <a:prstGeom prst="roundRect">
            <a:avLst>
              <a:gd name="adj" fmla="val 10000"/>
            </a:avLst>
          </a:prstGeom>
          <a:solidFill>
            <a:srgbClr val="E8E1EF"/>
          </a:solidFill>
          <a:ln w="22225">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5C2D91"/>
                </a:solidFill>
                <a:latin typeface="Segoe UI Semibold"/>
              </a:rPr>
              <a:t>Predict</a:t>
            </a:r>
          </a:p>
          <a:p>
            <a:pPr algn="ctr">
              <a:lnSpc>
                <a:spcPct val="110000"/>
              </a:lnSpc>
              <a:spcBef>
                <a:spcPts val="300"/>
              </a:spcBef>
              <a:spcAft>
                <a:spcPts val="0"/>
              </a:spcAft>
            </a:pPr>
            <a:r>
              <a:rPr sz="950" b="0" i="0">
                <a:solidFill>
                  <a:srgbClr val="586476"/>
                </a:solidFill>
                <a:latin typeface="Segoe UI"/>
              </a:rPr>
              <a:t>on unseen data</a:t>
            </a:r>
          </a:p>
        </p:txBody>
      </p:sp>
      <p:sp>
        <p:nvSpPr>
          <p:cNvPr id="19" name="Rounded Rectangle 18"/>
          <p:cNvSpPr/>
          <p:nvPr/>
        </p:nvSpPr>
        <p:spPr>
          <a:xfrm>
            <a:off x="502920"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0096C7"/>
                </a:solidFill>
                <a:latin typeface="Segoe UI Semibold"/>
              </a:rPr>
              <a:t>Input  </a:t>
            </a:r>
            <a:r>
              <a:rPr sz="810" b="0" i="0">
                <a:solidFill>
                  <a:srgbClr val="1C2330"/>
                </a:solidFill>
                <a:latin typeface="Segoe UI"/>
              </a:rPr>
              <a:t>features X together with a LABEL y for every single example.</a:t>
            </a:r>
          </a:p>
          <a:p>
            <a:pPr algn="l">
              <a:lnSpc>
                <a:spcPct val="116000"/>
              </a:lnSpc>
              <a:spcBef>
                <a:spcPts val="540"/>
              </a:spcBef>
              <a:spcAft>
                <a:spcPts val="0"/>
              </a:spcAft>
            </a:pPr>
            <a:r>
              <a:rPr sz="810" b="1" i="0">
                <a:solidFill>
                  <a:srgbClr val="0096C7"/>
                </a:solidFill>
                <a:latin typeface="Segoe UI Semibold"/>
              </a:rPr>
              <a:t>The task  </a:t>
            </a:r>
            <a:r>
              <a:rPr sz="810" b="0" i="0">
                <a:solidFill>
                  <a:srgbClr val="1C2330"/>
                </a:solidFill>
                <a:latin typeface="Segoe UI"/>
              </a:rPr>
              <a:t>learn a mapping f such that f(X) ≈ y, then apply it to data you have never seen.</a:t>
            </a:r>
          </a:p>
          <a:p>
            <a:pPr algn="l">
              <a:lnSpc>
                <a:spcPct val="116000"/>
              </a:lnSpc>
              <a:spcBef>
                <a:spcPts val="540"/>
              </a:spcBef>
              <a:spcAft>
                <a:spcPts val="0"/>
              </a:spcAft>
            </a:pPr>
            <a:r>
              <a:rPr sz="810" b="1" i="0">
                <a:solidFill>
                  <a:srgbClr val="0096C7"/>
                </a:solidFill>
                <a:latin typeface="Segoe UI Semibold"/>
              </a:rPr>
              <a:t>Two families  </a:t>
            </a:r>
            <a:r>
              <a:rPr sz="810" b="0" i="0">
                <a:solidFill>
                  <a:srgbClr val="1C2330"/>
                </a:solidFill>
                <a:latin typeface="Segoe UI"/>
              </a:rPr>
              <a:t>CLASSIFICATION predicts a category; REGRESSION predicts a number.</a:t>
            </a:r>
          </a:p>
          <a:p>
            <a:pPr algn="l">
              <a:lnSpc>
                <a:spcPct val="116000"/>
              </a:lnSpc>
              <a:spcBef>
                <a:spcPts val="540"/>
              </a:spcBef>
              <a:spcAft>
                <a:spcPts val="0"/>
              </a:spcAft>
            </a:pPr>
            <a:r>
              <a:rPr sz="810" b="1" i="0">
                <a:solidFill>
                  <a:srgbClr val="0096C7"/>
                </a:solidFill>
                <a:latin typeface="Segoe UI Semibold"/>
              </a:rPr>
              <a:t>Success is measurable  </a:t>
            </a:r>
            <a:r>
              <a:rPr sz="810" b="0" i="0">
                <a:solidFill>
                  <a:srgbClr val="1C2330"/>
                </a:solidFill>
                <a:latin typeface="Segoe UI"/>
              </a:rPr>
              <a:t>hold back some labelled data, predict it, compare with the truth. Accuracy, precision, recall.</a:t>
            </a:r>
          </a:p>
          <a:p>
            <a:pPr algn="l">
              <a:lnSpc>
                <a:spcPct val="116000"/>
              </a:lnSpc>
              <a:spcBef>
                <a:spcPts val="540"/>
              </a:spcBef>
              <a:spcAft>
                <a:spcPts val="0"/>
              </a:spcAft>
            </a:pPr>
            <a:r>
              <a:rPr sz="810" b="1" i="0">
                <a:solidFill>
                  <a:srgbClr val="0096C7"/>
                </a:solidFill>
                <a:latin typeface="Segoe UI Semibold"/>
              </a:rPr>
              <a:t>The catch  </a:t>
            </a:r>
            <a:r>
              <a:rPr sz="810" b="0" i="0">
                <a:solidFill>
                  <a:srgbClr val="1C2330"/>
                </a:solidFill>
                <a:latin typeface="Segoe UI"/>
              </a:rPr>
              <a:t>somebody had to produce every one of those labels, by hand.</a:t>
            </a:r>
          </a:p>
        </p:txBody>
      </p:sp>
      <p:sp>
        <p:nvSpPr>
          <p:cNvPr id="20" name="Rectangle 19"/>
          <p:cNvSpPr/>
          <p:nvPr/>
        </p:nvSpPr>
        <p:spPr>
          <a:xfrm>
            <a:off x="502920" y="2267712"/>
            <a:ext cx="5455904" cy="3840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85800"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What it needs and does</a:t>
            </a:r>
          </a:p>
        </p:txBody>
      </p:sp>
      <p:sp>
        <p:nvSpPr>
          <p:cNvPr id="22" name="Rounded Rectangle 21"/>
          <p:cNvSpPr/>
          <p:nvPr/>
        </p:nvSpPr>
        <p:spPr>
          <a:xfrm>
            <a:off x="6233144"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107C41"/>
                </a:solidFill>
                <a:latin typeface="Segoe UI Semibold"/>
              </a:rPr>
              <a:t>The data  </a:t>
            </a:r>
            <a:r>
              <a:rPr sz="810" b="0" i="0">
                <a:solidFill>
                  <a:srgbClr val="1C2330"/>
                </a:solidFill>
                <a:latin typeface="Segoe UI"/>
              </a:rPr>
              <a:t>10,000 emails. Each one already stamped SPAM or NOT SPAM by a human being.</a:t>
            </a:r>
          </a:p>
          <a:p>
            <a:pPr algn="l">
              <a:lnSpc>
                <a:spcPct val="116000"/>
              </a:lnSpc>
              <a:spcBef>
                <a:spcPts val="540"/>
              </a:spcBef>
              <a:spcAft>
                <a:spcPts val="0"/>
              </a:spcAft>
            </a:pPr>
            <a:r>
              <a:rPr sz="810" b="1" i="0">
                <a:solidFill>
                  <a:srgbClr val="107C41"/>
                </a:solidFill>
                <a:latin typeface="Segoe UI Semibold"/>
              </a:rPr>
              <a:t>The features X  </a:t>
            </a:r>
            <a:r>
              <a:rPr sz="810" b="0" i="0">
                <a:solidFill>
                  <a:srgbClr val="1C2330"/>
                </a:solidFill>
                <a:latin typeface="Segoe UI"/>
              </a:rPr>
              <a:t>words present, number of links, sender reputation, time sent.</a:t>
            </a:r>
          </a:p>
          <a:p>
            <a:pPr algn="l">
              <a:lnSpc>
                <a:spcPct val="116000"/>
              </a:lnSpc>
              <a:spcBef>
                <a:spcPts val="540"/>
              </a:spcBef>
              <a:spcAft>
                <a:spcPts val="0"/>
              </a:spcAft>
            </a:pPr>
            <a:r>
              <a:rPr sz="810" b="1" i="0">
                <a:solidFill>
                  <a:srgbClr val="107C41"/>
                </a:solidFill>
                <a:latin typeface="Segoe UI Semibold"/>
              </a:rPr>
              <a:t>The label y  </a:t>
            </a:r>
            <a:r>
              <a:rPr sz="810" b="0" i="0">
                <a:solidFill>
                  <a:srgbClr val="1C2330"/>
                </a:solidFill>
                <a:latin typeface="Segoe UI"/>
              </a:rPr>
              <a:t>SPAM / NOT SPAM. Binary. Unambiguous. Given.</a:t>
            </a:r>
          </a:p>
          <a:p>
            <a:pPr algn="l">
              <a:lnSpc>
                <a:spcPct val="116000"/>
              </a:lnSpc>
              <a:spcBef>
                <a:spcPts val="540"/>
              </a:spcBef>
              <a:spcAft>
                <a:spcPts val="0"/>
              </a:spcAft>
            </a:pPr>
            <a:r>
              <a:rPr sz="810" b="1" i="0">
                <a:solidFill>
                  <a:srgbClr val="107C41"/>
                </a:solidFill>
                <a:latin typeface="Segoe UI Semibold"/>
              </a:rPr>
              <a:t>What is learned  </a:t>
            </a:r>
            <a:r>
              <a:rPr sz="810" b="0" i="0">
                <a:solidFill>
                  <a:srgbClr val="1C2330"/>
                </a:solidFill>
                <a:latin typeface="Segoe UI"/>
              </a:rPr>
              <a:t>a decision rule that maps a new, unseen email to one of the two classes.</a:t>
            </a:r>
          </a:p>
          <a:p>
            <a:pPr algn="l">
              <a:lnSpc>
                <a:spcPct val="116000"/>
              </a:lnSpc>
              <a:spcBef>
                <a:spcPts val="540"/>
              </a:spcBef>
              <a:spcAft>
                <a:spcPts val="0"/>
              </a:spcAft>
            </a:pPr>
            <a:r>
              <a:rPr sz="810" b="1" i="0">
                <a:solidFill>
                  <a:srgbClr val="107C41"/>
                </a:solidFill>
                <a:latin typeface="Segoe UI Semibold"/>
              </a:rPr>
              <a:t>Why it works  </a:t>
            </a:r>
            <a:r>
              <a:rPr sz="810" b="0" i="0">
                <a:solidFill>
                  <a:srgbClr val="1C2330"/>
                </a:solidFill>
                <a:latin typeface="Segoe UI"/>
              </a:rPr>
              <a:t>the categories were decided BEFORE learning started. The algorithm only had to find the boundary.</a:t>
            </a:r>
          </a:p>
        </p:txBody>
      </p:sp>
      <p:sp>
        <p:nvSpPr>
          <p:cNvPr id="23" name="Rectangle 22"/>
          <p:cNvSpPr/>
          <p:nvPr/>
        </p:nvSpPr>
        <p:spPr>
          <a:xfrm>
            <a:off x="6233144" y="2267712"/>
            <a:ext cx="5455904" cy="384048"/>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416024"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The spam filter, concretely</a:t>
            </a:r>
          </a:p>
        </p:txBody>
      </p:sp>
      <p:sp>
        <p:nvSpPr>
          <p:cNvPr id="25" name="Rounded Rectangle 24"/>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NAME ONE   </a:t>
            </a:r>
            <a:r>
              <a:rPr sz="1350" b="0" i="0">
                <a:solidFill>
                  <a:srgbClr val="1C2330"/>
                </a:solidFill>
                <a:latin typeface="Segoe UI"/>
              </a:rPr>
              <a:t>a supervised task you personally used today - and say who produced its labels.</a:t>
            </a:r>
          </a:p>
        </p:txBody>
      </p:sp>
      <p:sp>
        <p:nvSpPr>
          <p:cNvPr id="26" name="Rectangle 25"/>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Unsupervised Learning - Learning by Self-Exploration</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6</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No labels. No teacher. No answer key - and therefore no single correct answer.</a:t>
            </a:r>
          </a:p>
        </p:txBody>
      </p:sp>
      <p:sp>
        <p:nvSpPr>
          <p:cNvPr id="12" name="Rounded Rectangle 11"/>
          <p:cNvSpPr/>
          <p:nvPr/>
        </p:nvSpPr>
        <p:spPr>
          <a:xfrm>
            <a:off x="502920" y="4544568"/>
            <a:ext cx="2453632" cy="960120"/>
          </a:xfrm>
          <a:prstGeom prst="roundRect">
            <a:avLst>
              <a:gd name="adj" fmla="val 10000"/>
            </a:avLst>
          </a:prstGeom>
          <a:solidFill>
            <a:srgbClr val="E7E9EB"/>
          </a:solidFill>
          <a:ln w="22225">
            <a:solidFill>
              <a:srgbClr val="586476"/>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586476"/>
                </a:solidFill>
                <a:latin typeface="Segoe UI Semibold"/>
              </a:rPr>
              <a:t>Features X only</a:t>
            </a:r>
          </a:p>
          <a:p>
            <a:pPr algn="ctr">
              <a:lnSpc>
                <a:spcPct val="110000"/>
              </a:lnSpc>
              <a:spcBef>
                <a:spcPts val="300"/>
              </a:spcBef>
              <a:spcAft>
                <a:spcPts val="0"/>
              </a:spcAft>
            </a:pPr>
            <a:r>
              <a:rPr sz="950" b="0" i="0">
                <a:solidFill>
                  <a:srgbClr val="586476"/>
                </a:solidFill>
                <a:latin typeface="Segoe UI"/>
              </a:rPr>
              <a:t>no label column</a:t>
            </a:r>
          </a:p>
        </p:txBody>
      </p:sp>
      <p:sp>
        <p:nvSpPr>
          <p:cNvPr id="13" name="Right Arrow 12"/>
          <p:cNvSpPr/>
          <p:nvPr/>
        </p:nvSpPr>
        <p:spPr>
          <a:xfrm>
            <a:off x="3047992"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3413752" y="4544568"/>
            <a:ext cx="2453632" cy="960120"/>
          </a:xfrm>
          <a:prstGeom prst="roundRect">
            <a:avLst>
              <a:gd name="adj" fmla="val 10000"/>
            </a:avLst>
          </a:prstGeom>
          <a:solidFill>
            <a:srgbClr val="E8E1EF"/>
          </a:solidFill>
          <a:ln w="22225">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5C2D91"/>
                </a:solidFill>
                <a:latin typeface="Segoe UI Semibold"/>
              </a:rPr>
              <a:t>Find structure</a:t>
            </a:r>
          </a:p>
          <a:p>
            <a:pPr algn="ctr">
              <a:lnSpc>
                <a:spcPct val="110000"/>
              </a:lnSpc>
              <a:spcBef>
                <a:spcPts val="300"/>
              </a:spcBef>
              <a:spcAft>
                <a:spcPts val="0"/>
              </a:spcAft>
            </a:pPr>
            <a:r>
              <a:rPr sz="950" b="0" i="0">
                <a:solidFill>
                  <a:srgbClr val="586476"/>
                </a:solidFill>
                <a:latin typeface="Segoe UI"/>
              </a:rPr>
              <a:t>groups, shapes, outliers</a:t>
            </a:r>
          </a:p>
        </p:txBody>
      </p:sp>
      <p:sp>
        <p:nvSpPr>
          <p:cNvPr id="15" name="Right Arrow 14"/>
          <p:cNvSpPr/>
          <p:nvPr/>
        </p:nvSpPr>
        <p:spPr>
          <a:xfrm>
            <a:off x="5958824"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6324584" y="4544568"/>
            <a:ext cx="2453632" cy="960120"/>
          </a:xfrm>
          <a:prstGeom prst="roundRect">
            <a:avLst>
              <a:gd name="adj" fmla="val 10000"/>
            </a:avLst>
          </a:prstGeom>
          <a:solidFill>
            <a:srgbClr val="F9EBDC"/>
          </a:solidFill>
          <a:ln w="2222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D97706"/>
                </a:solidFill>
                <a:latin typeface="Segoe UI Semibold"/>
              </a:rPr>
              <a:t>You name them</a:t>
            </a:r>
          </a:p>
          <a:p>
            <a:pPr algn="ctr">
              <a:lnSpc>
                <a:spcPct val="110000"/>
              </a:lnSpc>
              <a:spcBef>
                <a:spcPts val="300"/>
              </a:spcBef>
              <a:spcAft>
                <a:spcPts val="0"/>
              </a:spcAft>
            </a:pPr>
            <a:r>
              <a:rPr sz="950" b="0" i="0">
                <a:solidFill>
                  <a:srgbClr val="586476"/>
                </a:solidFill>
                <a:latin typeface="Segoe UI"/>
              </a:rPr>
              <a:t>meaning is YOUR job</a:t>
            </a:r>
          </a:p>
        </p:txBody>
      </p:sp>
      <p:sp>
        <p:nvSpPr>
          <p:cNvPr id="17" name="Right Arrow 16"/>
          <p:cNvSpPr/>
          <p:nvPr/>
        </p:nvSpPr>
        <p:spPr>
          <a:xfrm>
            <a:off x="8869657"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9235417" y="4544568"/>
            <a:ext cx="2453632" cy="960120"/>
          </a:xfrm>
          <a:prstGeom prst="roundRect">
            <a:avLst>
              <a:gd name="adj" fmla="val 10000"/>
            </a:avLst>
          </a:prstGeom>
          <a:solidFill>
            <a:srgbClr val="F4E0DE"/>
          </a:solidFill>
          <a:ln w="22225">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B42318"/>
                </a:solidFill>
                <a:latin typeface="Segoe UI Semibold"/>
              </a:rPr>
              <a:t>No accuracy score</a:t>
            </a:r>
          </a:p>
          <a:p>
            <a:pPr algn="ctr">
              <a:lnSpc>
                <a:spcPct val="110000"/>
              </a:lnSpc>
              <a:spcBef>
                <a:spcPts val="300"/>
              </a:spcBef>
              <a:spcAft>
                <a:spcPts val="0"/>
              </a:spcAft>
            </a:pPr>
            <a:r>
              <a:rPr sz="950" b="0" i="0">
                <a:solidFill>
                  <a:srgbClr val="586476"/>
                </a:solidFill>
                <a:latin typeface="Segoe UI"/>
              </a:rPr>
              <a:t>nothing to compare against</a:t>
            </a:r>
          </a:p>
        </p:txBody>
      </p:sp>
      <p:sp>
        <p:nvSpPr>
          <p:cNvPr id="19" name="Rounded Rectangle 18"/>
          <p:cNvSpPr/>
          <p:nvPr/>
        </p:nvSpPr>
        <p:spPr>
          <a:xfrm>
            <a:off x="502920"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5C2D91"/>
                </a:solidFill>
                <a:latin typeface="Segoe UI Semibold"/>
              </a:rPr>
              <a:t>Input  </a:t>
            </a:r>
            <a:r>
              <a:rPr sz="810" b="0" i="0">
                <a:solidFill>
                  <a:srgbClr val="1C2330"/>
                </a:solidFill>
                <a:latin typeface="Segoe UI"/>
              </a:rPr>
              <a:t>features X only. There is NO y. Nothing is labelled.</a:t>
            </a:r>
          </a:p>
          <a:p>
            <a:pPr algn="l">
              <a:lnSpc>
                <a:spcPct val="116000"/>
              </a:lnSpc>
              <a:spcBef>
                <a:spcPts val="540"/>
              </a:spcBef>
              <a:spcAft>
                <a:spcPts val="0"/>
              </a:spcAft>
            </a:pPr>
            <a:r>
              <a:rPr sz="810" b="1" i="0">
                <a:solidFill>
                  <a:srgbClr val="5C2D91"/>
                </a:solidFill>
                <a:latin typeface="Segoe UI Semibold"/>
              </a:rPr>
              <a:t>The task  </a:t>
            </a:r>
            <a:r>
              <a:rPr sz="810" b="0" i="0">
                <a:solidFill>
                  <a:srgbClr val="1C2330"/>
                </a:solidFill>
                <a:latin typeface="Segoe UI"/>
              </a:rPr>
              <a:t>discover structure that is already present in the data - groups, patterns, outliers, or a lower-dimensional shape.</a:t>
            </a:r>
          </a:p>
          <a:p>
            <a:pPr algn="l">
              <a:lnSpc>
                <a:spcPct val="116000"/>
              </a:lnSpc>
              <a:spcBef>
                <a:spcPts val="540"/>
              </a:spcBef>
              <a:spcAft>
                <a:spcPts val="0"/>
              </a:spcAft>
            </a:pPr>
            <a:r>
              <a:rPr sz="810" b="1" i="0">
                <a:solidFill>
                  <a:srgbClr val="5C2D91"/>
                </a:solidFill>
                <a:latin typeface="Segoe UI Semibold"/>
              </a:rPr>
              <a:t>Main families  </a:t>
            </a:r>
            <a:r>
              <a:rPr sz="810" b="0" i="0">
                <a:solidFill>
                  <a:srgbClr val="1C2330"/>
                </a:solidFill>
                <a:latin typeface="Segoe UI"/>
              </a:rPr>
              <a:t>CLUSTERING (group similar items), DIMENSIONALITY REDUCTION (compress features), ASSOCIATION (find co-occurrence), ANOMALY DETECTION (find the odd ones).</a:t>
            </a:r>
          </a:p>
          <a:p>
            <a:pPr algn="l">
              <a:lnSpc>
                <a:spcPct val="116000"/>
              </a:lnSpc>
              <a:spcBef>
                <a:spcPts val="540"/>
              </a:spcBef>
              <a:spcAft>
                <a:spcPts val="0"/>
              </a:spcAft>
            </a:pPr>
            <a:r>
              <a:rPr sz="810" b="1" i="0">
                <a:solidFill>
                  <a:srgbClr val="5C2D91"/>
                </a:solidFill>
                <a:latin typeface="Segoe UI Semibold"/>
              </a:rPr>
              <a:t>Success is hard to measure  </a:t>
            </a:r>
            <a:r>
              <a:rPr sz="810" b="0" i="0">
                <a:solidFill>
                  <a:srgbClr val="1C2330"/>
                </a:solidFill>
                <a:latin typeface="Segoe UI"/>
              </a:rPr>
              <a:t>there is no truth to compare against. You need internal measures, or a human, or a downstream business result.</a:t>
            </a:r>
          </a:p>
          <a:p>
            <a:pPr algn="l">
              <a:lnSpc>
                <a:spcPct val="116000"/>
              </a:lnSpc>
              <a:spcBef>
                <a:spcPts val="540"/>
              </a:spcBef>
              <a:spcAft>
                <a:spcPts val="0"/>
              </a:spcAft>
            </a:pPr>
            <a:r>
              <a:rPr sz="810" b="1" i="0">
                <a:solidFill>
                  <a:srgbClr val="5C2D91"/>
                </a:solidFill>
                <a:latin typeface="Segoe UI Semibold"/>
              </a:rPr>
              <a:t>The pay-off  </a:t>
            </a:r>
            <a:r>
              <a:rPr sz="810" b="0" i="0">
                <a:solidFill>
                  <a:srgbClr val="1C2330"/>
                </a:solidFill>
                <a:latin typeface="Segoe UI"/>
              </a:rPr>
              <a:t>it works on data nobody has labelled - which is almost all data that exists.</a:t>
            </a:r>
          </a:p>
        </p:txBody>
      </p:sp>
      <p:sp>
        <p:nvSpPr>
          <p:cNvPr id="20" name="Rectangle 19"/>
          <p:cNvSpPr/>
          <p:nvPr/>
        </p:nvSpPr>
        <p:spPr>
          <a:xfrm>
            <a:off x="502920" y="2267712"/>
            <a:ext cx="5455904" cy="3840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85800"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What it needs and does</a:t>
            </a:r>
          </a:p>
        </p:txBody>
      </p:sp>
      <p:sp>
        <p:nvSpPr>
          <p:cNvPr id="22" name="Rounded Rectangle 21"/>
          <p:cNvSpPr/>
          <p:nvPr/>
        </p:nvSpPr>
        <p:spPr>
          <a:xfrm>
            <a:off x="6233144"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D97706"/>
                </a:solidFill>
                <a:latin typeface="Segoe UI Semibold"/>
              </a:rPr>
              <a:t>The situation  </a:t>
            </a:r>
            <a:r>
              <a:rPr sz="810" b="0" i="0">
                <a:solidFill>
                  <a:srgbClr val="1C2330"/>
                </a:solidFill>
                <a:latin typeface="Segoe UI"/>
              </a:rPr>
              <a:t>a room with 5,000 books dumped on the floor. No Dewey system. No genre stickers. No catalogue.</a:t>
            </a:r>
          </a:p>
          <a:p>
            <a:pPr algn="l">
              <a:lnSpc>
                <a:spcPct val="116000"/>
              </a:lnSpc>
              <a:spcBef>
                <a:spcPts val="540"/>
              </a:spcBef>
              <a:spcAft>
                <a:spcPts val="0"/>
              </a:spcAft>
            </a:pPr>
            <a:r>
              <a:rPr sz="810" b="1" i="0">
                <a:solidFill>
                  <a:srgbClr val="D97706"/>
                </a:solidFill>
                <a:latin typeface="Segoe UI Semibold"/>
              </a:rPr>
              <a:t>The task  </a:t>
            </a:r>
            <a:r>
              <a:rPr sz="810" b="0" i="0">
                <a:solidFill>
                  <a:srgbClr val="1C2330"/>
                </a:solidFill>
                <a:latin typeface="Segoe UI"/>
              </a:rPr>
              <a:t>organise them so the room is usable.</a:t>
            </a:r>
          </a:p>
          <a:p>
            <a:pPr algn="l">
              <a:lnSpc>
                <a:spcPct val="116000"/>
              </a:lnSpc>
              <a:spcBef>
                <a:spcPts val="540"/>
              </a:spcBef>
              <a:spcAft>
                <a:spcPts val="0"/>
              </a:spcAft>
            </a:pPr>
            <a:r>
              <a:rPr sz="810" b="1" i="0">
                <a:solidFill>
                  <a:srgbClr val="D97706"/>
                </a:solidFill>
                <a:latin typeface="Segoe UI Semibold"/>
              </a:rPr>
              <a:t>What you would do  </a:t>
            </a:r>
            <a:r>
              <a:rPr sz="810" b="0" i="0">
                <a:solidFill>
                  <a:srgbClr val="1C2330"/>
                </a:solidFill>
                <a:latin typeface="Segoe UI"/>
              </a:rPr>
              <a:t>flick through, notice some are about cooking, some about history, some are children's picture books - and start piles.</a:t>
            </a:r>
          </a:p>
          <a:p>
            <a:pPr algn="l">
              <a:lnSpc>
                <a:spcPct val="116000"/>
              </a:lnSpc>
              <a:spcBef>
                <a:spcPts val="540"/>
              </a:spcBef>
              <a:spcAft>
                <a:spcPts val="0"/>
              </a:spcAft>
            </a:pPr>
            <a:r>
              <a:rPr sz="810" b="1" i="0">
                <a:solidFill>
                  <a:srgbClr val="D97706"/>
                </a:solidFill>
                <a:latin typeface="Segoe UI Semibold"/>
              </a:rPr>
              <a:t>The key point  </a:t>
            </a:r>
            <a:r>
              <a:rPr sz="810" b="0" i="0">
                <a:solidFill>
                  <a:srgbClr val="1C2330"/>
                </a:solidFill>
                <a:latin typeface="Segoe UI"/>
              </a:rPr>
              <a:t>nobody told you 'cooking' was a category. You INFERRED the categories from the books themselves.</a:t>
            </a:r>
          </a:p>
          <a:p>
            <a:pPr algn="l">
              <a:lnSpc>
                <a:spcPct val="116000"/>
              </a:lnSpc>
              <a:spcBef>
                <a:spcPts val="540"/>
              </a:spcBef>
              <a:spcAft>
                <a:spcPts val="0"/>
              </a:spcAft>
            </a:pPr>
            <a:r>
              <a:rPr sz="810" b="1" i="0">
                <a:solidFill>
                  <a:srgbClr val="D97706"/>
                </a:solidFill>
                <a:latin typeface="Segoe UI Semibold"/>
              </a:rPr>
              <a:t>The uncomfortable part  </a:t>
            </a:r>
            <a:r>
              <a:rPr sz="810" b="0" i="0">
                <a:solidFill>
                  <a:srgbClr val="1C2330"/>
                </a:solidFill>
                <a:latin typeface="Segoe UI"/>
              </a:rPr>
              <a:t>your colleague sorts them by size and colour instead - and produces a beautiful, usable room. Who is wrong?</a:t>
            </a:r>
          </a:p>
        </p:txBody>
      </p:sp>
      <p:sp>
        <p:nvSpPr>
          <p:cNvPr id="23" name="Rectangle 22"/>
          <p:cNvSpPr/>
          <p:nvPr/>
        </p:nvSpPr>
        <p:spPr>
          <a:xfrm>
            <a:off x="6233144" y="2267712"/>
            <a:ext cx="5455904" cy="3840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416024"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The library, concretely</a:t>
            </a:r>
          </a:p>
        </p:txBody>
      </p:sp>
      <p:sp>
        <p:nvSpPr>
          <p:cNvPr id="25" name="Rounded Rectangle 24"/>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THINK-PAIR-SHARE   </a:t>
            </a:r>
            <a:r>
              <a:rPr sz="1350" b="0" i="0">
                <a:solidFill>
                  <a:srgbClr val="1C2330"/>
                </a:solidFill>
                <a:latin typeface="Segoe UI"/>
              </a:rPr>
              <a:t>60 seconds: name a dataset you personally generate every day that has NO labels attached to it.</a:t>
            </a:r>
          </a:p>
        </p:txBody>
      </p:sp>
      <p:sp>
        <p:nvSpPr>
          <p:cNvPr id="26" name="Rectangle 25"/>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200" b="1" i="0">
                <a:solidFill>
                  <a:srgbClr val="FFFFFF"/>
                </a:solidFill>
                <a:latin typeface="Segoe UI Semibold"/>
              </a:rPr>
              <a:t>Semi-Supervised Learning - A Few Labels, and a Lot of Data</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7</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The realistic middle ground - and in industry, the most common situation of the three.</a:t>
            </a:r>
          </a:p>
        </p:txBody>
      </p:sp>
      <p:sp>
        <p:nvSpPr>
          <p:cNvPr id="12" name="Rounded Rectangle 11"/>
          <p:cNvSpPr/>
          <p:nvPr/>
        </p:nvSpPr>
        <p:spPr>
          <a:xfrm>
            <a:off x="502920" y="4544568"/>
            <a:ext cx="10284375" cy="649224"/>
          </a:xfrm>
          <a:prstGeom prst="roundRect">
            <a:avLst>
              <a:gd name="adj" fmla="val 8000"/>
            </a:avLst>
          </a:prstGeom>
          <a:solidFill>
            <a:srgbClr val="DBF0F7"/>
          </a:solidFill>
          <a:ln w="2413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80"/>
              </a:spcAft>
            </a:pPr>
            <a:r>
              <a:rPr sz="969" b="1" i="0">
                <a:solidFill>
                  <a:srgbClr val="0096C7"/>
                </a:solidFill>
                <a:latin typeface="Segoe UI Semibold"/>
              </a:rPr>
              <a:t>UNLABELLED</a:t>
            </a:r>
          </a:p>
          <a:p>
            <a:pPr algn="ctr">
              <a:lnSpc>
                <a:spcPct val="115000"/>
              </a:lnSpc>
              <a:spcBef>
                <a:spcPts val="0"/>
              </a:spcBef>
              <a:spcAft>
                <a:spcPts val="80"/>
              </a:spcAft>
            </a:pPr>
            <a:r>
              <a:rPr sz="1370" b="1" i="0">
                <a:solidFill>
                  <a:srgbClr val="182B49"/>
                </a:solidFill>
                <a:latin typeface="Segoe UI Semibold"/>
              </a:rPr>
              <a:t>93%</a:t>
            </a:r>
          </a:p>
          <a:p>
            <a:pPr algn="ctr">
              <a:lnSpc>
                <a:spcPct val="110000"/>
              </a:lnSpc>
              <a:spcBef>
                <a:spcPts val="0"/>
              </a:spcBef>
              <a:spcAft>
                <a:spcPts val="0"/>
              </a:spcAft>
            </a:pPr>
            <a:r>
              <a:rPr sz="760" b="0" i="0">
                <a:solidFill>
                  <a:srgbClr val="586476"/>
                </a:solidFill>
                <a:latin typeface="Segoe UI"/>
              </a:rPr>
              <a:t>50,000 scans - gives the SHAPE</a:t>
            </a:r>
          </a:p>
        </p:txBody>
      </p:sp>
      <p:sp>
        <p:nvSpPr>
          <p:cNvPr id="13" name="Rounded Rectangle 12"/>
          <p:cNvSpPr/>
          <p:nvPr/>
        </p:nvSpPr>
        <p:spPr>
          <a:xfrm>
            <a:off x="10860447" y="4544568"/>
            <a:ext cx="755450" cy="649224"/>
          </a:xfrm>
          <a:prstGeom prst="roundRect">
            <a:avLst>
              <a:gd name="adj" fmla="val 8000"/>
            </a:avLst>
          </a:prstGeom>
          <a:solidFill>
            <a:srgbClr val="F9EBDC"/>
          </a:solidFill>
          <a:ln w="2413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60"/>
              </a:spcAft>
            </a:pPr>
            <a:r>
              <a:rPr sz="750" b="1" i="0">
                <a:solidFill>
                  <a:srgbClr val="D97706"/>
                </a:solidFill>
                <a:latin typeface="Segoe UI Semibold"/>
              </a:rPr>
              <a:t>LABELLED</a:t>
            </a:r>
          </a:p>
          <a:p>
            <a:pPr algn="ctr">
              <a:lnSpc>
                <a:spcPct val="115000"/>
              </a:lnSpc>
              <a:spcBef>
                <a:spcPts val="0"/>
              </a:spcBef>
              <a:spcAft>
                <a:spcPts val="60"/>
              </a:spcAft>
            </a:pPr>
            <a:r>
              <a:rPr sz="1019" b="1" i="0">
                <a:solidFill>
                  <a:srgbClr val="182B49"/>
                </a:solidFill>
                <a:latin typeface="Segoe UI Semibold"/>
              </a:rPr>
              <a:t>7%</a:t>
            </a:r>
          </a:p>
          <a:p>
            <a:pPr algn="ctr">
              <a:lnSpc>
                <a:spcPct val="110000"/>
              </a:lnSpc>
              <a:spcBef>
                <a:spcPts val="0"/>
              </a:spcBef>
              <a:spcAft>
                <a:spcPts val="0"/>
              </a:spcAft>
            </a:pPr>
            <a:r>
              <a:rPr sz="750" b="0" i="0">
                <a:solidFill>
                  <a:srgbClr val="586476"/>
                </a:solidFill>
                <a:latin typeface="Segoe UI"/>
              </a:rPr>
              <a:t>300 - gives the MEANING</a:t>
            </a:r>
          </a:p>
        </p:txBody>
      </p:sp>
      <p:sp>
        <p:nvSpPr>
          <p:cNvPr id="14" name="TextBox 13"/>
          <p:cNvSpPr txBox="1"/>
          <p:nvPr/>
        </p:nvSpPr>
        <p:spPr>
          <a:xfrm>
            <a:off x="502920" y="5248655"/>
            <a:ext cx="11186129" cy="274320"/>
          </a:xfrm>
          <a:prstGeom prst="rect">
            <a:avLst/>
          </a:prstGeom>
          <a:noFill/>
        </p:spPr>
        <p:txBody>
          <a:bodyPr wrap="square" lIns="0" tIns="0" rIns="0" bIns="0" anchor="t">
            <a:spAutoFit/>
          </a:bodyPr>
          <a:lstStyle/>
          <a:p>
            <a:pPr algn="ctr">
              <a:lnSpc>
                <a:spcPct val="115000"/>
              </a:lnSpc>
              <a:spcBef>
                <a:spcPts val="0"/>
              </a:spcBef>
              <a:spcAft>
                <a:spcPts val="0"/>
              </a:spcAft>
            </a:pPr>
            <a:r>
              <a:rPr sz="1050" b="0" i="1">
                <a:solidFill>
                  <a:srgbClr val="586476"/>
                </a:solidFill>
                <a:latin typeface="Segoe UI"/>
              </a:rPr>
              <a:t>structure from the many, meaning from the few</a:t>
            </a:r>
          </a:p>
        </p:txBody>
      </p:sp>
      <p:sp>
        <p:nvSpPr>
          <p:cNvPr id="15" name="Rounded Rectangle 14"/>
          <p:cNvSpPr/>
          <p:nvPr/>
        </p:nvSpPr>
        <p:spPr>
          <a:xfrm>
            <a:off x="502920"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107C41"/>
                </a:solidFill>
                <a:latin typeface="Segoe UI Semibold"/>
              </a:rPr>
              <a:t>Input  </a:t>
            </a:r>
            <a:r>
              <a:rPr sz="810" b="0" i="0">
                <a:solidFill>
                  <a:srgbClr val="1C2330"/>
                </a:solidFill>
                <a:latin typeface="Segoe UI"/>
              </a:rPr>
              <a:t>a SMALL amount of labelled data plus a LARGE amount of unlabelled data.</a:t>
            </a:r>
          </a:p>
          <a:p>
            <a:pPr algn="l">
              <a:lnSpc>
                <a:spcPct val="116000"/>
              </a:lnSpc>
              <a:spcBef>
                <a:spcPts val="540"/>
              </a:spcBef>
              <a:spcAft>
                <a:spcPts val="0"/>
              </a:spcAft>
            </a:pPr>
            <a:r>
              <a:rPr sz="810" b="1" i="0">
                <a:solidFill>
                  <a:srgbClr val="107C41"/>
                </a:solidFill>
                <a:latin typeface="Segoe UI Semibold"/>
              </a:rPr>
              <a:t>Why it exists  </a:t>
            </a:r>
            <a:r>
              <a:rPr sz="810" b="0" i="0">
                <a:solidFill>
                  <a:srgbClr val="1C2330"/>
                </a:solidFill>
                <a:latin typeface="Segoe UI"/>
              </a:rPr>
              <a:t>labels are expensive and slow; raw data is cheap and abundant. This is the normal situation, not the exception.</a:t>
            </a:r>
          </a:p>
          <a:p>
            <a:pPr algn="l">
              <a:lnSpc>
                <a:spcPct val="116000"/>
              </a:lnSpc>
              <a:spcBef>
                <a:spcPts val="540"/>
              </a:spcBef>
              <a:spcAft>
                <a:spcPts val="0"/>
              </a:spcAft>
            </a:pPr>
            <a:r>
              <a:rPr sz="810" b="1" i="0">
                <a:solidFill>
                  <a:srgbClr val="107C41"/>
                </a:solidFill>
                <a:latin typeface="Segoe UI Semibold"/>
              </a:rPr>
              <a:t>Core assumption  </a:t>
            </a:r>
            <a:r>
              <a:rPr sz="810" b="0" i="0">
                <a:solidFill>
                  <a:srgbClr val="1C2330"/>
                </a:solidFill>
                <a:latin typeface="Segoe UI"/>
              </a:rPr>
              <a:t>points close together in feature space probably share a label. The unlabelled data reveals the SHAPE; the few labels tell you what to call each region.</a:t>
            </a:r>
          </a:p>
          <a:p>
            <a:pPr algn="l">
              <a:lnSpc>
                <a:spcPct val="116000"/>
              </a:lnSpc>
              <a:spcBef>
                <a:spcPts val="540"/>
              </a:spcBef>
              <a:spcAft>
                <a:spcPts val="0"/>
              </a:spcAft>
            </a:pPr>
            <a:r>
              <a:rPr sz="810" b="1" i="0">
                <a:solidFill>
                  <a:srgbClr val="107C41"/>
                </a:solidFill>
                <a:latin typeface="Segoe UI Semibold"/>
              </a:rPr>
              <a:t>Typical methods  </a:t>
            </a:r>
            <a:r>
              <a:rPr sz="810" b="0" i="0">
                <a:solidFill>
                  <a:srgbClr val="1C2330"/>
                </a:solidFill>
                <a:latin typeface="Segoe UI"/>
              </a:rPr>
              <a:t>self-training (label confidently, retrain), and label propagation across a graph of similar points.</a:t>
            </a:r>
          </a:p>
          <a:p>
            <a:pPr algn="l">
              <a:lnSpc>
                <a:spcPct val="116000"/>
              </a:lnSpc>
              <a:spcBef>
                <a:spcPts val="540"/>
              </a:spcBef>
              <a:spcAft>
                <a:spcPts val="0"/>
              </a:spcAft>
            </a:pPr>
            <a:r>
              <a:rPr sz="810" b="1" i="0">
                <a:solidFill>
                  <a:srgbClr val="107C41"/>
                </a:solidFill>
                <a:latin typeface="Segoe UI Semibold"/>
              </a:rPr>
              <a:t>The risk  </a:t>
            </a:r>
            <a:r>
              <a:rPr sz="810" b="0" i="0">
                <a:solidFill>
                  <a:srgbClr val="1C2330"/>
                </a:solidFill>
                <a:latin typeface="Segoe UI"/>
              </a:rPr>
              <a:t>one wrong confident label can propagate through the whole dataset and poison it.</a:t>
            </a:r>
          </a:p>
        </p:txBody>
      </p:sp>
      <p:sp>
        <p:nvSpPr>
          <p:cNvPr id="16" name="Rectangle 15"/>
          <p:cNvSpPr/>
          <p:nvPr/>
        </p:nvSpPr>
        <p:spPr>
          <a:xfrm>
            <a:off x="502920" y="2267712"/>
            <a:ext cx="5455904" cy="384048"/>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85800"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What it is and why it exists</a:t>
            </a:r>
          </a:p>
        </p:txBody>
      </p:sp>
      <p:sp>
        <p:nvSpPr>
          <p:cNvPr id="18" name="Rounded Rectangle 17"/>
          <p:cNvSpPr/>
          <p:nvPr/>
        </p:nvSpPr>
        <p:spPr>
          <a:xfrm>
            <a:off x="6233144"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B42318"/>
                </a:solidFill>
                <a:latin typeface="Segoe UI Semibold"/>
              </a:rPr>
              <a:t>The data  </a:t>
            </a:r>
            <a:r>
              <a:rPr sz="810" b="0" i="0">
                <a:solidFill>
                  <a:srgbClr val="1C2330"/>
                </a:solidFill>
                <a:latin typeface="Segoe UI"/>
              </a:rPr>
              <a:t>50,000 chest scans in a hospital archive. All unlabelled.</a:t>
            </a:r>
          </a:p>
          <a:p>
            <a:pPr algn="l">
              <a:lnSpc>
                <a:spcPct val="116000"/>
              </a:lnSpc>
              <a:spcBef>
                <a:spcPts val="540"/>
              </a:spcBef>
              <a:spcAft>
                <a:spcPts val="0"/>
              </a:spcAft>
            </a:pPr>
            <a:r>
              <a:rPr sz="810" b="1" i="0">
                <a:solidFill>
                  <a:srgbClr val="B42318"/>
                </a:solidFill>
                <a:latin typeface="Segoe UI Semibold"/>
              </a:rPr>
              <a:t>The labels available  </a:t>
            </a:r>
            <a:r>
              <a:rPr sz="810" b="0" i="0">
                <a:solidFill>
                  <a:srgbClr val="1C2330"/>
                </a:solidFill>
                <a:latin typeface="Segoe UI"/>
              </a:rPr>
              <a:t>300 of them have been read and annotated by a consultant radiologist.</a:t>
            </a:r>
          </a:p>
          <a:p>
            <a:pPr algn="l">
              <a:lnSpc>
                <a:spcPct val="116000"/>
              </a:lnSpc>
              <a:spcBef>
                <a:spcPts val="540"/>
              </a:spcBef>
              <a:spcAft>
                <a:spcPts val="0"/>
              </a:spcAft>
            </a:pPr>
            <a:r>
              <a:rPr sz="810" b="1" i="0">
                <a:solidFill>
                  <a:srgbClr val="B42318"/>
                </a:solidFill>
                <a:latin typeface="Segoe UI Semibold"/>
              </a:rPr>
              <a:t>Why not just label them all  </a:t>
            </a:r>
            <a:r>
              <a:rPr sz="810" b="0" i="0">
                <a:solidFill>
                  <a:srgbClr val="1C2330"/>
                </a:solidFill>
                <a:latin typeface="Segoe UI"/>
              </a:rPr>
              <a:t>at ~10 minutes per scan, 50,000 scans is over 8,000 consultant-hours. Nobody is paying for that.</a:t>
            </a:r>
          </a:p>
          <a:p>
            <a:pPr algn="l">
              <a:lnSpc>
                <a:spcPct val="116000"/>
              </a:lnSpc>
              <a:spcBef>
                <a:spcPts val="540"/>
              </a:spcBef>
              <a:spcAft>
                <a:spcPts val="0"/>
              </a:spcAft>
            </a:pPr>
            <a:r>
              <a:rPr sz="810" b="1" i="0">
                <a:solidFill>
                  <a:srgbClr val="B42318"/>
                </a:solidFill>
                <a:latin typeface="Segoe UI Semibold"/>
              </a:rPr>
              <a:t>What semi-supervised does  </a:t>
            </a:r>
            <a:r>
              <a:rPr sz="810" b="0" i="0">
                <a:solidFill>
                  <a:srgbClr val="1C2330"/>
                </a:solidFill>
                <a:latin typeface="Segoe UI"/>
              </a:rPr>
              <a:t>uses all 50,000 to learn what scans generally LOOK like, and the 300 to attach clinical meaning to the structure it found.</a:t>
            </a:r>
          </a:p>
          <a:p>
            <a:pPr algn="l">
              <a:lnSpc>
                <a:spcPct val="116000"/>
              </a:lnSpc>
              <a:spcBef>
                <a:spcPts val="540"/>
              </a:spcBef>
              <a:spcAft>
                <a:spcPts val="0"/>
              </a:spcAft>
            </a:pPr>
            <a:r>
              <a:rPr sz="810" b="1" i="0">
                <a:solidFill>
                  <a:srgbClr val="B42318"/>
                </a:solidFill>
                <a:latin typeface="Segoe UI Semibold"/>
              </a:rPr>
              <a:t>The result  </a:t>
            </a:r>
            <a:r>
              <a:rPr sz="810" b="0" i="0">
                <a:solidFill>
                  <a:srgbClr val="1C2330"/>
                </a:solidFill>
                <a:latin typeface="Segoe UI"/>
              </a:rPr>
              <a:t>far better than 300 labelled scans alone, at a tiny fraction of the labelling cost.</a:t>
            </a:r>
          </a:p>
        </p:txBody>
      </p:sp>
      <p:sp>
        <p:nvSpPr>
          <p:cNvPr id="19" name="Rectangle 18"/>
          <p:cNvSpPr/>
          <p:nvPr/>
        </p:nvSpPr>
        <p:spPr>
          <a:xfrm>
            <a:off x="6233144" y="2267712"/>
            <a:ext cx="5455904"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416024"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Medical imaging, concretely</a:t>
            </a:r>
          </a:p>
        </p:txBody>
      </p:sp>
      <p:sp>
        <p:nvSpPr>
          <p:cNvPr id="21" name="Rounded Rectangle 20"/>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DO THE SUM   </a:t>
            </a:r>
            <a:r>
              <a:rPr sz="1350" b="0" i="0">
                <a:solidFill>
                  <a:srgbClr val="1C2330"/>
                </a:solidFill>
                <a:latin typeface="Segoe UI"/>
              </a:rPr>
              <a:t>At ~10 minutes a scan, how long would labelling all 50,000 take one radiologist?</a:t>
            </a:r>
          </a:p>
        </p:txBody>
      </p:sp>
      <p:sp>
        <p:nvSpPr>
          <p:cNvPr id="22" name="Rectangle 21"/>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Three Paradigms Side by Side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8</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Same data, three different situations - decided entirely by which labels you happen to have.</a:t>
            </a:r>
          </a:p>
        </p:txBody>
      </p:sp>
      <p:graphicFrame>
        <p:nvGraphicFramePr>
          <p:cNvPr id="12" name="Table 11"/>
          <p:cNvGraphicFramePr>
            <a:graphicFrameLocks noGrp="1"/>
          </p:cNvGraphicFramePr>
          <p:nvPr/>
        </p:nvGraphicFramePr>
        <p:xfrm>
          <a:off x="502920" y="2267712"/>
          <a:ext cx="11186128" cy="3313554"/>
        </p:xfrm>
        <a:graphic>
          <a:graphicData uri="http://schemas.openxmlformats.org/drawingml/2006/table">
            <a:tbl>
              <a:tblPr>
                <a:tableStyleId>{5C22544A-7EE6-4342-B048-85BDC9FD1C3A}</a:tableStyleId>
              </a:tblPr>
              <a:tblGrid>
                <a:gridCol w="2083690">
                  <a:extLst>
                    <a:ext uri="{9D8B030D-6E8A-4147-A177-3AD203B41FA5}">
                      <a16:colId xmlns:a16="http://schemas.microsoft.com/office/drawing/2014/main" val="20000"/>
                    </a:ext>
                  </a:extLst>
                </a:gridCol>
                <a:gridCol w="2741698">
                  <a:extLst>
                    <a:ext uri="{9D8B030D-6E8A-4147-A177-3AD203B41FA5}">
                      <a16:colId xmlns:a16="http://schemas.microsoft.com/office/drawing/2014/main" val="20001"/>
                    </a:ext>
                  </a:extLst>
                </a:gridCol>
                <a:gridCol w="3180370">
                  <a:extLst>
                    <a:ext uri="{9D8B030D-6E8A-4147-A177-3AD203B41FA5}">
                      <a16:colId xmlns:a16="http://schemas.microsoft.com/office/drawing/2014/main" val="20002"/>
                    </a:ext>
                  </a:extLst>
                </a:gridCol>
                <a:gridCol w="3180370">
                  <a:extLst>
                    <a:ext uri="{9D8B030D-6E8A-4147-A177-3AD203B41FA5}">
                      <a16:colId xmlns:a16="http://schemas.microsoft.com/office/drawing/2014/main" val="20003"/>
                    </a:ext>
                  </a:extLst>
                </a:gridCol>
              </a:tblGrid>
              <a:tr h="438912">
                <a:tc>
                  <a:txBody>
                    <a:bodyPr/>
                    <a:lstStyle/>
                    <a:p>
                      <a:pPr>
                        <a:lnSpc>
                          <a:spcPct val="112000"/>
                        </a:lnSpc>
                        <a:spcAft>
                          <a:spcPts val="0"/>
                        </a:spcAft>
                      </a:pPr>
                      <a:endParaRPr/>
                    </a:p>
                  </a:txBody>
                  <a:tcPr marL="118872" marR="100584" marT="64008" marB="64008" anchor="ctr">
                    <a:solidFill>
                      <a:srgbClr val="182B49"/>
                    </a:solidFill>
                  </a:tcPr>
                </a:tc>
                <a:tc>
                  <a:txBody>
                    <a:bodyPr/>
                    <a:lstStyle/>
                    <a:p>
                      <a:pPr>
                        <a:lnSpc>
                          <a:spcPct val="112000"/>
                        </a:lnSpc>
                        <a:spcAft>
                          <a:spcPts val="0"/>
                        </a:spcAft>
                      </a:pPr>
                      <a:r>
                        <a:rPr sz="1200" b="1">
                          <a:solidFill>
                            <a:srgbClr val="FFFFFF"/>
                          </a:solidFill>
                          <a:latin typeface="Segoe UI Semibold"/>
                        </a:rPr>
                        <a:t>Supervised</a:t>
                      </a:r>
                    </a:p>
                  </a:txBody>
                  <a:tcPr marL="118872" marR="100584" marT="64008" marB="64008" anchor="ctr">
                    <a:solidFill>
                      <a:srgbClr val="182B49"/>
                    </a:solidFill>
                  </a:tcPr>
                </a:tc>
                <a:tc>
                  <a:txBody>
                    <a:bodyPr/>
                    <a:lstStyle/>
                    <a:p>
                      <a:pPr>
                        <a:lnSpc>
                          <a:spcPct val="112000"/>
                        </a:lnSpc>
                        <a:spcAft>
                          <a:spcPts val="0"/>
                        </a:spcAft>
                      </a:pPr>
                      <a:r>
                        <a:rPr sz="1200" b="1">
                          <a:solidFill>
                            <a:srgbClr val="FFFFFF"/>
                          </a:solidFill>
                          <a:latin typeface="Segoe UI Semibold"/>
                        </a:rPr>
                        <a:t>Unsupervised</a:t>
                      </a:r>
                    </a:p>
                  </a:txBody>
                  <a:tcPr marL="118872" marR="100584" marT="64008" marB="64008" anchor="ctr">
                    <a:solidFill>
                      <a:srgbClr val="182B49"/>
                    </a:solidFill>
                  </a:tcPr>
                </a:tc>
                <a:tc>
                  <a:txBody>
                    <a:bodyPr/>
                    <a:lstStyle/>
                    <a:p>
                      <a:pPr>
                        <a:lnSpc>
                          <a:spcPct val="112000"/>
                        </a:lnSpc>
                        <a:spcAft>
                          <a:spcPts val="0"/>
                        </a:spcAft>
                      </a:pPr>
                      <a:r>
                        <a:rPr sz="1200" b="1">
                          <a:solidFill>
                            <a:srgbClr val="FFFFFF"/>
                          </a:solidFill>
                          <a:latin typeface="Segoe UI Semibold"/>
                        </a:rPr>
                        <a:t>Semi-Supervised</a:t>
                      </a:r>
                    </a:p>
                  </a:txBody>
                  <a:tcPr marL="118872" marR="100584" marT="64008" marB="64008" anchor="ctr">
                    <a:solidFill>
                      <a:srgbClr val="182B49"/>
                    </a:solidFill>
                  </a:tcPr>
                </a:tc>
                <a:extLst>
                  <a:ext uri="{0D108BD9-81ED-4DB2-BD59-A6C34878D82A}">
                    <a16:rowId xmlns:a16="http://schemas.microsoft.com/office/drawing/2014/main" val="10000"/>
                  </a:ext>
                </a:extLst>
              </a:tr>
              <a:tr h="466343">
                <a:tc>
                  <a:txBody>
                    <a:bodyPr/>
                    <a:lstStyle/>
                    <a:p>
                      <a:pPr>
                        <a:lnSpc>
                          <a:spcPct val="112000"/>
                        </a:lnSpc>
                        <a:spcAft>
                          <a:spcPts val="0"/>
                        </a:spcAft>
                      </a:pPr>
                      <a:r>
                        <a:rPr sz="1150" b="1">
                          <a:solidFill>
                            <a:srgbClr val="182B49"/>
                          </a:solidFill>
                          <a:latin typeface="Segoe UI Semibold"/>
                        </a:rPr>
                        <a:t>Labels needed</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Every example</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None at all</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A small fraction</a:t>
                      </a:r>
                    </a:p>
                  </a:txBody>
                  <a:tcPr marL="118872" marR="100584" marT="64008" marB="64008" anchor="ctr">
                    <a:solidFill>
                      <a:srgbClr val="FFFFFF"/>
                    </a:solidFill>
                  </a:tcPr>
                </a:tc>
                <a:extLst>
                  <a:ext uri="{0D108BD9-81ED-4DB2-BD59-A6C34878D82A}">
                    <a16:rowId xmlns:a16="http://schemas.microsoft.com/office/drawing/2014/main" val="10001"/>
                  </a:ext>
                </a:extLst>
              </a:tr>
              <a:tr h="466343">
                <a:tc>
                  <a:txBody>
                    <a:bodyPr/>
                    <a:lstStyle/>
                    <a:p>
                      <a:pPr>
                        <a:lnSpc>
                          <a:spcPct val="112000"/>
                        </a:lnSpc>
                        <a:spcAft>
                          <a:spcPts val="0"/>
                        </a:spcAft>
                      </a:pPr>
                      <a:r>
                        <a:rPr sz="1150" b="1">
                          <a:solidFill>
                            <a:srgbClr val="182B49"/>
                          </a:solidFill>
                          <a:latin typeface="Segoe UI Semibold"/>
                        </a:rPr>
                        <a:t>The goal</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Predict a known target</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Discover unknown structure</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Predict, using structure to stretch few labels</a:t>
                      </a:r>
                    </a:p>
                  </a:txBody>
                  <a:tcPr marL="118872" marR="100584" marT="64008" marB="64008" anchor="ctr">
                    <a:solidFill>
                      <a:srgbClr val="F8FAFC"/>
                    </a:solidFill>
                  </a:tcPr>
                </a:tc>
                <a:extLst>
                  <a:ext uri="{0D108BD9-81ED-4DB2-BD59-A6C34878D82A}">
                    <a16:rowId xmlns:a16="http://schemas.microsoft.com/office/drawing/2014/main" val="10002"/>
                  </a:ext>
                </a:extLst>
              </a:tr>
              <a:tr h="466343">
                <a:tc>
                  <a:txBody>
                    <a:bodyPr/>
                    <a:lstStyle/>
                    <a:p>
                      <a:pPr>
                        <a:lnSpc>
                          <a:spcPct val="112000"/>
                        </a:lnSpc>
                        <a:spcAft>
                          <a:spcPts val="0"/>
                        </a:spcAft>
                      </a:pPr>
                      <a:r>
                        <a:rPr sz="1150" b="1">
                          <a:solidFill>
                            <a:srgbClr val="182B49"/>
                          </a:solidFill>
                          <a:latin typeface="Segoe UI Semibold"/>
                        </a:rPr>
                        <a:t>Typical output</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A class or a number</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Groups, components, outliers</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A class or a number</a:t>
                      </a:r>
                    </a:p>
                  </a:txBody>
                  <a:tcPr marL="118872" marR="100584" marT="64008" marB="64008" anchor="ctr">
                    <a:solidFill>
                      <a:srgbClr val="FFFFFF"/>
                    </a:solidFill>
                  </a:tcPr>
                </a:tc>
                <a:extLst>
                  <a:ext uri="{0D108BD9-81ED-4DB2-BD59-A6C34878D82A}">
                    <a16:rowId xmlns:a16="http://schemas.microsoft.com/office/drawing/2014/main" val="10003"/>
                  </a:ext>
                </a:extLst>
              </a:tr>
              <a:tr h="466343">
                <a:tc>
                  <a:txBody>
                    <a:bodyPr/>
                    <a:lstStyle/>
                    <a:p>
                      <a:pPr>
                        <a:lnSpc>
                          <a:spcPct val="112000"/>
                        </a:lnSpc>
                        <a:spcAft>
                          <a:spcPts val="0"/>
                        </a:spcAft>
                      </a:pPr>
                      <a:r>
                        <a:rPr sz="1150" b="1">
                          <a:solidFill>
                            <a:srgbClr val="182B49"/>
                          </a:solidFill>
                          <a:latin typeface="Segoe UI Semibold"/>
                        </a:rPr>
                        <a:t>Evaluation</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Direct: accuracy vs. truth</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Indirect: internal measures or human judgement</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Direct, on the labelled held-out part</a:t>
                      </a:r>
                    </a:p>
                  </a:txBody>
                  <a:tcPr marL="118872" marR="100584" marT="64008" marB="64008" anchor="ctr">
                    <a:solidFill>
                      <a:srgbClr val="F8FAFC"/>
                    </a:solidFill>
                  </a:tcPr>
                </a:tc>
                <a:extLst>
                  <a:ext uri="{0D108BD9-81ED-4DB2-BD59-A6C34878D82A}">
                    <a16:rowId xmlns:a16="http://schemas.microsoft.com/office/drawing/2014/main" val="10004"/>
                  </a:ext>
                </a:extLst>
              </a:tr>
              <a:tr h="466343">
                <a:tc>
                  <a:txBody>
                    <a:bodyPr/>
                    <a:lstStyle/>
                    <a:p>
                      <a:pPr>
                        <a:lnSpc>
                          <a:spcPct val="112000"/>
                        </a:lnSpc>
                        <a:spcAft>
                          <a:spcPts val="0"/>
                        </a:spcAft>
                      </a:pPr>
                      <a:r>
                        <a:rPr sz="1150" b="1">
                          <a:solidFill>
                            <a:srgbClr val="182B49"/>
                          </a:solidFill>
                          <a:latin typeface="Segoe UI Semibold"/>
                        </a:rPr>
                        <a:t>Cost driver</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Human labelling effort</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Compute and interpretation</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A little labelling, a lot of data</a:t>
                      </a:r>
                    </a:p>
                  </a:txBody>
                  <a:tcPr marL="118872" marR="100584" marT="64008" marB="64008" anchor="ctr">
                    <a:solidFill>
                      <a:srgbClr val="FFFFFF"/>
                    </a:solidFill>
                  </a:tcPr>
                </a:tc>
                <a:extLst>
                  <a:ext uri="{0D108BD9-81ED-4DB2-BD59-A6C34878D82A}">
                    <a16:rowId xmlns:a16="http://schemas.microsoft.com/office/drawing/2014/main" val="10005"/>
                  </a:ext>
                </a:extLst>
              </a:tr>
              <a:tr h="466343">
                <a:tc>
                  <a:txBody>
                    <a:bodyPr/>
                    <a:lstStyle/>
                    <a:p>
                      <a:pPr>
                        <a:lnSpc>
                          <a:spcPct val="112000"/>
                        </a:lnSpc>
                        <a:spcAft>
                          <a:spcPts val="0"/>
                        </a:spcAft>
                      </a:pPr>
                      <a:r>
                        <a:rPr sz="1150" b="1">
                          <a:solidFill>
                            <a:srgbClr val="182B49"/>
                          </a:solidFill>
                          <a:latin typeface="Segoe UI Semibold"/>
                        </a:rPr>
                        <a:t>Example</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Spam filter from labelled emails</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Grouping customers with no predefined segments</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Diagnosing scans from 300 annotated out of 50,000</a:t>
                      </a:r>
                    </a:p>
                  </a:txBody>
                  <a:tcPr marL="118872" marR="100584" marT="64008" marB="64008" anchor="ctr">
                    <a:solidFill>
                      <a:srgbClr val="F8FAFC"/>
                    </a:solidFill>
                  </a:tcPr>
                </a:tc>
                <a:extLst>
                  <a:ext uri="{0D108BD9-81ED-4DB2-BD59-A6C34878D82A}">
                    <a16:rowId xmlns:a16="http://schemas.microsoft.com/office/drawing/2014/main" val="10006"/>
                  </a:ext>
                </a:extLst>
              </a:tr>
            </a:tbl>
          </a:graphicData>
        </a:graphic>
      </p:graphicFrame>
      <p:sp>
        <p:nvSpPr>
          <p:cNvPr id="13" name="Rounded Rectangle 12"/>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ONE QUESTION   </a:t>
            </a:r>
            <a:r>
              <a:rPr sz="1350" b="0" i="0">
                <a:solidFill>
                  <a:srgbClr val="1C2330"/>
                </a:solidFill>
                <a:latin typeface="Segoe UI"/>
              </a:rPr>
              <a:t>Look at your own project data. Which row are you in - and how do you know?</a:t>
            </a:r>
          </a:p>
        </p:txBody>
      </p:sp>
      <p:sp>
        <p:nvSpPr>
          <p:cNvPr id="14" name="Rectangle 13"/>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Three Paradigms, Side by Side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9</a:t>
            </a:r>
          </a:p>
        </p:txBody>
      </p:sp>
      <p:pic>
        <p:nvPicPr>
          <p:cNvPr id="11" name="Picture 10" descr="i396_paradigms.png"/>
          <p:cNvPicPr>
            <a:picLocks noChangeAspect="1"/>
          </p:cNvPicPr>
          <p:nvPr/>
        </p:nvPicPr>
        <p:blipFill>
          <a:blip r:embed="rId2"/>
          <a:stretch>
            <a:fillRect/>
          </a:stretch>
        </p:blipFill>
        <p:spPr>
          <a:xfrm>
            <a:off x="502920" y="2353899"/>
            <a:ext cx="7272497" cy="2698840"/>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860"/>
              </a:spcAft>
            </a:pPr>
            <a:r>
              <a:rPr sz="1000" b="1" i="0">
                <a:solidFill>
                  <a:srgbClr val="0096C7"/>
                </a:solidFill>
                <a:latin typeface="Segoe UI Semibold"/>
              </a:rPr>
              <a:t>HOW TO READ THIS FIGURE</a:t>
            </a:r>
          </a:p>
          <a:p>
            <a:pPr algn="l">
              <a:lnSpc>
                <a:spcPct val="114000"/>
              </a:lnSpc>
              <a:spcBef>
                <a:spcPts val="760"/>
              </a:spcBef>
              <a:spcAft>
                <a:spcPts val="0"/>
              </a:spcAft>
            </a:pPr>
            <a:r>
              <a:rPr sz="1190" b="1" i="0">
                <a:solidFill>
                  <a:srgbClr val="182B49"/>
                </a:solidFill>
                <a:latin typeface="Segoe UI Semibold"/>
              </a:rPr>
              <a:t>Left - supervised  </a:t>
            </a:r>
            <a:r>
              <a:rPr sz="1190" b="0" i="0">
                <a:solidFill>
                  <a:srgbClr val="1C2330"/>
                </a:solidFill>
                <a:latin typeface="Segoe UI"/>
              </a:rPr>
              <a:t>every point carries its label. Shape and colour = the class you were told.</a:t>
            </a:r>
          </a:p>
          <a:p>
            <a:pPr algn="l">
              <a:lnSpc>
                <a:spcPct val="114000"/>
              </a:lnSpc>
              <a:spcBef>
                <a:spcPts val="760"/>
              </a:spcBef>
              <a:spcAft>
                <a:spcPts val="0"/>
              </a:spcAft>
            </a:pPr>
            <a:r>
              <a:rPr sz="1190" b="1" i="0">
                <a:solidFill>
                  <a:srgbClr val="182B49"/>
                </a:solidFill>
                <a:latin typeface="Segoe UI Semibold"/>
              </a:rPr>
              <a:t>Middle - unsupervised  </a:t>
            </a:r>
            <a:r>
              <a:rPr sz="1190" b="0" i="0">
                <a:solidFill>
                  <a:srgbClr val="1C2330"/>
                </a:solidFill>
                <a:latin typeface="Segoe UI"/>
              </a:rPr>
              <a:t>identical points, all grey. Nobody told you anything.</a:t>
            </a:r>
          </a:p>
          <a:p>
            <a:pPr algn="l">
              <a:lnSpc>
                <a:spcPct val="114000"/>
              </a:lnSpc>
              <a:spcBef>
                <a:spcPts val="760"/>
              </a:spcBef>
              <a:spcAft>
                <a:spcPts val="0"/>
              </a:spcAft>
            </a:pPr>
            <a:r>
              <a:rPr sz="1190" b="1" i="0">
                <a:solidFill>
                  <a:srgbClr val="182B49"/>
                </a:solidFill>
                <a:latin typeface="Segoe UI Semibold"/>
              </a:rPr>
              <a:t>Right - semi-supervised  </a:t>
            </a:r>
            <a:r>
              <a:rPr sz="1190" b="0" i="0">
                <a:solidFill>
                  <a:srgbClr val="1C2330"/>
                </a:solidFill>
                <a:latin typeface="Segoe UI"/>
              </a:rPr>
              <a:t>a handful of labelled points against a crowd of unlabelled ones.</a:t>
            </a:r>
          </a:p>
          <a:p>
            <a:pPr algn="l">
              <a:lnSpc>
                <a:spcPct val="114000"/>
              </a:lnSpc>
              <a:spcBef>
                <a:spcPts val="760"/>
              </a:spcBef>
              <a:spcAft>
                <a:spcPts val="0"/>
              </a:spcAft>
            </a:pPr>
            <a:r>
              <a:rPr sz="1190" b="1" i="0">
                <a:solidFill>
                  <a:srgbClr val="182B49"/>
                </a:solidFill>
                <a:latin typeface="Segoe UI Semibold"/>
              </a:rPr>
              <a:t>The data is the same  </a:t>
            </a:r>
            <a:r>
              <a:rPr sz="1190" b="0" i="0">
                <a:solidFill>
                  <a:srgbClr val="1C2330"/>
                </a:solidFill>
                <a:latin typeface="Segoe UI"/>
              </a:rPr>
              <a:t>in all three panels. Only the LABELS differ.</a:t>
            </a:r>
          </a:p>
          <a:p>
            <a:pPr algn="l">
              <a:lnSpc>
                <a:spcPct val="114000"/>
              </a:lnSpc>
              <a:spcBef>
                <a:spcPts val="760"/>
              </a:spcBef>
              <a:spcAft>
                <a:spcPts val="0"/>
              </a:spcAft>
            </a:pPr>
            <a:r>
              <a:rPr sz="1190" b="1" i="0">
                <a:solidFill>
                  <a:srgbClr val="182B49"/>
                </a:solidFill>
                <a:latin typeface="Segoe UI Semibold"/>
              </a:rPr>
              <a:t>Which is why  </a:t>
            </a:r>
            <a:r>
              <a:rPr sz="1190" b="0" i="0">
                <a:solidFill>
                  <a:srgbClr val="1C2330"/>
                </a:solidFill>
                <a:latin typeface="Segoe UI"/>
              </a:rPr>
              <a:t>the paradigm is decided by what labels you happen to have - not by the algorithm you prefer.</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Same points, three panels. The paradigm is a property of your labels, not of your data.</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200" b="1" i="0">
                <a:solidFill>
                  <a:srgbClr val="FFFFFF"/>
                </a:solidFill>
                <a:latin typeface="Segoe UI Semibold"/>
              </a:rPr>
              <a:t>A Note on the Fourth Paradigm: Reinforcement Learning</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10</a:t>
            </a:r>
          </a:p>
        </p:txBody>
      </p:sp>
      <p:sp>
        <p:nvSpPr>
          <p:cNvPr id="11" name="Rounded Rectangle 10"/>
          <p:cNvSpPr/>
          <p:nvPr/>
        </p:nvSpPr>
        <p:spPr>
          <a:xfrm>
            <a:off x="7757129" y="1792224"/>
            <a:ext cx="3931920" cy="928298"/>
          </a:xfrm>
          <a:prstGeom prst="roundRect">
            <a:avLst>
              <a:gd name="adj" fmla="val 9000"/>
            </a:avLst>
          </a:prstGeom>
          <a:solidFill>
            <a:srgbClr val="DBF0F7"/>
          </a:solidFill>
          <a:ln w="2667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5000"/>
              </a:lnSpc>
              <a:spcBef>
                <a:spcPts val="0"/>
              </a:spcBef>
              <a:spcAft>
                <a:spcPts val="0"/>
              </a:spcAft>
            </a:pPr>
            <a:r>
              <a:rPr sz="1250" b="1" i="0">
                <a:solidFill>
                  <a:srgbClr val="0096C7"/>
                </a:solidFill>
                <a:latin typeface="Segoe UI Semibold"/>
              </a:rPr>
              <a:t>AGENT</a:t>
            </a:r>
          </a:p>
          <a:p>
            <a:pPr algn="ctr">
              <a:lnSpc>
                <a:spcPct val="110000"/>
              </a:lnSpc>
              <a:spcBef>
                <a:spcPts val="300"/>
              </a:spcBef>
              <a:spcAft>
                <a:spcPts val="0"/>
              </a:spcAft>
            </a:pPr>
            <a:r>
              <a:rPr sz="950" b="0" i="0">
                <a:solidFill>
                  <a:srgbClr val="586476"/>
                </a:solidFill>
                <a:latin typeface="Segoe UI"/>
              </a:rPr>
              <a:t>chooses an action</a:t>
            </a:r>
          </a:p>
        </p:txBody>
      </p:sp>
      <p:sp>
        <p:nvSpPr>
          <p:cNvPr id="12" name="Rounded Rectangle 11"/>
          <p:cNvSpPr/>
          <p:nvPr/>
        </p:nvSpPr>
        <p:spPr>
          <a:xfrm>
            <a:off x="7757129" y="4302069"/>
            <a:ext cx="3931920" cy="928298"/>
          </a:xfrm>
          <a:prstGeom prst="roundRect">
            <a:avLst>
              <a:gd name="adj" fmla="val 9000"/>
            </a:avLst>
          </a:prstGeom>
          <a:solidFill>
            <a:srgbClr val="DDECE4"/>
          </a:solidFill>
          <a:ln w="2667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05000"/>
              </a:lnSpc>
              <a:spcBef>
                <a:spcPts val="0"/>
              </a:spcBef>
              <a:spcAft>
                <a:spcPts val="0"/>
              </a:spcAft>
            </a:pPr>
            <a:r>
              <a:rPr sz="1250" b="1" i="0">
                <a:solidFill>
                  <a:srgbClr val="107C41"/>
                </a:solidFill>
                <a:latin typeface="Segoe UI Semibold"/>
              </a:rPr>
              <a:t>ENVIRONMENT</a:t>
            </a:r>
          </a:p>
          <a:p>
            <a:pPr algn="ctr">
              <a:lnSpc>
                <a:spcPct val="110000"/>
              </a:lnSpc>
              <a:spcBef>
                <a:spcPts val="300"/>
              </a:spcBef>
              <a:spcAft>
                <a:spcPts val="0"/>
              </a:spcAft>
            </a:pPr>
            <a:r>
              <a:rPr sz="950" b="0" i="0">
                <a:solidFill>
                  <a:srgbClr val="586476"/>
                </a:solidFill>
                <a:latin typeface="Segoe UI"/>
              </a:rPr>
              <a:t>everything outside the agent</a:t>
            </a:r>
          </a:p>
        </p:txBody>
      </p:sp>
      <p:cxnSp>
        <p:nvCxnSpPr>
          <p:cNvPr id="13" name="Connector 12"/>
          <p:cNvCxnSpPr/>
          <p:nvPr/>
        </p:nvCxnSpPr>
        <p:spPr>
          <a:xfrm>
            <a:off x="11059942" y="2775386"/>
            <a:ext cx="0" cy="1471819"/>
          </a:xfrm>
          <a:prstGeom prst="line">
            <a:avLst/>
          </a:prstGeom>
          <a:ln w="29209">
            <a:solidFill>
              <a:srgbClr val="ED77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386236" y="2775386"/>
            <a:ext cx="0" cy="1471819"/>
          </a:xfrm>
          <a:prstGeom prst="line">
            <a:avLst/>
          </a:prstGeom>
          <a:ln w="29209">
            <a:solidFill>
              <a:srgbClr val="5864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57129" y="2907791"/>
            <a:ext cx="3193084" cy="402336"/>
          </a:xfrm>
          <a:prstGeom prst="rect">
            <a:avLst/>
          </a:prstGeom>
          <a:noFill/>
        </p:spPr>
        <p:txBody>
          <a:bodyPr wrap="square" lIns="0" tIns="0" rIns="0" bIns="0" anchor="t">
            <a:spAutoFit/>
          </a:bodyPr>
          <a:lstStyle/>
          <a:p>
            <a:pPr algn="r">
              <a:lnSpc>
                <a:spcPct val="115000"/>
              </a:lnSpc>
              <a:spcBef>
                <a:spcPts val="0"/>
              </a:spcBef>
              <a:spcAft>
                <a:spcPts val="0"/>
              </a:spcAft>
            </a:pPr>
            <a:r>
              <a:rPr sz="1150" b="1" i="0">
                <a:solidFill>
                  <a:srgbClr val="ED771F"/>
                </a:solidFill>
                <a:latin typeface="Segoe UI Semibold"/>
              </a:rPr>
              <a:t>action  aₜ</a:t>
            </a:r>
          </a:p>
        </p:txBody>
      </p:sp>
      <p:sp>
        <p:nvSpPr>
          <p:cNvPr id="16" name="TextBox 15"/>
          <p:cNvSpPr txBox="1"/>
          <p:nvPr/>
        </p:nvSpPr>
        <p:spPr>
          <a:xfrm>
            <a:off x="8495964" y="3566160"/>
            <a:ext cx="3193084" cy="512064"/>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182B49"/>
                </a:solidFill>
                <a:latin typeface="Segoe UI Semibold"/>
              </a:rPr>
              <a:t>state sₜ₊₁   +   reward rₜ</a:t>
            </a:r>
          </a:p>
        </p:txBody>
      </p:sp>
      <p:sp>
        <p:nvSpPr>
          <p:cNvPr id="17" name="TextBox 16"/>
          <p:cNvSpPr txBox="1"/>
          <p:nvPr/>
        </p:nvSpPr>
        <p:spPr>
          <a:xfrm>
            <a:off x="8495964" y="3968496"/>
            <a:ext cx="3193084" cy="256032"/>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586476"/>
                </a:solidFill>
                <a:latin typeface="Segoe UI"/>
              </a:rPr>
              <a:t>both on the same arrow</a:t>
            </a:r>
          </a:p>
        </p:txBody>
      </p:sp>
      <p:sp>
        <p:nvSpPr>
          <p:cNvPr id="18" name="TextBox 17"/>
          <p:cNvSpPr txBox="1"/>
          <p:nvPr/>
        </p:nvSpPr>
        <p:spPr>
          <a:xfrm>
            <a:off x="7757129" y="5248655"/>
            <a:ext cx="3931920" cy="274320"/>
          </a:xfrm>
          <a:prstGeom prst="rect">
            <a:avLst/>
          </a:prstGeom>
          <a:noFill/>
        </p:spPr>
        <p:txBody>
          <a:bodyPr wrap="square" lIns="0" tIns="0" rIns="0" bIns="0" anchor="t">
            <a:spAutoFit/>
          </a:bodyPr>
          <a:lstStyle/>
          <a:p>
            <a:pPr algn="ctr">
              <a:lnSpc>
                <a:spcPct val="115000"/>
              </a:lnSpc>
              <a:spcBef>
                <a:spcPts val="0"/>
              </a:spcBef>
              <a:spcAft>
                <a:spcPts val="0"/>
              </a:spcAft>
            </a:pPr>
            <a:r>
              <a:rPr sz="1050" b="0" i="1">
                <a:solidFill>
                  <a:srgbClr val="586476"/>
                </a:solidFill>
                <a:latin typeface="Segoe UI"/>
              </a:rPr>
              <a:t>the reward comes FROM the environment</a:t>
            </a:r>
          </a:p>
        </p:txBody>
      </p:sp>
      <p:sp>
        <p:nvSpPr>
          <p:cNvPr id="19" name="Rounded Rectangle 18"/>
          <p:cNvSpPr/>
          <p:nvPr/>
        </p:nvSpPr>
        <p:spPr>
          <a:xfrm>
            <a:off x="502920" y="1792224"/>
            <a:ext cx="6998177" cy="3712463"/>
          </a:xfrm>
          <a:prstGeom prst="roundRect">
            <a:avLst>
              <a:gd name="adj" fmla="val 3500"/>
            </a:avLst>
          </a:prstGeom>
          <a:solidFill>
            <a:srgbClr val="FEF3E0"/>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180" b="1" i="0">
                <a:solidFill>
                  <a:srgbClr val="D97706"/>
                </a:solidFill>
                <a:latin typeface="Segoe UI Semibold"/>
              </a:rPr>
              <a:t>What it is  </a:t>
            </a:r>
            <a:r>
              <a:rPr sz="1180" b="0" i="0">
                <a:solidFill>
                  <a:srgbClr val="1C2330"/>
                </a:solidFill>
                <a:latin typeface="Segoe UI"/>
              </a:rPr>
              <a:t>an agent takes actions in an environment and receives REWARDS or penalties. It learns a policy that maximises reward over time.</a:t>
            </a:r>
          </a:p>
          <a:p>
            <a:pPr algn="l">
              <a:lnSpc>
                <a:spcPct val="120000"/>
              </a:lnSpc>
              <a:spcBef>
                <a:spcPts val="790"/>
              </a:spcBef>
              <a:spcAft>
                <a:spcPts val="0"/>
              </a:spcAft>
            </a:pPr>
            <a:r>
              <a:rPr sz="1180" b="1" i="0">
                <a:solidFill>
                  <a:srgbClr val="D97706"/>
                </a:solidFill>
                <a:latin typeface="Segoe UI Semibold"/>
              </a:rPr>
              <a:t>Why it is not unsupervised  </a:t>
            </a:r>
            <a:r>
              <a:rPr sz="1180" b="0" i="0">
                <a:solidFill>
                  <a:srgbClr val="1C2330"/>
                </a:solidFill>
                <a:latin typeface="Segoe UI"/>
              </a:rPr>
              <a:t>there IS a signal - the reward. It is just delayed, sparse and evaluative rather than a per-example label.</a:t>
            </a:r>
          </a:p>
          <a:p>
            <a:pPr algn="l">
              <a:lnSpc>
                <a:spcPct val="120000"/>
              </a:lnSpc>
              <a:spcBef>
                <a:spcPts val="790"/>
              </a:spcBef>
              <a:spcAft>
                <a:spcPts val="0"/>
              </a:spcAft>
            </a:pPr>
            <a:r>
              <a:rPr sz="1180" b="1" i="0">
                <a:solidFill>
                  <a:srgbClr val="D97706"/>
                </a:solidFill>
                <a:latin typeface="Segoe UI Semibold"/>
              </a:rPr>
              <a:t>Why it is not supervised  </a:t>
            </a:r>
            <a:r>
              <a:rPr sz="1180" b="0" i="0">
                <a:solidFill>
                  <a:srgbClr val="1C2330"/>
                </a:solidFill>
                <a:latin typeface="Segoe UI"/>
              </a:rPr>
              <a:t>nobody tells you the correct action. You are told how good the outcome was, AFTER the fact, sometimes much later.</a:t>
            </a:r>
          </a:p>
          <a:p>
            <a:pPr algn="l">
              <a:lnSpc>
                <a:spcPct val="120000"/>
              </a:lnSpc>
              <a:spcBef>
                <a:spcPts val="790"/>
              </a:spcBef>
              <a:spcAft>
                <a:spcPts val="0"/>
              </a:spcAft>
            </a:pPr>
            <a:r>
              <a:rPr sz="1180" b="1" i="0">
                <a:solidFill>
                  <a:srgbClr val="D97706"/>
                </a:solidFill>
                <a:latin typeface="Segoe UI Semibold"/>
              </a:rPr>
              <a:t>The one-line distinction  </a:t>
            </a:r>
            <a:r>
              <a:rPr sz="1180" b="0" i="0">
                <a:solidFill>
                  <a:srgbClr val="1C2330"/>
                </a:solidFill>
                <a:latin typeface="Segoe UI"/>
              </a:rPr>
              <a:t>supervised = 'the answer was cat'. reinforcement = 'that went badly'. unsupervised = silence.</a:t>
            </a:r>
          </a:p>
          <a:p>
            <a:pPr algn="l">
              <a:lnSpc>
                <a:spcPct val="120000"/>
              </a:lnSpc>
              <a:spcBef>
                <a:spcPts val="790"/>
              </a:spcBef>
              <a:spcAft>
                <a:spcPts val="0"/>
              </a:spcAft>
            </a:pPr>
            <a:r>
              <a:rPr sz="1180" b="1" i="0">
                <a:solidFill>
                  <a:srgbClr val="D97706"/>
                </a:solidFill>
                <a:latin typeface="Segoe UI Semibold"/>
              </a:rPr>
              <a:t>Where you will meet it  </a:t>
            </a:r>
            <a:r>
              <a:rPr sz="1180" b="0" i="0">
                <a:solidFill>
                  <a:srgbClr val="1C2330"/>
                </a:solidFill>
                <a:latin typeface="Segoe UI"/>
              </a:rPr>
              <a:t>game playing, robotics, recommendation, resource scheduling. Not in this course - but do not confuse it with unsupervised learning in an exam.</a:t>
            </a:r>
          </a:p>
        </p:txBody>
      </p:sp>
      <p:sp>
        <p:nvSpPr>
          <p:cNvPr id="20" name="Rectangle 19"/>
          <p:cNvSpPr/>
          <p:nvPr/>
        </p:nvSpPr>
        <p:spPr>
          <a:xfrm>
            <a:off x="502920" y="1792224"/>
            <a:ext cx="6998177" cy="42062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04088" y="1883664"/>
            <a:ext cx="6540977"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EXAM TIP   ·   </a:t>
            </a:r>
            <a:r>
              <a:rPr sz="1400" b="1" i="0">
                <a:solidFill>
                  <a:srgbClr val="FFFFFF"/>
                </a:solidFill>
                <a:latin typeface="Segoe UI Semibold"/>
              </a:rPr>
              <a:t>Not on this syllabus - but you should know why it is different</a:t>
            </a:r>
          </a:p>
        </p:txBody>
      </p:sp>
      <p:sp>
        <p:nvSpPr>
          <p:cNvPr id="22" name="Rounded Rectangle 21"/>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SORT THEM   </a:t>
            </a:r>
            <a:r>
              <a:rPr sz="1350" b="0" i="0">
                <a:solidFill>
                  <a:srgbClr val="1C2330"/>
                </a:solidFill>
                <a:latin typeface="Segoe UI"/>
              </a:rPr>
              <a:t>'the answer was cat' / 'that went badly' / silence - which is which?</a:t>
            </a:r>
          </a:p>
        </p:txBody>
      </p:sp>
      <p:sp>
        <p:nvSpPr>
          <p:cNvPr id="23" name="Rectangle 22"/>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1.1 LEARNING PARADIGMS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What Each Paradigm Needs, as a Venn Diagram</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11</a:t>
            </a:r>
          </a:p>
        </p:txBody>
      </p:sp>
      <p:pic>
        <p:nvPicPr>
          <p:cNvPr id="11" name="Picture 10" descr="i396_venn.png"/>
          <p:cNvPicPr>
            <a:picLocks noChangeAspect="1"/>
          </p:cNvPicPr>
          <p:nvPr/>
        </p:nvPicPr>
        <p:blipFill>
          <a:blip r:embed="rId2"/>
          <a:stretch>
            <a:fillRect/>
          </a:stretch>
        </p:blipFill>
        <p:spPr>
          <a:xfrm>
            <a:off x="508086" y="1792224"/>
            <a:ext cx="7262164" cy="3822191"/>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900"/>
              </a:spcAft>
            </a:pPr>
            <a:r>
              <a:rPr sz="1050" b="1" i="0">
                <a:solidFill>
                  <a:srgbClr val="0096C7"/>
                </a:solidFill>
                <a:latin typeface="Segoe UI Semibold"/>
              </a:rPr>
              <a:t>HOW TO READ THIS FIGURE</a:t>
            </a:r>
          </a:p>
          <a:p>
            <a:pPr algn="l">
              <a:lnSpc>
                <a:spcPct val="114000"/>
              </a:lnSpc>
              <a:spcBef>
                <a:spcPts val="800"/>
              </a:spcBef>
              <a:spcAft>
                <a:spcPts val="0"/>
              </a:spcAft>
            </a:pPr>
            <a:r>
              <a:rPr sz="1250" b="1" i="0">
                <a:solidFill>
                  <a:srgbClr val="182B49"/>
                </a:solidFill>
                <a:latin typeface="Segoe UI Semibold"/>
              </a:rPr>
              <a:t>The overlap is the point  </a:t>
            </a:r>
            <a:r>
              <a:rPr sz="1250" b="0" i="0">
                <a:solidFill>
                  <a:srgbClr val="1C2330"/>
                </a:solidFill>
                <a:latin typeface="Segoe UI"/>
              </a:rPr>
              <a:t>semi-supervised is not a third thing - it is genuinely both at once.</a:t>
            </a:r>
          </a:p>
          <a:p>
            <a:pPr algn="l">
              <a:lnSpc>
                <a:spcPct val="114000"/>
              </a:lnSpc>
              <a:spcBef>
                <a:spcPts val="800"/>
              </a:spcBef>
              <a:spcAft>
                <a:spcPts val="0"/>
              </a:spcAft>
            </a:pPr>
            <a:r>
              <a:rPr sz="1250" b="1" i="0">
                <a:solidFill>
                  <a:srgbClr val="182B49"/>
                </a:solidFill>
                <a:latin typeface="Segoe UI Semibold"/>
              </a:rPr>
              <a:t>From the unsupervised side  </a:t>
            </a:r>
            <a:r>
              <a:rPr sz="1250" b="0" i="0">
                <a:solidFill>
                  <a:srgbClr val="1C2330"/>
                </a:solidFill>
                <a:latin typeface="Segoe UI"/>
              </a:rPr>
              <a:t>it uses all the unlabelled data to learn the SHAPE.</a:t>
            </a:r>
          </a:p>
          <a:p>
            <a:pPr algn="l">
              <a:lnSpc>
                <a:spcPct val="114000"/>
              </a:lnSpc>
              <a:spcBef>
                <a:spcPts val="800"/>
              </a:spcBef>
              <a:spcAft>
                <a:spcPts val="0"/>
              </a:spcAft>
            </a:pPr>
            <a:r>
              <a:rPr sz="1250" b="1" i="0">
                <a:solidFill>
                  <a:srgbClr val="182B49"/>
                </a:solidFill>
                <a:latin typeface="Segoe UI Semibold"/>
              </a:rPr>
              <a:t>From the supervised side  </a:t>
            </a:r>
            <a:r>
              <a:rPr sz="1250" b="0" i="0">
                <a:solidFill>
                  <a:srgbClr val="1C2330"/>
                </a:solidFill>
                <a:latin typeface="Segoe UI"/>
              </a:rPr>
              <a:t>it uses the few labels to attach MEANING to that shape.</a:t>
            </a:r>
          </a:p>
          <a:p>
            <a:pPr algn="l">
              <a:lnSpc>
                <a:spcPct val="114000"/>
              </a:lnSpc>
              <a:spcBef>
                <a:spcPts val="800"/>
              </a:spcBef>
              <a:spcAft>
                <a:spcPts val="0"/>
              </a:spcAft>
            </a:pPr>
            <a:r>
              <a:rPr sz="1250" b="1" i="0">
                <a:solidFill>
                  <a:srgbClr val="182B49"/>
                </a:solidFill>
                <a:latin typeface="Segoe UI Semibold"/>
              </a:rPr>
              <a:t>Core assumption  </a:t>
            </a:r>
            <a:r>
              <a:rPr sz="1250" b="0" i="0">
                <a:solidFill>
                  <a:srgbClr val="1C2330"/>
                </a:solidFill>
                <a:latin typeface="Segoe UI"/>
              </a:rPr>
              <a:t>points close together in feature space probably share a label.</a:t>
            </a:r>
          </a:p>
          <a:p>
            <a:pPr algn="l">
              <a:lnSpc>
                <a:spcPct val="114000"/>
              </a:lnSpc>
              <a:spcBef>
                <a:spcPts val="800"/>
              </a:spcBef>
              <a:spcAft>
                <a:spcPts val="0"/>
              </a:spcAft>
            </a:pPr>
            <a:r>
              <a:rPr sz="1250" b="1" i="0">
                <a:solidFill>
                  <a:srgbClr val="182B49"/>
                </a:solidFill>
                <a:latin typeface="Segoe UI Semibold"/>
              </a:rPr>
              <a:t>Why it matters  </a:t>
            </a:r>
            <a:r>
              <a:rPr sz="1250" b="0" i="0">
                <a:solidFill>
                  <a:srgbClr val="1C2330"/>
                </a:solidFill>
                <a:latin typeface="Segoe UI"/>
              </a:rPr>
              <a:t>in industry this overlap is the normal situation, not the exception.</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Structure from the many, meaning from the few. That division of labour is what semi-supervised buys you.</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CLASSIFICATION DRILL</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Which Paradigm? Four Real Problems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12</a:t>
            </a:r>
          </a:p>
        </p:txBody>
      </p:sp>
      <p:sp>
        <p:nvSpPr>
          <p:cNvPr id="11" name="TextBox 10"/>
          <p:cNvSpPr txBox="1"/>
          <p:nvPr/>
        </p:nvSpPr>
        <p:spPr>
          <a:xfrm>
            <a:off x="502920" y="5303520"/>
            <a:ext cx="37033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THE TELL</a:t>
            </a:r>
          </a:p>
        </p:txBody>
      </p:sp>
      <p:sp>
        <p:nvSpPr>
          <p:cNvPr id="12" name="Rounded Rectangle 11"/>
          <p:cNvSpPr/>
          <p:nvPr/>
        </p:nvSpPr>
        <p:spPr>
          <a:xfrm>
            <a:off x="502920" y="5596128"/>
            <a:ext cx="857250" cy="731519"/>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190"/>
              </a:spcAft>
            </a:pPr>
            <a:r>
              <a:rPr sz="1070" b="1" i="0">
                <a:solidFill>
                  <a:srgbClr val="0096C7"/>
                </a:solidFill>
                <a:latin typeface="Segoe UI Semibold"/>
              </a:rPr>
              <a:t>S</a:t>
            </a:r>
          </a:p>
          <a:p>
            <a:pPr algn="ctr">
              <a:lnSpc>
                <a:spcPct val="108000"/>
              </a:lnSpc>
              <a:spcBef>
                <a:spcPts val="0"/>
              </a:spcBef>
              <a:spcAft>
                <a:spcPts val="0"/>
              </a:spcAft>
            </a:pPr>
            <a:r>
              <a:rPr sz="830" b="0" i="0">
                <a:solidFill>
                  <a:srgbClr val="1C2330"/>
                </a:solidFill>
                <a:latin typeface="Segoe UI"/>
              </a:rPr>
              <a:t>labels present and complete</a:t>
            </a:r>
          </a:p>
        </p:txBody>
      </p:sp>
      <p:sp>
        <p:nvSpPr>
          <p:cNvPr id="13" name="Rounded Rectangle 12"/>
          <p:cNvSpPr/>
          <p:nvPr/>
        </p:nvSpPr>
        <p:spPr>
          <a:xfrm>
            <a:off x="1451610" y="5596128"/>
            <a:ext cx="857250" cy="731519"/>
          </a:xfrm>
          <a:prstGeom prst="roundRect">
            <a:avLst>
              <a:gd name="adj" fmla="val 8000"/>
            </a:avLst>
          </a:prstGeom>
          <a:solidFill>
            <a:srgbClr val="F1EEF6"/>
          </a:solidFill>
          <a:ln w="1778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200"/>
              </a:spcAft>
            </a:pPr>
            <a:r>
              <a:rPr sz="1100" b="1" i="0">
                <a:solidFill>
                  <a:srgbClr val="5C2D91"/>
                </a:solidFill>
                <a:latin typeface="Segoe UI Semibold"/>
              </a:rPr>
              <a:t>U</a:t>
            </a:r>
          </a:p>
          <a:p>
            <a:pPr algn="ctr">
              <a:lnSpc>
                <a:spcPct val="108000"/>
              </a:lnSpc>
              <a:spcBef>
                <a:spcPts val="0"/>
              </a:spcBef>
              <a:spcAft>
                <a:spcPts val="0"/>
              </a:spcAft>
            </a:pPr>
            <a:r>
              <a:rPr sz="850" b="0" i="0">
                <a:solidFill>
                  <a:srgbClr val="1C2330"/>
                </a:solidFill>
                <a:latin typeface="Segoe UI"/>
              </a:rPr>
              <a:t>no target column at all</a:t>
            </a:r>
          </a:p>
        </p:txBody>
      </p:sp>
      <p:sp>
        <p:nvSpPr>
          <p:cNvPr id="14" name="Rounded Rectangle 13"/>
          <p:cNvSpPr/>
          <p:nvPr/>
        </p:nvSpPr>
        <p:spPr>
          <a:xfrm>
            <a:off x="2400300" y="5596128"/>
            <a:ext cx="857250" cy="731519"/>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190"/>
              </a:spcAft>
            </a:pPr>
            <a:r>
              <a:rPr sz="1070" b="1" i="0">
                <a:solidFill>
                  <a:srgbClr val="107C41"/>
                </a:solidFill>
                <a:latin typeface="Segoe UI Semibold"/>
              </a:rPr>
              <a:t>SS</a:t>
            </a:r>
          </a:p>
          <a:p>
            <a:pPr algn="ctr">
              <a:lnSpc>
                <a:spcPct val="108000"/>
              </a:lnSpc>
              <a:spcBef>
                <a:spcPts val="0"/>
              </a:spcBef>
              <a:spcAft>
                <a:spcPts val="0"/>
              </a:spcAft>
            </a:pPr>
            <a:r>
              <a:rPr sz="830" b="0" i="0">
                <a:solidFill>
                  <a:srgbClr val="1C2330"/>
                </a:solidFill>
                <a:latin typeface="Segoe UI"/>
              </a:rPr>
              <a:t>a few labels, lots of raw data</a:t>
            </a:r>
          </a:p>
        </p:txBody>
      </p:sp>
      <p:sp>
        <p:nvSpPr>
          <p:cNvPr id="15" name="Rounded Rectangle 14"/>
          <p:cNvSpPr/>
          <p:nvPr/>
        </p:nvSpPr>
        <p:spPr>
          <a:xfrm>
            <a:off x="3348990" y="5596128"/>
            <a:ext cx="857250" cy="731519"/>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160"/>
              </a:spcAft>
            </a:pPr>
            <a:r>
              <a:rPr sz="880" b="1" i="0">
                <a:solidFill>
                  <a:srgbClr val="D97706"/>
                </a:solidFill>
                <a:latin typeface="Segoe UI Semibold"/>
              </a:rPr>
              <a:t>?</a:t>
            </a:r>
          </a:p>
          <a:p>
            <a:pPr algn="ctr">
              <a:lnSpc>
                <a:spcPct val="108000"/>
              </a:lnSpc>
              <a:spcBef>
                <a:spcPts val="0"/>
              </a:spcBef>
              <a:spcAft>
                <a:spcPts val="0"/>
              </a:spcAft>
            </a:pPr>
            <a:r>
              <a:rPr sz="750" b="0" i="0">
                <a:solidFill>
                  <a:srgbClr val="1C2330"/>
                </a:solidFill>
                <a:latin typeface="Segoe UI"/>
              </a:rPr>
              <a:t>always look at the spreadsheet first</a:t>
            </a:r>
          </a:p>
        </p:txBody>
      </p:sp>
      <p:sp>
        <p:nvSpPr>
          <p:cNvPr id="16" name="Rounded Rectangle 15"/>
          <p:cNvSpPr/>
          <p:nvPr/>
        </p:nvSpPr>
        <p:spPr>
          <a:xfrm>
            <a:off x="502920" y="1792224"/>
            <a:ext cx="3703320" cy="1730776"/>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19456" tIns="219456" rIns="182880" bIns="0" rtlCol="0" anchor="t"/>
          <a:lstStyle/>
          <a:p>
            <a:pPr algn="l">
              <a:lnSpc>
                <a:spcPct val="115000"/>
              </a:lnSpc>
              <a:spcBef>
                <a:spcPts val="0"/>
              </a:spcBef>
              <a:spcAft>
                <a:spcPts val="600"/>
              </a:spcAft>
            </a:pPr>
            <a:r>
              <a:rPr sz="750" b="1" i="0">
                <a:solidFill>
                  <a:srgbClr val="0096C7"/>
                </a:solidFill>
                <a:latin typeface="Segoe UI Semibold"/>
              </a:rPr>
              <a:t>THE PROBLEM</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A bank wants to know which loan applicants will default, from 40,000 past applications with known outcomes</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An e-commerce site wants to find natural customer groups - it has no idea how many groups exist</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A hospital has 50,000 scans, of which 300 are annotated</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A telecom company wants to find SIM cards behaving unlike any other SIM card on the network</a:t>
            </a:r>
          </a:p>
        </p:txBody>
      </p:sp>
      <p:sp>
        <p:nvSpPr>
          <p:cNvPr id="17" name="Rounded Rectangle 16"/>
          <p:cNvSpPr/>
          <p:nvPr/>
        </p:nvSpPr>
        <p:spPr>
          <a:xfrm>
            <a:off x="502920" y="3705880"/>
            <a:ext cx="3703320" cy="1414759"/>
          </a:xfrm>
          <a:prstGeom prst="roundRect">
            <a:avLst>
              <a:gd name="adj" fmla="val 5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182880" bIns="0" rtlCol="0" anchor="t"/>
          <a:lstStyle/>
          <a:p>
            <a:pPr algn="l">
              <a:lnSpc>
                <a:spcPct val="115000"/>
              </a:lnSpc>
              <a:spcBef>
                <a:spcPts val="0"/>
              </a:spcBef>
              <a:spcAft>
                <a:spcPts val="480"/>
              </a:spcAft>
            </a:pPr>
            <a:r>
              <a:rPr sz="750" b="1" i="0">
                <a:solidFill>
                  <a:srgbClr val="D97706"/>
                </a:solidFill>
                <a:latin typeface="Segoe UI Semibold"/>
              </a:rPr>
              <a:t>WHY IT MATTERS</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'We don't know how many groups' is always an unsupervised signal</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'Find the unusual ones' with no list of known-bad = anomaly detection</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A few labels against a lot of data = semi-supervised, every time</a:t>
            </a:r>
          </a:p>
        </p:txBody>
      </p:sp>
      <p:sp>
        <p:nvSpPr>
          <p:cNvPr id="18" name="Rounded Rectangle 17"/>
          <p:cNvSpPr/>
          <p:nvPr/>
        </p:nvSpPr>
        <p:spPr>
          <a:xfrm>
            <a:off x="4443983" y="1792224"/>
            <a:ext cx="7245065" cy="3584447"/>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37744" tIns="219456" rIns="219456" bIns="0" rtlCol="0" anchor="t"/>
          <a:lstStyle/>
          <a:p>
            <a:pPr algn="l">
              <a:lnSpc>
                <a:spcPct val="115000"/>
              </a:lnSpc>
              <a:spcBef>
                <a:spcPts val="0"/>
              </a:spcBef>
              <a:spcAft>
                <a:spcPts val="950"/>
              </a:spcAft>
            </a:pPr>
            <a:r>
              <a:rPr sz="1000" b="1" i="0">
                <a:solidFill>
                  <a:srgbClr val="0096C7"/>
                </a:solidFill>
                <a:latin typeface="Segoe UI Semibold"/>
              </a:rPr>
              <a:t>STEP-BY-STEP SOLUTION</a:t>
            </a:r>
          </a:p>
          <a:p>
            <a:pPr algn="l">
              <a:lnSpc>
                <a:spcPct val="120000"/>
              </a:lnSpc>
              <a:spcBef>
                <a:spcPts val="860"/>
              </a:spcBef>
              <a:spcAft>
                <a:spcPts val="0"/>
              </a:spcAft>
            </a:pPr>
            <a:r>
              <a:rPr sz="1290" b="1" i="0">
                <a:solidFill>
                  <a:srgbClr val="182B49"/>
                </a:solidFill>
                <a:latin typeface="Segoe UI Semibold"/>
              </a:rPr>
              <a:t>Loan default  </a:t>
            </a:r>
            <a:r>
              <a:rPr sz="1290" b="0" i="0">
                <a:solidFill>
                  <a:srgbClr val="1C2330"/>
                </a:solidFill>
                <a:latin typeface="Segoe UI"/>
              </a:rPr>
              <a:t>SUPERVISED - classification. Every past application has a known outcome, which is the label y. Target is defined and filled in.</a:t>
            </a:r>
          </a:p>
          <a:p>
            <a:pPr algn="l">
              <a:lnSpc>
                <a:spcPct val="120000"/>
              </a:lnSpc>
              <a:spcBef>
                <a:spcPts val="860"/>
              </a:spcBef>
              <a:spcAft>
                <a:spcPts val="0"/>
              </a:spcAft>
            </a:pPr>
            <a:r>
              <a:rPr sz="1290" b="1" i="0">
                <a:solidFill>
                  <a:srgbClr val="182B49"/>
                </a:solidFill>
                <a:latin typeface="Segoe UI Semibold"/>
              </a:rPr>
              <a:t>Customer groups  </a:t>
            </a:r>
            <a:r>
              <a:rPr sz="1290" b="0" i="0">
                <a:solidFill>
                  <a:srgbClr val="1C2330"/>
                </a:solidFill>
                <a:latin typeface="Segoe UI"/>
              </a:rPr>
              <a:t>UNSUPERVISED - clustering. There is no 'correct' segment column anywhere. Note the giveaway phrase: 'no idea how many groups exist'.</a:t>
            </a:r>
          </a:p>
          <a:p>
            <a:pPr algn="l">
              <a:lnSpc>
                <a:spcPct val="120000"/>
              </a:lnSpc>
              <a:spcBef>
                <a:spcPts val="860"/>
              </a:spcBef>
              <a:spcAft>
                <a:spcPts val="0"/>
              </a:spcAft>
            </a:pPr>
            <a:r>
              <a:rPr sz="1290" b="1" i="0">
                <a:solidFill>
                  <a:srgbClr val="182B49"/>
                </a:solidFill>
                <a:latin typeface="Segoe UI Semibold"/>
              </a:rPr>
              <a:t>Hospital scans  </a:t>
            </a:r>
            <a:r>
              <a:rPr sz="1290" b="0" i="0">
                <a:solidFill>
                  <a:srgbClr val="1C2330"/>
                </a:solidFill>
                <a:latin typeface="Segoe UI"/>
              </a:rPr>
              <a:t>SEMI-SUPERVISED. A few hundred labels against fifty thousand unlabelled examples - the classic ratio.</a:t>
            </a:r>
          </a:p>
          <a:p>
            <a:pPr algn="l">
              <a:lnSpc>
                <a:spcPct val="120000"/>
              </a:lnSpc>
              <a:spcBef>
                <a:spcPts val="860"/>
              </a:spcBef>
              <a:spcAft>
                <a:spcPts val="0"/>
              </a:spcAft>
            </a:pPr>
            <a:r>
              <a:rPr sz="1290" b="1" i="0">
                <a:solidFill>
                  <a:srgbClr val="182B49"/>
                </a:solidFill>
                <a:latin typeface="Segoe UI Semibold"/>
              </a:rPr>
              <a:t>Odd SIM cards  </a:t>
            </a:r>
            <a:r>
              <a:rPr sz="1290" b="0" i="0">
                <a:solidFill>
                  <a:srgbClr val="1C2330"/>
                </a:solidFill>
                <a:latin typeface="Segoe UI"/>
              </a:rPr>
              <a:t>UNSUPERVISED - anomaly detection. Nobody has a list of which SIMs are fraudulent; if they did, it would be supervised.</a:t>
            </a:r>
          </a:p>
          <a:p>
            <a:pPr algn="l">
              <a:lnSpc>
                <a:spcPct val="120000"/>
              </a:lnSpc>
              <a:spcBef>
                <a:spcPts val="860"/>
              </a:spcBef>
              <a:spcAft>
                <a:spcPts val="0"/>
              </a:spcAft>
            </a:pPr>
            <a:r>
              <a:rPr sz="1290" b="1" i="0">
                <a:solidFill>
                  <a:srgbClr val="182B49"/>
                </a:solidFill>
                <a:latin typeface="Segoe UI Semibold"/>
              </a:rPr>
              <a:t>The tell in every case  </a:t>
            </a:r>
            <a:r>
              <a:rPr sz="1290" b="0" i="0">
                <a:solidFill>
                  <a:srgbClr val="1C2330"/>
                </a:solidFill>
                <a:latin typeface="Cambria Math"/>
              </a:rPr>
              <a:t>look for the target column. Present and complete → supervised. Absent → unsupervised. Sparse → semi-supervised.</a:t>
            </a:r>
          </a:p>
        </p:txBody>
      </p:sp>
      <p:sp>
        <p:nvSpPr>
          <p:cNvPr id="19" name="Rounded Rectangle 18"/>
          <p:cNvSpPr/>
          <p:nvPr/>
        </p:nvSpPr>
        <p:spPr>
          <a:xfrm>
            <a:off x="4443983" y="5541264"/>
            <a:ext cx="7245065" cy="786384"/>
          </a:xfrm>
          <a:prstGeom prst="roundRect">
            <a:avLst>
              <a:gd name="adj" fmla="val 8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lstStyle/>
          <a:p>
            <a:pPr algn="l">
              <a:lnSpc>
                <a:spcPct val="114000"/>
              </a:lnSpc>
              <a:spcBef>
                <a:spcPts val="0"/>
              </a:spcBef>
              <a:spcAft>
                <a:spcPts val="0"/>
              </a:spcAft>
            </a:pPr>
            <a:r>
              <a:rPr sz="1150" b="1" i="0">
                <a:solidFill>
                  <a:srgbClr val="107C41"/>
                </a:solidFill>
                <a:latin typeface="Segoe UI Semibold"/>
              </a:rPr>
              <a:t>ANSWER   </a:t>
            </a:r>
            <a:r>
              <a:rPr sz="1500" b="1" i="0">
                <a:solidFill>
                  <a:srgbClr val="182B49"/>
                </a:solidFill>
                <a:latin typeface="Cambria Math"/>
              </a:rPr>
              <a:t>The paradigm is decided by the labels you have, not by the algorithm you prefer.</a:t>
            </a:r>
          </a:p>
        </p:txBody>
      </p:sp>
      <p:sp>
        <p:nvSpPr>
          <p:cNvPr id="20" name="Rectangle 19"/>
          <p:cNvSpPr/>
          <p:nvPr/>
        </p:nvSpPr>
        <p:spPr>
          <a:xfrm>
            <a:off x="4443983" y="5541264"/>
            <a:ext cx="73152" cy="786384"/>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CHECK YOUR UNDERSTANDING</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Quick Check - Section 1</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13</a:t>
            </a:r>
          </a:p>
        </p:txBody>
      </p:sp>
      <p:sp>
        <p:nvSpPr>
          <p:cNvPr id="11" name="Rounded Rectangle 10"/>
          <p:cNvSpPr/>
          <p:nvPr/>
        </p:nvSpPr>
        <p:spPr>
          <a:xfrm>
            <a:off x="7757129" y="1792224"/>
            <a:ext cx="1892807" cy="4242816"/>
          </a:xfrm>
          <a:prstGeom prst="roundRect">
            <a:avLst>
              <a:gd name="adj" fmla="val 9000"/>
            </a:avLst>
          </a:prstGeom>
          <a:solidFill>
            <a:srgbClr val="DBF0F7"/>
          </a:solidFill>
          <a:ln w="2413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300"/>
              </a:spcAft>
            </a:pPr>
            <a:r>
              <a:rPr sz="1050" b="1" i="0">
                <a:solidFill>
                  <a:srgbClr val="0096C7"/>
                </a:solidFill>
                <a:latin typeface="Segoe UI Semibold"/>
              </a:rPr>
              <a:t>FEATURE  (X)</a:t>
            </a:r>
          </a:p>
          <a:p>
            <a:pPr algn="ctr">
              <a:lnSpc>
                <a:spcPct val="115000"/>
              </a:lnSpc>
              <a:spcBef>
                <a:spcPts val="0"/>
              </a:spcBef>
              <a:spcAft>
                <a:spcPts val="300"/>
              </a:spcAft>
            </a:pPr>
            <a:r>
              <a:rPr sz="2000" b="1" i="0">
                <a:solidFill>
                  <a:srgbClr val="182B49"/>
                </a:solidFill>
                <a:latin typeface="Segoe UI Semibold"/>
              </a:rPr>
              <a:t>listening
history</a:t>
            </a:r>
          </a:p>
          <a:p>
            <a:pPr algn="ctr">
              <a:lnSpc>
                <a:spcPct val="110000"/>
              </a:lnSpc>
              <a:spcBef>
                <a:spcPts val="0"/>
              </a:spcBef>
              <a:spcAft>
                <a:spcPts val="0"/>
              </a:spcAft>
            </a:pPr>
            <a:r>
              <a:rPr sz="950" b="0" i="0">
                <a:solidFill>
                  <a:srgbClr val="586476"/>
                </a:solidFill>
                <a:latin typeface="Segoe UI"/>
              </a:rPr>
              <a:t>what you MEASURE</a:t>
            </a:r>
          </a:p>
        </p:txBody>
      </p:sp>
      <p:sp>
        <p:nvSpPr>
          <p:cNvPr id="12" name="Rounded Rectangle 11"/>
          <p:cNvSpPr/>
          <p:nvPr/>
        </p:nvSpPr>
        <p:spPr>
          <a:xfrm>
            <a:off x="9796241" y="1792224"/>
            <a:ext cx="1892807" cy="4242816"/>
          </a:xfrm>
          <a:prstGeom prst="roundRect">
            <a:avLst>
              <a:gd name="adj" fmla="val 9000"/>
            </a:avLst>
          </a:prstGeom>
          <a:solidFill>
            <a:srgbClr val="F4E0DE"/>
          </a:solidFill>
          <a:ln w="2413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300"/>
              </a:spcAft>
            </a:pPr>
            <a:r>
              <a:rPr sz="1050" b="1" i="0">
                <a:solidFill>
                  <a:srgbClr val="B42318"/>
                </a:solidFill>
                <a:latin typeface="Segoe UI Semibold"/>
              </a:rPr>
              <a:t>LABEL  (y)</a:t>
            </a:r>
          </a:p>
          <a:p>
            <a:pPr algn="ctr">
              <a:lnSpc>
                <a:spcPct val="115000"/>
              </a:lnSpc>
              <a:spcBef>
                <a:spcPts val="0"/>
              </a:spcBef>
              <a:spcAft>
                <a:spcPts val="300"/>
              </a:spcAft>
            </a:pPr>
            <a:r>
              <a:rPr sz="2000" b="1" i="0">
                <a:solidFill>
                  <a:srgbClr val="182B49"/>
                </a:solidFill>
                <a:latin typeface="Segoe UI Semibold"/>
              </a:rPr>
              <a:t>does not
exist</a:t>
            </a:r>
          </a:p>
          <a:p>
            <a:pPr algn="ctr">
              <a:lnSpc>
                <a:spcPct val="110000"/>
              </a:lnSpc>
              <a:spcBef>
                <a:spcPts val="0"/>
              </a:spcBef>
              <a:spcAft>
                <a:spcPts val="0"/>
              </a:spcAft>
            </a:pPr>
            <a:r>
              <a:rPr sz="950" b="0" i="0">
                <a:solidFill>
                  <a:srgbClr val="586476"/>
                </a:solidFill>
                <a:latin typeface="Segoe UI"/>
              </a:rPr>
              <a:t>what you PREDICT</a:t>
            </a:r>
          </a:p>
        </p:txBody>
      </p:sp>
      <p:sp>
        <p:nvSpPr>
          <p:cNvPr id="13" name="TextBox 12"/>
          <p:cNvSpPr txBox="1"/>
          <p:nvPr/>
        </p:nvSpPr>
        <p:spPr>
          <a:xfrm>
            <a:off x="7757129" y="6071616"/>
            <a:ext cx="39319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586476"/>
                </a:solidFill>
                <a:latin typeface="Segoe UI"/>
              </a:rPr>
              <a:t>confusing these two is the classic error</a:t>
            </a:r>
          </a:p>
        </p:txBody>
      </p:sp>
      <p:sp>
        <p:nvSpPr>
          <p:cNvPr id="14" name="Rounded Rectangle 13"/>
          <p:cNvSpPr/>
          <p:nvPr/>
        </p:nvSpPr>
        <p:spPr>
          <a:xfrm>
            <a:off x="502920" y="1792224"/>
            <a:ext cx="6998177" cy="932688"/>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5000"/>
              </a:lnSpc>
              <a:spcBef>
                <a:spcPts val="0"/>
              </a:spcBef>
              <a:spcAft>
                <a:spcPts val="360"/>
              </a:spcAft>
            </a:pPr>
            <a:r>
              <a:rPr sz="760" b="1" i="0">
                <a:solidFill>
                  <a:srgbClr val="F5A623"/>
                </a:solidFill>
                <a:latin typeface="Segoe UI Semibold"/>
              </a:rPr>
              <a:t>QUICK CHECK</a:t>
            </a:r>
          </a:p>
          <a:p>
            <a:pPr algn="l">
              <a:lnSpc>
                <a:spcPct val="115000"/>
              </a:lnSpc>
              <a:spcBef>
                <a:spcPts val="0"/>
              </a:spcBef>
              <a:spcAft>
                <a:spcPts val="0"/>
              </a:spcAft>
            </a:pPr>
            <a:r>
              <a:rPr sz="1160" b="1" i="0">
                <a:solidFill>
                  <a:srgbClr val="FFFFFF"/>
                </a:solidFill>
                <a:latin typeface="Segoe UI Semibold"/>
              </a:rPr>
              <a:t>A streaming service groups its users into 'listening tribes'. Nobody defined the tribes in advance, and nobody knows how many there should be. Which paradigm is this?</a:t>
            </a:r>
          </a:p>
        </p:txBody>
      </p:sp>
      <p:sp>
        <p:nvSpPr>
          <p:cNvPr id="15" name="Rectangle 14"/>
          <p:cNvSpPr/>
          <p:nvPr/>
        </p:nvSpPr>
        <p:spPr>
          <a:xfrm>
            <a:off x="502920" y="1792224"/>
            <a:ext cx="77724" cy="93268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3259835"/>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676656"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A</a:t>
            </a:r>
          </a:p>
        </p:txBody>
      </p:sp>
      <p:sp>
        <p:nvSpPr>
          <p:cNvPr id="18" name="TextBox 17"/>
          <p:cNvSpPr txBox="1"/>
          <p:nvPr/>
        </p:nvSpPr>
        <p:spPr>
          <a:xfrm>
            <a:off x="1106424" y="3351275"/>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Supervised learning - the listening history is the label</a:t>
            </a:r>
          </a:p>
        </p:txBody>
      </p:sp>
      <p:sp>
        <p:nvSpPr>
          <p:cNvPr id="19" name="Rounded Rectangle 18"/>
          <p:cNvSpPr/>
          <p:nvPr/>
        </p:nvSpPr>
        <p:spPr>
          <a:xfrm>
            <a:off x="4066016" y="3259835"/>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4239752"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B</a:t>
            </a:r>
          </a:p>
        </p:txBody>
      </p:sp>
      <p:sp>
        <p:nvSpPr>
          <p:cNvPr id="21" name="TextBox 20"/>
          <p:cNvSpPr txBox="1"/>
          <p:nvPr/>
        </p:nvSpPr>
        <p:spPr>
          <a:xfrm>
            <a:off x="4669520" y="3351275"/>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Unsupervised learning - clustering</a:t>
            </a:r>
          </a:p>
        </p:txBody>
      </p:sp>
      <p:sp>
        <p:nvSpPr>
          <p:cNvPr id="22" name="Rounded Rectangle 21"/>
          <p:cNvSpPr/>
          <p:nvPr/>
        </p:nvSpPr>
        <p:spPr>
          <a:xfrm>
            <a:off x="502920" y="4101083"/>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Oval 22"/>
          <p:cNvSpPr/>
          <p:nvPr/>
        </p:nvSpPr>
        <p:spPr>
          <a:xfrm>
            <a:off x="676656"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C</a:t>
            </a:r>
          </a:p>
        </p:txBody>
      </p:sp>
      <p:sp>
        <p:nvSpPr>
          <p:cNvPr id="24" name="TextBox 23"/>
          <p:cNvSpPr txBox="1"/>
          <p:nvPr/>
        </p:nvSpPr>
        <p:spPr>
          <a:xfrm>
            <a:off x="1106424" y="4192523"/>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Semi-supervised learning - some users have stated preferences</a:t>
            </a:r>
          </a:p>
        </p:txBody>
      </p:sp>
      <p:sp>
        <p:nvSpPr>
          <p:cNvPr id="25" name="Rounded Rectangle 24"/>
          <p:cNvSpPr/>
          <p:nvPr/>
        </p:nvSpPr>
        <p:spPr>
          <a:xfrm>
            <a:off x="4066016" y="4101083"/>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4239752"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D</a:t>
            </a:r>
          </a:p>
        </p:txBody>
      </p:sp>
      <p:sp>
        <p:nvSpPr>
          <p:cNvPr id="27" name="TextBox 26"/>
          <p:cNvSpPr txBox="1"/>
          <p:nvPr/>
        </p:nvSpPr>
        <p:spPr>
          <a:xfrm>
            <a:off x="4669520" y="4192523"/>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Reinforcement learning - the service is rewarded by watch time</a:t>
            </a:r>
          </a:p>
        </p:txBody>
      </p:sp>
      <p:sp>
        <p:nvSpPr>
          <p:cNvPr id="28" name="TextBox 27"/>
          <p:cNvSpPr txBox="1"/>
          <p:nvPr/>
        </p:nvSpPr>
        <p:spPr>
          <a:xfrm>
            <a:off x="502920" y="5326379"/>
            <a:ext cx="6998177" cy="310896"/>
          </a:xfrm>
          <a:prstGeom prst="rect">
            <a:avLst/>
          </a:prstGeom>
          <a:noFill/>
        </p:spPr>
        <p:txBody>
          <a:bodyPr wrap="square" lIns="0" tIns="0" rIns="0" bIns="0" anchor="t">
            <a:spAutoFit/>
          </a:bodyPr>
          <a:lstStyle/>
          <a:p>
            <a:pPr algn="ctr">
              <a:lnSpc>
                <a:spcPct val="115000"/>
              </a:lnSpc>
              <a:spcBef>
                <a:spcPts val="0"/>
              </a:spcBef>
              <a:spcAft>
                <a:spcPts val="0"/>
              </a:spcAft>
            </a:pPr>
            <a:r>
              <a:rPr sz="1150" b="0" i="1">
                <a:solidFill>
                  <a:srgbClr val="586476"/>
                </a:solidFill>
                <a:latin typeface="Segoe UI"/>
              </a:rPr>
              <a:t>◆  click to reveal the answer</a:t>
            </a:r>
          </a:p>
        </p:txBody>
      </p:sp>
      <p:sp>
        <p:nvSpPr>
          <p:cNvPr id="29" name="Rounded Rectangle 28"/>
          <p:cNvSpPr/>
          <p:nvPr/>
        </p:nvSpPr>
        <p:spPr>
          <a:xfrm>
            <a:off x="502920" y="5052059"/>
            <a:ext cx="6998177" cy="960120"/>
          </a:xfrm>
          <a:prstGeom prst="roundRect">
            <a:avLst>
              <a:gd name="adj" fmla="val 6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8000"/>
              </a:lnSpc>
              <a:spcBef>
                <a:spcPts val="0"/>
              </a:spcBef>
              <a:spcAft>
                <a:spcPts val="0"/>
              </a:spcAft>
            </a:pPr>
            <a:r>
              <a:rPr sz="1090" b="1" i="0">
                <a:solidFill>
                  <a:srgbClr val="107C41"/>
                </a:solidFill>
                <a:latin typeface="Segoe UI Semibold"/>
              </a:rPr>
              <a:t>ANSWER: B   </a:t>
            </a:r>
            <a:r>
              <a:rPr sz="1130" b="0" i="0">
                <a:solidFill>
                  <a:srgbClr val="1C2330"/>
                </a:solidFill>
                <a:latin typeface="Segoe UI"/>
              </a:rPr>
              <a:t>There is no target column. The tribes do not exist until the algorithm creates them, and even the NUMBER of tribes is unknown. That is clustering, which is unsupervised. Listening history is a FEATURE (X), not a label (y) - confusing the two is the most common error in this topic.</a:t>
            </a:r>
          </a:p>
        </p:txBody>
      </p:sp>
      <p:sp>
        <p:nvSpPr>
          <p:cNvPr id="30" name="Rectangle 29"/>
          <p:cNvSpPr/>
          <p:nvPr/>
        </p:nvSpPr>
        <p:spPr>
          <a:xfrm>
            <a:off x="502920" y="5052059"/>
            <a:ext cx="77724" cy="96012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02</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Problem Formulation
for Unsupervised
Learning</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5C2D91"/>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Why formulation is HARDER without labels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The five things you must specify before you cluster</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A worked formulation: e-commerce segmentation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The evaluation problem, and three honest answers to it</a:t>
            </a:r>
          </a:p>
        </p:txBody>
      </p:sp>
      <p:sp>
        <p:nvSpPr>
          <p:cNvPr id="9" name="Rounded Rectangle 8"/>
          <p:cNvSpPr/>
          <p:nvPr/>
        </p:nvSpPr>
        <p:spPr>
          <a:xfrm>
            <a:off x="914400"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1 · Paradigms</a:t>
            </a:r>
          </a:p>
        </p:txBody>
      </p:sp>
      <p:sp>
        <p:nvSpPr>
          <p:cNvPr id="10" name="Rounded Rectangle 9"/>
          <p:cNvSpPr/>
          <p:nvPr/>
        </p:nvSpPr>
        <p:spPr>
          <a:xfrm>
            <a:off x="2999232" y="5998464"/>
            <a:ext cx="1993392" cy="408188"/>
          </a:xfrm>
          <a:prstGeom prst="roundRect">
            <a:avLst>
              <a:gd name="adj" fmla="val 14000"/>
            </a:avLst>
          </a:prstGeom>
          <a:solidFill>
            <a:srgbClr val="ED771F"/>
          </a:solidFill>
          <a:ln w="20320">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1" i="0">
                <a:solidFill>
                  <a:srgbClr val="FFFFFF"/>
                </a:solidFill>
                <a:latin typeface="Segoe UI Semibold"/>
              </a:rPr>
              <a:t>2 · Formulation</a:t>
            </a:r>
          </a:p>
        </p:txBody>
      </p:sp>
      <p:sp>
        <p:nvSpPr>
          <p:cNvPr id="11" name="Rounded Rectangle 10"/>
          <p:cNvSpPr/>
          <p:nvPr/>
        </p:nvSpPr>
        <p:spPr>
          <a:xfrm>
            <a:off x="5084064"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3 · Use cases</a:t>
            </a:r>
          </a:p>
        </p:txBody>
      </p:sp>
      <p:sp>
        <p:nvSpPr>
          <p:cNvPr id="12" name="Rounded Rectangle 11"/>
          <p:cNvSpPr/>
          <p:nvPr/>
        </p:nvSpPr>
        <p:spPr>
          <a:xfrm>
            <a:off x="7168896"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4 · Metrics</a:t>
            </a:r>
          </a:p>
        </p:txBody>
      </p:sp>
      <p:sp>
        <p:nvSpPr>
          <p:cNvPr id="13" name="Rounded Rectangle 12"/>
          <p:cNvSpPr/>
          <p:nvPr/>
        </p:nvSpPr>
        <p:spPr>
          <a:xfrm>
            <a:off x="9253728"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5 · Why it matters</a:t>
            </a:r>
          </a:p>
        </p:txBody>
      </p:sp>
      <p:sp>
        <p:nvSpPr>
          <p:cNvPr id="14" name="TextBox 13"/>
          <p:cNvSpPr txBox="1"/>
          <p:nvPr/>
        </p:nvSpPr>
        <p:spPr>
          <a:xfrm>
            <a:off x="914400" y="6446154"/>
            <a:ext cx="103327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96B2D0"/>
                </a:solidFill>
                <a:latin typeface="Segoe UI"/>
              </a:rPr>
              <a:t>you are here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1.2 PROBLEM FORMULATION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Why Formulation Is Harder Without Labels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15</a:t>
            </a:r>
          </a:p>
        </p:txBody>
      </p:sp>
      <p:sp>
        <p:nvSpPr>
          <p:cNvPr id="11" name="TextBox 10"/>
          <p:cNvSpPr txBox="1"/>
          <p:nvPr/>
        </p:nvSpPr>
        <p:spPr>
          <a:xfrm>
            <a:off x="7757129" y="1792224"/>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THE LABEL USED TO ANSWER ALL FOUR</a:t>
            </a:r>
          </a:p>
        </p:txBody>
      </p:sp>
      <p:sp>
        <p:nvSpPr>
          <p:cNvPr id="12" name="Rounded Rectangle 11"/>
          <p:cNvSpPr/>
          <p:nvPr/>
        </p:nvSpPr>
        <p:spPr>
          <a:xfrm>
            <a:off x="7757129" y="2084831"/>
            <a:ext cx="3931920" cy="786383"/>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7848569" y="2340864"/>
            <a:ext cx="402336" cy="27432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1</a:t>
            </a:r>
          </a:p>
        </p:txBody>
      </p:sp>
      <p:sp>
        <p:nvSpPr>
          <p:cNvPr id="14" name="TextBox 13"/>
          <p:cNvSpPr txBox="1"/>
          <p:nvPr/>
        </p:nvSpPr>
        <p:spPr>
          <a:xfrm>
            <a:off x="8324057" y="2139696"/>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What does 'similar' mean?</a:t>
            </a:r>
          </a:p>
        </p:txBody>
      </p:sp>
      <p:sp>
        <p:nvSpPr>
          <p:cNvPr id="15" name="Rounded Rectangle 14"/>
          <p:cNvSpPr/>
          <p:nvPr/>
        </p:nvSpPr>
        <p:spPr>
          <a:xfrm>
            <a:off x="7757129" y="2962656"/>
            <a:ext cx="3931920" cy="786383"/>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7848569" y="3218688"/>
            <a:ext cx="402336" cy="2743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2</a:t>
            </a:r>
          </a:p>
        </p:txBody>
      </p:sp>
      <p:sp>
        <p:nvSpPr>
          <p:cNvPr id="17" name="TextBox 16"/>
          <p:cNvSpPr txBox="1"/>
          <p:nvPr/>
        </p:nvSpPr>
        <p:spPr>
          <a:xfrm>
            <a:off x="8324057" y="3017520"/>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How many groups?</a:t>
            </a:r>
          </a:p>
        </p:txBody>
      </p:sp>
      <p:sp>
        <p:nvSpPr>
          <p:cNvPr id="18" name="Rounded Rectangle 17"/>
          <p:cNvSpPr/>
          <p:nvPr/>
        </p:nvSpPr>
        <p:spPr>
          <a:xfrm>
            <a:off x="7757129" y="3840479"/>
            <a:ext cx="3931920" cy="786383"/>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7848569" y="4096511"/>
            <a:ext cx="402336" cy="274320"/>
          </a:xfrm>
          <a:prstGeom prst="round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3</a:t>
            </a:r>
          </a:p>
        </p:txBody>
      </p:sp>
      <p:sp>
        <p:nvSpPr>
          <p:cNvPr id="20" name="TextBox 19"/>
          <p:cNvSpPr txBox="1"/>
          <p:nvPr/>
        </p:nvSpPr>
        <p:spPr>
          <a:xfrm>
            <a:off x="8324057" y="3895343"/>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What counts as a good result?</a:t>
            </a:r>
          </a:p>
        </p:txBody>
      </p:sp>
      <p:sp>
        <p:nvSpPr>
          <p:cNvPr id="21" name="Rounded Rectangle 20"/>
          <p:cNvSpPr/>
          <p:nvPr/>
        </p:nvSpPr>
        <p:spPr>
          <a:xfrm>
            <a:off x="7757129" y="4718303"/>
            <a:ext cx="3931920" cy="786383"/>
          </a:xfrm>
          <a:prstGeom prst="roundRect">
            <a:avLst>
              <a:gd name="adj" fmla="val 8000"/>
            </a:avLst>
          </a:prstGeom>
          <a:solidFill>
            <a:srgbClr val="F1EEF6"/>
          </a:solidFill>
          <a:ln w="1778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848569" y="4974335"/>
            <a:ext cx="402336" cy="274320"/>
          </a:xfrm>
          <a:prstGeom prst="round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4</a:t>
            </a:r>
          </a:p>
        </p:txBody>
      </p:sp>
      <p:sp>
        <p:nvSpPr>
          <p:cNvPr id="23" name="TextBox 22"/>
          <p:cNvSpPr txBox="1"/>
          <p:nvPr/>
        </p:nvSpPr>
        <p:spPr>
          <a:xfrm>
            <a:off x="8324057" y="4773167"/>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When do you stop?</a:t>
            </a:r>
          </a:p>
        </p:txBody>
      </p:sp>
      <p:sp>
        <p:nvSpPr>
          <p:cNvPr id="24" name="Rounded Rectangle 23"/>
          <p:cNvSpPr/>
          <p:nvPr/>
        </p:nvSpPr>
        <p:spPr>
          <a:xfrm>
            <a:off x="502920" y="1792224"/>
            <a:ext cx="6998177" cy="3712463"/>
          </a:xfrm>
          <a:prstGeom prst="roundRect">
            <a:avLst>
              <a:gd name="adj" fmla="val 3500"/>
            </a:avLst>
          </a:prstGeom>
          <a:solidFill>
            <a:srgbClr val="FDE9E7"/>
          </a:solidFill>
          <a:ln w="15875">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010" b="1" i="0">
                <a:solidFill>
                  <a:srgbClr val="B42318"/>
                </a:solidFill>
                <a:latin typeface="Segoe UI Semibold"/>
              </a:rPr>
              <a:t>In supervised learning, the label pins everything down  </a:t>
            </a:r>
            <a:r>
              <a:rPr sz="1010" b="0" i="0">
                <a:solidFill>
                  <a:srgbClr val="1C2330"/>
                </a:solidFill>
                <a:latin typeface="Segoe UI"/>
              </a:rPr>
              <a:t>it defines what the task is, what counts as success, which features matter, and when you are finished.</a:t>
            </a:r>
          </a:p>
          <a:p>
            <a:pPr algn="l">
              <a:lnSpc>
                <a:spcPct val="120000"/>
              </a:lnSpc>
              <a:spcBef>
                <a:spcPts val="670"/>
              </a:spcBef>
              <a:spcAft>
                <a:spcPts val="0"/>
              </a:spcAft>
            </a:pPr>
            <a:r>
              <a:rPr sz="1010" b="1" i="0">
                <a:solidFill>
                  <a:srgbClr val="B42318"/>
                </a:solidFill>
                <a:latin typeface="Segoe UI Semibold"/>
              </a:rPr>
              <a:t>Remove the label and all four of those become YOUR decisions  </a:t>
            </a:r>
            <a:r>
              <a:rPr sz="1010" b="0" i="0">
                <a:solidFill>
                  <a:srgbClr val="1C2330"/>
                </a:solidFill>
                <a:latin typeface="Segoe UI"/>
              </a:rPr>
              <a:t>and every one of them is a judgement call you must be able to defend.</a:t>
            </a:r>
          </a:p>
          <a:p>
            <a:pPr algn="l">
              <a:lnSpc>
                <a:spcPct val="120000"/>
              </a:lnSpc>
              <a:spcBef>
                <a:spcPts val="670"/>
              </a:spcBef>
              <a:spcAft>
                <a:spcPts val="0"/>
              </a:spcAft>
            </a:pPr>
            <a:r>
              <a:rPr sz="1010" b="1" i="0">
                <a:solidFill>
                  <a:srgbClr val="B42318"/>
                </a:solidFill>
                <a:latin typeface="Segoe UI Semibold"/>
              </a:rPr>
              <a:t>Decision 1 - What does 'similar' mean?  </a:t>
            </a:r>
            <a:r>
              <a:rPr sz="1010" b="0" i="0">
                <a:solidFill>
                  <a:srgbClr val="1C2330"/>
                </a:solidFill>
                <a:latin typeface="Segoe UI"/>
              </a:rPr>
              <a:t>the algorithm has no opinion. You supply it by choosing features and a distance metric. This is section four.</a:t>
            </a:r>
          </a:p>
          <a:p>
            <a:pPr algn="l">
              <a:lnSpc>
                <a:spcPct val="120000"/>
              </a:lnSpc>
              <a:spcBef>
                <a:spcPts val="670"/>
              </a:spcBef>
              <a:spcAft>
                <a:spcPts val="0"/>
              </a:spcAft>
            </a:pPr>
            <a:r>
              <a:rPr sz="1010" b="1" i="0">
                <a:solidFill>
                  <a:srgbClr val="B42318"/>
                </a:solidFill>
                <a:latin typeface="Segoe UI Semibold"/>
              </a:rPr>
              <a:t>Decision 2 - How many groups?  </a:t>
            </a:r>
            <a:r>
              <a:rPr sz="1010" b="0" i="0">
                <a:solidFill>
                  <a:srgbClr val="1C2330"/>
                </a:solidFill>
                <a:latin typeface="Segoe UI"/>
              </a:rPr>
              <a:t>there is rarely a correct answer. 3 segments and 30 segments can both be defensible for the same customers.</a:t>
            </a:r>
          </a:p>
          <a:p>
            <a:pPr algn="l">
              <a:lnSpc>
                <a:spcPct val="120000"/>
              </a:lnSpc>
              <a:spcBef>
                <a:spcPts val="670"/>
              </a:spcBef>
              <a:spcAft>
                <a:spcPts val="0"/>
              </a:spcAft>
            </a:pPr>
            <a:r>
              <a:rPr sz="1010" b="1" i="0">
                <a:solidFill>
                  <a:srgbClr val="B42318"/>
                </a:solidFill>
                <a:latin typeface="Segoe UI Semibold"/>
              </a:rPr>
              <a:t>Decision 3 - What counts as a good result?  </a:t>
            </a:r>
            <a:r>
              <a:rPr sz="1010" b="0" i="0">
                <a:solidFill>
                  <a:srgbClr val="1C2330"/>
                </a:solidFill>
                <a:latin typeface="Segoe UI"/>
              </a:rPr>
              <a:t>no accuracy score exists. You need internal measures, human judgement, or a downstream outcome.</a:t>
            </a:r>
          </a:p>
          <a:p>
            <a:pPr algn="l">
              <a:lnSpc>
                <a:spcPct val="120000"/>
              </a:lnSpc>
              <a:spcBef>
                <a:spcPts val="670"/>
              </a:spcBef>
              <a:spcAft>
                <a:spcPts val="0"/>
              </a:spcAft>
            </a:pPr>
            <a:r>
              <a:rPr sz="1010" b="1" i="0">
                <a:solidFill>
                  <a:srgbClr val="B42318"/>
                </a:solidFill>
                <a:latin typeface="Segoe UI Semibold"/>
              </a:rPr>
              <a:t>Decision 4 - When do you stop?  </a:t>
            </a:r>
            <a:r>
              <a:rPr sz="1010" b="0" i="0">
                <a:solidFill>
                  <a:srgbClr val="1C2330"/>
                </a:solidFill>
                <a:latin typeface="Segoe UI"/>
              </a:rPr>
              <a:t>without a target metric, 'good enough' has to be defined by the business question, not by the data.</a:t>
            </a:r>
          </a:p>
        </p:txBody>
      </p:sp>
      <p:sp>
        <p:nvSpPr>
          <p:cNvPr id="25" name="Rectangle 24"/>
          <p:cNvSpPr/>
          <p:nvPr/>
        </p:nvSpPr>
        <p:spPr>
          <a:xfrm>
            <a:off x="502920" y="1792224"/>
            <a:ext cx="6998177" cy="420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04088" y="1883664"/>
            <a:ext cx="6540977"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COMMON PITFALL   ·   </a:t>
            </a:r>
            <a:r>
              <a:rPr sz="1400" b="1" i="0">
                <a:solidFill>
                  <a:srgbClr val="FFFFFF"/>
                </a:solidFill>
                <a:latin typeface="Segoe UI Semibold"/>
              </a:rPr>
              <a:t>The label was doing more work than you realised</a:t>
            </a:r>
          </a:p>
        </p:txBody>
      </p:sp>
      <p:sp>
        <p:nvSpPr>
          <p:cNvPr id="27" name="Rounded Rectangle 26"/>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THINK ABOUT IT   </a:t>
            </a:r>
            <a:r>
              <a:rPr sz="1350" b="0" i="0">
                <a:solidFill>
                  <a:srgbClr val="1C2330"/>
                </a:solidFill>
                <a:latin typeface="Segoe UI"/>
              </a:rPr>
              <a:t>If two teams cluster the same customers and get completely different groups - is one of them wrong?</a:t>
            </a:r>
          </a:p>
        </p:txBody>
      </p:sp>
      <p:sp>
        <p:nvSpPr>
          <p:cNvPr id="28" name="Rectangle 27"/>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1.2 PROBLEM FORMULATION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200" b="1" i="0">
                <a:solidFill>
                  <a:srgbClr val="FFFFFF"/>
                </a:solidFill>
                <a:latin typeface="Segoe UI Semibold"/>
              </a:rPr>
              <a:t>Formulating an Unsupervised Problem: Five Specifications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16</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Five things you must state explicitly, because nothing in the data will state them for you.</a:t>
            </a:r>
          </a:p>
        </p:txBody>
      </p:sp>
      <p:sp>
        <p:nvSpPr>
          <p:cNvPr id="12" name="Rounded Rectangle 11"/>
          <p:cNvSpPr/>
          <p:nvPr/>
        </p:nvSpPr>
        <p:spPr>
          <a:xfrm>
            <a:off x="502920" y="2267712"/>
            <a:ext cx="3594597" cy="151790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0096C7"/>
                </a:solidFill>
                <a:latin typeface="Segoe UI Semibold"/>
              </a:rPr>
              <a:t>SPECIFICATION 1</a:t>
            </a:r>
          </a:p>
          <a:p>
            <a:pPr algn="l">
              <a:lnSpc>
                <a:spcPct val="110000"/>
              </a:lnSpc>
              <a:spcBef>
                <a:spcPts val="0"/>
              </a:spcBef>
              <a:spcAft>
                <a:spcPts val="420"/>
              </a:spcAft>
            </a:pPr>
            <a:r>
              <a:rPr sz="900" b="1" i="0">
                <a:solidFill>
                  <a:srgbClr val="182B49"/>
                </a:solidFill>
                <a:latin typeface="Segoe UI Semibold"/>
              </a:rPr>
              <a:t>The objects</a:t>
            </a:r>
          </a:p>
          <a:p>
            <a:pPr marL="237744" indent="-237744" algn="l">
              <a:lnSpc>
                <a:spcPct val="116000"/>
              </a:lnSpc>
              <a:spcBef>
                <a:spcPts val="300"/>
              </a:spcBef>
              <a:spcAft>
                <a:spcPts val="0"/>
              </a:spcAft>
              <a:buClr>
                <a:srgbClr val="0096C7"/>
              </a:buClr>
              <a:buSzPct val="86000"/>
              <a:buFont typeface="Arial"/>
              <a:buChar char="▪"/>
            </a:pPr>
            <a:r>
              <a:rPr sz="750" b="0" i="0">
                <a:solidFill>
                  <a:srgbClr val="1C2330"/>
                </a:solidFill>
                <a:latin typeface="Segoe UI"/>
              </a:rPr>
              <a:t>WHAT are you grouping or analysing?</a:t>
            </a:r>
          </a:p>
          <a:p>
            <a:pPr marL="237744" indent="-237744" algn="l">
              <a:lnSpc>
                <a:spcPct val="116000"/>
              </a:lnSpc>
              <a:spcBef>
                <a:spcPts val="300"/>
              </a:spcBef>
              <a:spcAft>
                <a:spcPts val="0"/>
              </a:spcAft>
              <a:buClr>
                <a:srgbClr val="0096C7"/>
              </a:buClr>
              <a:buSzPct val="86000"/>
              <a:buFont typeface="Arial"/>
              <a:buChar char="▪"/>
            </a:pPr>
            <a:r>
              <a:rPr sz="750" b="0" i="0">
                <a:solidFill>
                  <a:srgbClr val="1C2330"/>
                </a:solidFill>
                <a:latin typeface="Segoe UI"/>
              </a:rPr>
              <a:t>Customers? Transactions? Documents? Genes?</a:t>
            </a:r>
          </a:p>
          <a:p>
            <a:pPr marL="237744" indent="-237744" algn="l">
              <a:lnSpc>
                <a:spcPct val="116000"/>
              </a:lnSpc>
              <a:spcBef>
                <a:spcPts val="300"/>
              </a:spcBef>
              <a:spcAft>
                <a:spcPts val="0"/>
              </a:spcAft>
              <a:buClr>
                <a:srgbClr val="0096C7"/>
              </a:buClr>
              <a:buSzPct val="86000"/>
              <a:buFont typeface="Arial"/>
              <a:buChar char="▪"/>
            </a:pPr>
            <a:r>
              <a:rPr sz="750" b="0" i="0">
                <a:solidFill>
                  <a:srgbClr val="1C2330"/>
                </a:solidFill>
                <a:latin typeface="Segoe UI"/>
              </a:rPr>
              <a:t>One row of your data = one object</a:t>
            </a:r>
          </a:p>
          <a:p>
            <a:pPr marL="237744" indent="-237744" algn="l">
              <a:lnSpc>
                <a:spcPct val="116000"/>
              </a:lnSpc>
              <a:spcBef>
                <a:spcPts val="300"/>
              </a:spcBef>
              <a:spcAft>
                <a:spcPts val="0"/>
              </a:spcAft>
              <a:buClr>
                <a:srgbClr val="0096C7"/>
              </a:buClr>
              <a:buSzPct val="86000"/>
              <a:buFont typeface="Arial"/>
              <a:buChar char="▪"/>
            </a:pPr>
            <a:r>
              <a:rPr sz="750" b="0" i="0">
                <a:solidFill>
                  <a:srgbClr val="1C2330"/>
                </a:solidFill>
                <a:latin typeface="Segoe UI"/>
              </a:rPr>
              <a:t>Getting this wrong invalidates everything after it</a:t>
            </a:r>
          </a:p>
        </p:txBody>
      </p:sp>
      <p:sp>
        <p:nvSpPr>
          <p:cNvPr id="13" name="Rectangle 12"/>
          <p:cNvSpPr/>
          <p:nvPr/>
        </p:nvSpPr>
        <p:spPr>
          <a:xfrm>
            <a:off x="502920" y="2267712"/>
            <a:ext cx="3594597" cy="685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4298685" y="2267712"/>
            <a:ext cx="3594597" cy="151790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D97706"/>
                </a:solidFill>
                <a:latin typeface="Segoe UI Semibold"/>
              </a:rPr>
              <a:t>SPECIFICATION 2</a:t>
            </a:r>
          </a:p>
          <a:p>
            <a:pPr algn="l">
              <a:lnSpc>
                <a:spcPct val="110000"/>
              </a:lnSpc>
              <a:spcBef>
                <a:spcPts val="0"/>
              </a:spcBef>
              <a:spcAft>
                <a:spcPts val="420"/>
              </a:spcAft>
            </a:pPr>
            <a:r>
              <a:rPr sz="900" b="1" i="0">
                <a:solidFill>
                  <a:srgbClr val="182B49"/>
                </a:solidFill>
                <a:latin typeface="Segoe UI Semibold"/>
              </a:rPr>
              <a:t>The features</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WHICH measurable properties describe each object?</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Age, income, visits/month, average basket value</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Every feature you include shapes what 'similar' means</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Irrelevant features actively add noise</a:t>
            </a:r>
          </a:p>
        </p:txBody>
      </p:sp>
      <p:sp>
        <p:nvSpPr>
          <p:cNvPr id="15" name="Rectangle 14"/>
          <p:cNvSpPr/>
          <p:nvPr/>
        </p:nvSpPr>
        <p:spPr>
          <a:xfrm>
            <a:off x="4298685" y="2267712"/>
            <a:ext cx="3594597"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094451" y="2267712"/>
            <a:ext cx="3594597" cy="151790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107C41"/>
                </a:solidFill>
                <a:latin typeface="Segoe UI Semibold"/>
              </a:rPr>
              <a:t>SPECIFICATION 3</a:t>
            </a:r>
          </a:p>
          <a:p>
            <a:pPr algn="l">
              <a:lnSpc>
                <a:spcPct val="110000"/>
              </a:lnSpc>
              <a:spcBef>
                <a:spcPts val="0"/>
              </a:spcBef>
              <a:spcAft>
                <a:spcPts val="420"/>
              </a:spcAft>
            </a:pPr>
            <a:r>
              <a:rPr sz="900" b="1" i="0">
                <a:solidFill>
                  <a:srgbClr val="182B49"/>
                </a:solidFill>
                <a:latin typeface="Segoe UI Semibold"/>
              </a:rPr>
              <a:t>The similarity measure</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HOW do you decide two objects are alike?</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Euclidean, Manhattan, Cosine - section four</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Includes the scaling decision, which is not optional</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The single most consequential choice you make</a:t>
            </a:r>
          </a:p>
        </p:txBody>
      </p:sp>
      <p:sp>
        <p:nvSpPr>
          <p:cNvPr id="17" name="Rectangle 16"/>
          <p:cNvSpPr/>
          <p:nvPr/>
        </p:nvSpPr>
        <p:spPr>
          <a:xfrm>
            <a:off x="8094451" y="2267712"/>
            <a:ext cx="3594597" cy="6858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502920" y="3986783"/>
            <a:ext cx="3594597" cy="151790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5C2D91"/>
                </a:solidFill>
                <a:latin typeface="Segoe UI Semibold"/>
              </a:rPr>
              <a:t>SPECIFICATION 4</a:t>
            </a:r>
          </a:p>
          <a:p>
            <a:pPr algn="l">
              <a:lnSpc>
                <a:spcPct val="110000"/>
              </a:lnSpc>
              <a:spcBef>
                <a:spcPts val="0"/>
              </a:spcBef>
              <a:spcAft>
                <a:spcPts val="420"/>
              </a:spcAft>
            </a:pPr>
            <a:r>
              <a:rPr sz="900" b="1" i="0">
                <a:solidFill>
                  <a:srgbClr val="182B49"/>
                </a:solidFill>
                <a:latin typeface="Segoe UI Semibold"/>
              </a:rPr>
              <a:t>The structure sought</a:t>
            </a:r>
          </a:p>
          <a:p>
            <a:pPr marL="237744" indent="-237744" algn="l">
              <a:lnSpc>
                <a:spcPct val="116000"/>
              </a:lnSpc>
              <a:spcBef>
                <a:spcPts val="300"/>
              </a:spcBef>
              <a:spcAft>
                <a:spcPts val="0"/>
              </a:spcAft>
              <a:buClr>
                <a:srgbClr val="5C2D91"/>
              </a:buClr>
              <a:buSzPct val="86000"/>
              <a:buFont typeface="Arial"/>
              <a:buChar char="▪"/>
            </a:pPr>
            <a:r>
              <a:rPr sz="750" b="0" i="0">
                <a:solidFill>
                  <a:srgbClr val="1C2330"/>
                </a:solidFill>
                <a:latin typeface="Segoe UI"/>
              </a:rPr>
              <a:t>WHAT KIND of pattern are you looking for?</a:t>
            </a:r>
          </a:p>
          <a:p>
            <a:pPr marL="237744" indent="-237744" algn="l">
              <a:lnSpc>
                <a:spcPct val="116000"/>
              </a:lnSpc>
              <a:spcBef>
                <a:spcPts val="300"/>
              </a:spcBef>
              <a:spcAft>
                <a:spcPts val="0"/>
              </a:spcAft>
              <a:buClr>
                <a:srgbClr val="5C2D91"/>
              </a:buClr>
              <a:buSzPct val="86000"/>
              <a:buFont typeface="Arial"/>
              <a:buChar char="▪"/>
            </a:pPr>
            <a:r>
              <a:rPr sz="750" b="0" i="0">
                <a:solidFill>
                  <a:srgbClr val="1C2330"/>
                </a:solidFill>
                <a:latin typeface="Segoe UI"/>
              </a:rPr>
              <a:t>Groups? A lower-dimensional shape? Outliers? Rules?</a:t>
            </a:r>
          </a:p>
          <a:p>
            <a:pPr marL="237744" indent="-237744" algn="l">
              <a:lnSpc>
                <a:spcPct val="116000"/>
              </a:lnSpc>
              <a:spcBef>
                <a:spcPts val="300"/>
              </a:spcBef>
              <a:spcAft>
                <a:spcPts val="0"/>
              </a:spcAft>
              <a:buClr>
                <a:srgbClr val="5C2D91"/>
              </a:buClr>
              <a:buSzPct val="86000"/>
              <a:buFont typeface="Arial"/>
              <a:buChar char="▪"/>
            </a:pPr>
            <a:r>
              <a:rPr sz="750" b="0" i="0">
                <a:solidFill>
                  <a:srgbClr val="1C2330"/>
                </a:solidFill>
                <a:latin typeface="Segoe UI"/>
              </a:rPr>
              <a:t>This chooses the family of algorithm</a:t>
            </a:r>
          </a:p>
          <a:p>
            <a:pPr marL="237744" indent="-237744" algn="l">
              <a:lnSpc>
                <a:spcPct val="116000"/>
              </a:lnSpc>
              <a:spcBef>
                <a:spcPts val="300"/>
              </a:spcBef>
              <a:spcAft>
                <a:spcPts val="0"/>
              </a:spcAft>
              <a:buClr>
                <a:srgbClr val="5C2D91"/>
              </a:buClr>
              <a:buSzPct val="86000"/>
              <a:buFont typeface="Arial"/>
              <a:buChar char="▪"/>
            </a:pPr>
            <a:r>
              <a:rPr sz="750" b="0" i="0">
                <a:solidFill>
                  <a:srgbClr val="1C2330"/>
                </a:solidFill>
                <a:latin typeface="Segoe UI"/>
              </a:rPr>
              <a:t>Clustering vs. dimensionality reduction vs. anomaly detection</a:t>
            </a:r>
          </a:p>
        </p:txBody>
      </p:sp>
      <p:sp>
        <p:nvSpPr>
          <p:cNvPr id="19" name="Rectangle 18"/>
          <p:cNvSpPr/>
          <p:nvPr/>
        </p:nvSpPr>
        <p:spPr>
          <a:xfrm>
            <a:off x="502920" y="3986783"/>
            <a:ext cx="3594597"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4298685" y="3986783"/>
            <a:ext cx="3594597" cy="151790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B42318"/>
                </a:solidFill>
                <a:latin typeface="Segoe UI Semibold"/>
              </a:rPr>
              <a:t>SPECIFICATION 5</a:t>
            </a:r>
          </a:p>
          <a:p>
            <a:pPr algn="l">
              <a:lnSpc>
                <a:spcPct val="110000"/>
              </a:lnSpc>
              <a:spcBef>
                <a:spcPts val="0"/>
              </a:spcBef>
              <a:spcAft>
                <a:spcPts val="420"/>
              </a:spcAft>
            </a:pPr>
            <a:r>
              <a:rPr sz="900" b="1" i="0">
                <a:solidFill>
                  <a:srgbClr val="182B49"/>
                </a:solidFill>
                <a:latin typeface="Segoe UI Semibold"/>
              </a:rPr>
              <a:t>The success criterion</a:t>
            </a:r>
          </a:p>
          <a:p>
            <a:pPr marL="237744" indent="-237744" algn="l">
              <a:lnSpc>
                <a:spcPct val="116000"/>
              </a:lnSpc>
              <a:spcBef>
                <a:spcPts val="300"/>
              </a:spcBef>
              <a:spcAft>
                <a:spcPts val="0"/>
              </a:spcAft>
              <a:buClr>
                <a:srgbClr val="B42318"/>
              </a:buClr>
              <a:buSzPct val="86000"/>
              <a:buFont typeface="Arial"/>
              <a:buChar char="▪"/>
            </a:pPr>
            <a:r>
              <a:rPr sz="750" b="0" i="0">
                <a:solidFill>
                  <a:srgbClr val="1C2330"/>
                </a:solidFill>
                <a:latin typeface="Segoe UI"/>
              </a:rPr>
              <a:t>HOW will you judge the result - before you run it?</a:t>
            </a:r>
          </a:p>
          <a:p>
            <a:pPr marL="237744" indent="-237744" algn="l">
              <a:lnSpc>
                <a:spcPct val="116000"/>
              </a:lnSpc>
              <a:spcBef>
                <a:spcPts val="300"/>
              </a:spcBef>
              <a:spcAft>
                <a:spcPts val="0"/>
              </a:spcAft>
              <a:buClr>
                <a:srgbClr val="B42318"/>
              </a:buClr>
              <a:buSzPct val="86000"/>
              <a:buFont typeface="Arial"/>
              <a:buChar char="▪"/>
            </a:pPr>
            <a:r>
              <a:rPr sz="750" b="0" i="0">
                <a:solidFill>
                  <a:srgbClr val="1C2330"/>
                </a:solidFill>
                <a:latin typeface="Segoe UI"/>
              </a:rPr>
              <a:t>Internal measure, human review, or business outcome</a:t>
            </a:r>
          </a:p>
          <a:p>
            <a:pPr marL="237744" indent="-237744" algn="l">
              <a:lnSpc>
                <a:spcPct val="116000"/>
              </a:lnSpc>
              <a:spcBef>
                <a:spcPts val="300"/>
              </a:spcBef>
              <a:spcAft>
                <a:spcPts val="0"/>
              </a:spcAft>
              <a:buClr>
                <a:srgbClr val="B42318"/>
              </a:buClr>
              <a:buSzPct val="86000"/>
              <a:buFont typeface="Arial"/>
              <a:buChar char="▪"/>
            </a:pPr>
            <a:r>
              <a:rPr sz="750" b="0" i="0">
                <a:solidFill>
                  <a:srgbClr val="1C2330"/>
                </a:solidFill>
                <a:latin typeface="Segoe UI"/>
              </a:rPr>
              <a:t>Decide this FIRST, or you will rationalise whatever you get</a:t>
            </a:r>
          </a:p>
          <a:p>
            <a:pPr marL="237744" indent="-237744" algn="l">
              <a:lnSpc>
                <a:spcPct val="116000"/>
              </a:lnSpc>
              <a:spcBef>
                <a:spcPts val="300"/>
              </a:spcBef>
              <a:spcAft>
                <a:spcPts val="0"/>
              </a:spcAft>
              <a:buClr>
                <a:srgbClr val="B42318"/>
              </a:buClr>
              <a:buSzPct val="86000"/>
              <a:buFont typeface="Arial"/>
              <a:buChar char="▪"/>
            </a:pPr>
            <a:r>
              <a:rPr sz="750" b="0" i="0">
                <a:solidFill>
                  <a:srgbClr val="1C2330"/>
                </a:solidFill>
                <a:latin typeface="Segoe UI"/>
              </a:rPr>
              <a:t>The hardest specification, and the most skipped</a:t>
            </a:r>
          </a:p>
        </p:txBody>
      </p:sp>
      <p:sp>
        <p:nvSpPr>
          <p:cNvPr id="21" name="Rectangle 20"/>
          <p:cNvSpPr/>
          <p:nvPr/>
        </p:nvSpPr>
        <p:spPr>
          <a:xfrm>
            <a:off x="4298685" y="3986783"/>
            <a:ext cx="3594597" cy="6858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8094451" y="3986783"/>
            <a:ext cx="3594597" cy="151790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182B49"/>
                </a:solidFill>
                <a:latin typeface="Segoe UI Semibold"/>
              </a:rPr>
              <a:t>TOGETHER</a:t>
            </a:r>
          </a:p>
          <a:p>
            <a:pPr algn="l">
              <a:lnSpc>
                <a:spcPct val="110000"/>
              </a:lnSpc>
              <a:spcBef>
                <a:spcPts val="0"/>
              </a:spcBef>
              <a:spcAft>
                <a:spcPts val="420"/>
              </a:spcAft>
            </a:pPr>
            <a:r>
              <a:rPr sz="900" b="1" i="0">
                <a:solidFill>
                  <a:srgbClr val="182B49"/>
                </a:solidFill>
                <a:latin typeface="Segoe UI Semibold"/>
              </a:rPr>
              <a:t>= A well-posed problem</a:t>
            </a:r>
          </a:p>
          <a:p>
            <a:pPr marL="237744" indent="-237744" algn="l">
              <a:lnSpc>
                <a:spcPct val="116000"/>
              </a:lnSpc>
              <a:spcBef>
                <a:spcPts val="300"/>
              </a:spcBef>
              <a:spcAft>
                <a:spcPts val="0"/>
              </a:spcAft>
              <a:buClr>
                <a:srgbClr val="182B49"/>
              </a:buClr>
              <a:buSzPct val="86000"/>
              <a:buFont typeface="Arial"/>
              <a:buChar char="▪"/>
            </a:pPr>
            <a:r>
              <a:rPr sz="750" b="0" i="0">
                <a:solidFill>
                  <a:srgbClr val="1C2330"/>
                </a:solidFill>
                <a:latin typeface="Segoe UI"/>
              </a:rPr>
              <a:t>Objects · Features · Similarity · Structure · Success</a:t>
            </a:r>
          </a:p>
          <a:p>
            <a:pPr marL="237744" indent="-237744" algn="l">
              <a:lnSpc>
                <a:spcPct val="116000"/>
              </a:lnSpc>
              <a:spcBef>
                <a:spcPts val="300"/>
              </a:spcBef>
              <a:spcAft>
                <a:spcPts val="0"/>
              </a:spcAft>
              <a:buClr>
                <a:srgbClr val="182B49"/>
              </a:buClr>
              <a:buSzPct val="86000"/>
              <a:buFont typeface="Arial"/>
              <a:buChar char="▪"/>
            </a:pPr>
            <a:r>
              <a:rPr sz="750" b="0" i="0">
                <a:solidFill>
                  <a:srgbClr val="1C2330"/>
                </a:solidFill>
                <a:latin typeface="Segoe UI"/>
              </a:rPr>
              <a:t>Write all five down BEFORE opening your editor</a:t>
            </a:r>
          </a:p>
          <a:p>
            <a:pPr marL="237744" indent="-237744" algn="l">
              <a:lnSpc>
                <a:spcPct val="116000"/>
              </a:lnSpc>
              <a:spcBef>
                <a:spcPts val="300"/>
              </a:spcBef>
              <a:spcAft>
                <a:spcPts val="0"/>
              </a:spcAft>
              <a:buClr>
                <a:srgbClr val="182B49"/>
              </a:buClr>
              <a:buSzPct val="86000"/>
              <a:buFont typeface="Arial"/>
              <a:buChar char="▪"/>
            </a:pPr>
            <a:r>
              <a:rPr sz="750" b="0" i="0">
                <a:solidFill>
                  <a:srgbClr val="1C2330"/>
                </a:solidFill>
                <a:latin typeface="Segoe UI"/>
              </a:rPr>
              <a:t>Any one left implicit will be decided by accident</a:t>
            </a:r>
          </a:p>
          <a:p>
            <a:pPr marL="237744" indent="-237744" algn="l">
              <a:lnSpc>
                <a:spcPct val="116000"/>
              </a:lnSpc>
              <a:spcBef>
                <a:spcPts val="300"/>
              </a:spcBef>
              <a:spcAft>
                <a:spcPts val="0"/>
              </a:spcAft>
              <a:buClr>
                <a:srgbClr val="182B49"/>
              </a:buClr>
              <a:buSzPct val="86000"/>
              <a:buFont typeface="Arial"/>
              <a:buChar char="▪"/>
            </a:pPr>
            <a:r>
              <a:rPr sz="750" b="0" i="0">
                <a:solidFill>
                  <a:srgbClr val="1C2330"/>
                </a:solidFill>
                <a:latin typeface="Segoe UI"/>
              </a:rPr>
              <a:t>This is your checklist for every practical this semester</a:t>
            </a:r>
          </a:p>
        </p:txBody>
      </p:sp>
      <p:sp>
        <p:nvSpPr>
          <p:cNvPr id="23" name="Rectangle 22"/>
          <p:cNvSpPr/>
          <p:nvPr/>
        </p:nvSpPr>
        <p:spPr>
          <a:xfrm>
            <a:off x="8094451" y="3986783"/>
            <a:ext cx="3594597" cy="68580"/>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APPLY IT   </a:t>
            </a:r>
            <a:r>
              <a:rPr sz="1350" b="0" i="0">
                <a:solidFill>
                  <a:srgbClr val="1C2330"/>
                </a:solidFill>
                <a:latin typeface="Segoe UI"/>
              </a:rPr>
              <a:t>Pick any dataset you know. Say its OBJECT out loud in three words.</a:t>
            </a:r>
          </a:p>
        </p:txBody>
      </p:sp>
      <p:sp>
        <p:nvSpPr>
          <p:cNvPr id="25" name="Rectangle 24"/>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1.2 PROBLEM FORMULATION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Worked Formulation: E-Commerce Customer Segmentation</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17</a:t>
            </a:r>
          </a:p>
        </p:txBody>
      </p:sp>
      <p:sp>
        <p:nvSpPr>
          <p:cNvPr id="11" name="TextBox 10"/>
          <p:cNvSpPr txBox="1"/>
          <p:nvPr/>
        </p:nvSpPr>
        <p:spPr>
          <a:xfrm>
            <a:off x="502920" y="5303520"/>
            <a:ext cx="37033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THE CLASSIC STARTING POINT</a:t>
            </a:r>
          </a:p>
        </p:txBody>
      </p:sp>
      <p:sp>
        <p:nvSpPr>
          <p:cNvPr id="12" name="Rounded Rectangle 11"/>
          <p:cNvSpPr/>
          <p:nvPr/>
        </p:nvSpPr>
        <p:spPr>
          <a:xfrm>
            <a:off x="502920" y="5596128"/>
            <a:ext cx="1173480" cy="731519"/>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200"/>
              </a:spcAft>
            </a:pPr>
            <a:r>
              <a:rPr sz="1100" b="1" i="0">
                <a:solidFill>
                  <a:srgbClr val="0096C7"/>
                </a:solidFill>
                <a:latin typeface="Segoe UI Semibold"/>
              </a:rPr>
              <a:t>R</a:t>
            </a:r>
          </a:p>
          <a:p>
            <a:pPr algn="ctr">
              <a:lnSpc>
                <a:spcPct val="108000"/>
              </a:lnSpc>
              <a:spcBef>
                <a:spcPts val="0"/>
              </a:spcBef>
              <a:spcAft>
                <a:spcPts val="0"/>
              </a:spcAft>
            </a:pPr>
            <a:r>
              <a:rPr sz="850" b="0" i="0">
                <a:solidFill>
                  <a:srgbClr val="1C2330"/>
                </a:solidFill>
                <a:latin typeface="Segoe UI"/>
              </a:rPr>
              <a:t>Recency - days since last order</a:t>
            </a:r>
          </a:p>
        </p:txBody>
      </p:sp>
      <p:sp>
        <p:nvSpPr>
          <p:cNvPr id="13" name="Rounded Rectangle 12"/>
          <p:cNvSpPr/>
          <p:nvPr/>
        </p:nvSpPr>
        <p:spPr>
          <a:xfrm>
            <a:off x="1767840" y="5596128"/>
            <a:ext cx="1173480" cy="731519"/>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200"/>
              </a:spcAft>
            </a:pPr>
            <a:r>
              <a:rPr sz="1100" b="1" i="0">
                <a:solidFill>
                  <a:srgbClr val="D97706"/>
                </a:solidFill>
                <a:latin typeface="Segoe UI Semibold"/>
              </a:rPr>
              <a:t>F</a:t>
            </a:r>
          </a:p>
          <a:p>
            <a:pPr algn="ctr">
              <a:lnSpc>
                <a:spcPct val="108000"/>
              </a:lnSpc>
              <a:spcBef>
                <a:spcPts val="0"/>
              </a:spcBef>
              <a:spcAft>
                <a:spcPts val="0"/>
              </a:spcAft>
            </a:pPr>
            <a:r>
              <a:rPr sz="850" b="0" i="0">
                <a:solidFill>
                  <a:srgbClr val="1C2330"/>
                </a:solidFill>
                <a:latin typeface="Segoe UI"/>
              </a:rPr>
              <a:t>Frequency - orders per year</a:t>
            </a:r>
          </a:p>
        </p:txBody>
      </p:sp>
      <p:sp>
        <p:nvSpPr>
          <p:cNvPr id="14" name="Rounded Rectangle 13"/>
          <p:cNvSpPr/>
          <p:nvPr/>
        </p:nvSpPr>
        <p:spPr>
          <a:xfrm>
            <a:off x="3032760" y="5596128"/>
            <a:ext cx="1173480" cy="731519"/>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200"/>
              </a:spcAft>
            </a:pPr>
            <a:r>
              <a:rPr sz="1100" b="1" i="0">
                <a:solidFill>
                  <a:srgbClr val="107C41"/>
                </a:solidFill>
                <a:latin typeface="Segoe UI Semibold"/>
              </a:rPr>
              <a:t>M</a:t>
            </a:r>
          </a:p>
          <a:p>
            <a:pPr algn="ctr">
              <a:lnSpc>
                <a:spcPct val="108000"/>
              </a:lnSpc>
              <a:spcBef>
                <a:spcPts val="0"/>
              </a:spcBef>
              <a:spcAft>
                <a:spcPts val="0"/>
              </a:spcAft>
            </a:pPr>
            <a:r>
              <a:rPr sz="850" b="0" i="0">
                <a:solidFill>
                  <a:srgbClr val="1C2330"/>
                </a:solidFill>
                <a:latin typeface="Segoe UI"/>
              </a:rPr>
              <a:t>Monetary - average basket</a:t>
            </a:r>
          </a:p>
        </p:txBody>
      </p:sp>
      <p:sp>
        <p:nvSpPr>
          <p:cNvPr id="15" name="Rounded Rectangle 14"/>
          <p:cNvSpPr/>
          <p:nvPr/>
        </p:nvSpPr>
        <p:spPr>
          <a:xfrm>
            <a:off x="502920" y="1792224"/>
            <a:ext cx="3703320" cy="1730776"/>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19456" tIns="219456" rIns="182880" bIns="0" rtlCol="0" anchor="t"/>
          <a:lstStyle/>
          <a:p>
            <a:pPr algn="l">
              <a:lnSpc>
                <a:spcPct val="115000"/>
              </a:lnSpc>
              <a:spcBef>
                <a:spcPts val="0"/>
              </a:spcBef>
              <a:spcAft>
                <a:spcPts val="600"/>
              </a:spcAft>
            </a:pPr>
            <a:r>
              <a:rPr sz="750" b="1" i="0">
                <a:solidFill>
                  <a:srgbClr val="0096C7"/>
                </a:solidFill>
                <a:latin typeface="Segoe UI Semibold"/>
              </a:rPr>
              <a:t>THE PROBLEM</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An online retailer has 2 years of order history</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Marketing wants to 'understand our customers better'</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There are no existing segments and no target column</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Task: turn that vague request into a well-posed problem</a:t>
            </a:r>
          </a:p>
        </p:txBody>
      </p:sp>
      <p:sp>
        <p:nvSpPr>
          <p:cNvPr id="16" name="Rounded Rectangle 15"/>
          <p:cNvSpPr/>
          <p:nvPr/>
        </p:nvSpPr>
        <p:spPr>
          <a:xfrm>
            <a:off x="502920" y="3705880"/>
            <a:ext cx="3703320" cy="1414759"/>
          </a:xfrm>
          <a:prstGeom prst="roundRect">
            <a:avLst>
              <a:gd name="adj" fmla="val 5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182880" bIns="0" rtlCol="0" anchor="t"/>
          <a:lstStyle/>
          <a:p>
            <a:pPr algn="l">
              <a:lnSpc>
                <a:spcPct val="115000"/>
              </a:lnSpc>
              <a:spcBef>
                <a:spcPts val="0"/>
              </a:spcBef>
              <a:spcAft>
                <a:spcPts val="480"/>
              </a:spcAft>
            </a:pPr>
            <a:r>
              <a:rPr sz="750" b="1" i="0">
                <a:solidFill>
                  <a:srgbClr val="D97706"/>
                </a:solidFill>
                <a:latin typeface="Segoe UI Semibold"/>
              </a:rPr>
              <a:t>WHY IT MATTERS</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'Understand our customers better' is not a problem statement</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Aggregate to the right OBJECT before anything else</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A success criterion agreed in advance stops you rationalising the output</a:t>
            </a:r>
          </a:p>
        </p:txBody>
      </p:sp>
      <p:sp>
        <p:nvSpPr>
          <p:cNvPr id="17" name="Rounded Rectangle 16"/>
          <p:cNvSpPr/>
          <p:nvPr/>
        </p:nvSpPr>
        <p:spPr>
          <a:xfrm>
            <a:off x="4443983" y="1792224"/>
            <a:ext cx="7245065" cy="3584447"/>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37744" tIns="219456" rIns="219456" bIns="0" rtlCol="0" anchor="t"/>
          <a:lstStyle/>
          <a:p>
            <a:pPr algn="l">
              <a:lnSpc>
                <a:spcPct val="115000"/>
              </a:lnSpc>
              <a:spcBef>
                <a:spcPts val="0"/>
              </a:spcBef>
              <a:spcAft>
                <a:spcPts val="720"/>
              </a:spcAft>
            </a:pPr>
            <a:r>
              <a:rPr sz="750" b="1" i="0">
                <a:solidFill>
                  <a:srgbClr val="0096C7"/>
                </a:solidFill>
                <a:latin typeface="Segoe UI Semibold"/>
              </a:rPr>
              <a:t>STEP-BY-STEP SOLUTION</a:t>
            </a:r>
          </a:p>
          <a:p>
            <a:pPr algn="l">
              <a:lnSpc>
                <a:spcPct val="120000"/>
              </a:lnSpc>
              <a:spcBef>
                <a:spcPts val="650"/>
              </a:spcBef>
              <a:spcAft>
                <a:spcPts val="0"/>
              </a:spcAft>
            </a:pPr>
            <a:r>
              <a:rPr sz="969" b="1" i="0">
                <a:solidFill>
                  <a:srgbClr val="182B49"/>
                </a:solidFill>
                <a:latin typeface="Segoe UI Semibold"/>
              </a:rPr>
              <a:t>1. Objects  </a:t>
            </a:r>
            <a:r>
              <a:rPr sz="969" b="0" i="0">
                <a:solidFill>
                  <a:srgbClr val="1C2330"/>
                </a:solidFill>
                <a:latin typeface="Segoe UI"/>
              </a:rPr>
              <a:t>the CUSTOMER, not the order. Aggregate the order table to one row per customer first - this step is easy to skip and fatal.</a:t>
            </a:r>
          </a:p>
          <a:p>
            <a:pPr algn="l">
              <a:lnSpc>
                <a:spcPct val="120000"/>
              </a:lnSpc>
              <a:spcBef>
                <a:spcPts val="650"/>
              </a:spcBef>
              <a:spcAft>
                <a:spcPts val="0"/>
              </a:spcAft>
            </a:pPr>
            <a:r>
              <a:rPr sz="969" b="1" i="0">
                <a:solidFill>
                  <a:srgbClr val="182B49"/>
                </a:solidFill>
                <a:latin typeface="Segoe UI Semibold"/>
              </a:rPr>
              <a:t>2. Features  </a:t>
            </a:r>
            <a:r>
              <a:rPr sz="969" b="0" i="0">
                <a:solidFill>
                  <a:srgbClr val="1C2330"/>
                </a:solidFill>
                <a:latin typeface="Segoe UI"/>
              </a:rPr>
              <a:t>recency (days since last order), frequency (orders per year), monetary (average basket value), category spread, discount sensitivity. The classic RFM starting point.</a:t>
            </a:r>
          </a:p>
          <a:p>
            <a:pPr algn="l">
              <a:lnSpc>
                <a:spcPct val="120000"/>
              </a:lnSpc>
              <a:spcBef>
                <a:spcPts val="650"/>
              </a:spcBef>
              <a:spcAft>
                <a:spcPts val="0"/>
              </a:spcAft>
            </a:pPr>
            <a:r>
              <a:rPr sz="969" b="1" i="0">
                <a:solidFill>
                  <a:srgbClr val="182B49"/>
                </a:solidFill>
                <a:latin typeface="Segoe UI Semibold"/>
              </a:rPr>
              <a:t>3. Similarity  </a:t>
            </a:r>
            <a:r>
              <a:rPr sz="969" b="0" i="0">
                <a:solidFill>
                  <a:srgbClr val="1C2330"/>
                </a:solidFill>
                <a:latin typeface="Segoe UI"/>
              </a:rPr>
              <a:t>Euclidean distance ON STANDARDISED features - because monetary value is in thousands of rupees and frequency is in single digits.</a:t>
            </a:r>
          </a:p>
          <a:p>
            <a:pPr algn="l">
              <a:lnSpc>
                <a:spcPct val="120000"/>
              </a:lnSpc>
              <a:spcBef>
                <a:spcPts val="650"/>
              </a:spcBef>
              <a:spcAft>
                <a:spcPts val="0"/>
              </a:spcAft>
            </a:pPr>
            <a:r>
              <a:rPr sz="969" b="1" i="0">
                <a:solidFill>
                  <a:srgbClr val="182B49"/>
                </a:solidFill>
                <a:latin typeface="Segoe UI Semibold"/>
              </a:rPr>
              <a:t>4. Structure sought  </a:t>
            </a:r>
            <a:r>
              <a:rPr sz="969" b="0" i="0">
                <a:solidFill>
                  <a:srgbClr val="1C2330"/>
                </a:solidFill>
                <a:latin typeface="Segoe UI"/>
              </a:rPr>
              <a:t>clusters. Try k from 2 to 8 and inspect - the business can realistically act on 3 to 6 segments.</a:t>
            </a:r>
          </a:p>
          <a:p>
            <a:pPr algn="l">
              <a:lnSpc>
                <a:spcPct val="120000"/>
              </a:lnSpc>
              <a:spcBef>
                <a:spcPts val="650"/>
              </a:spcBef>
              <a:spcAft>
                <a:spcPts val="0"/>
              </a:spcAft>
            </a:pPr>
            <a:r>
              <a:rPr sz="969" b="1" i="0">
                <a:solidFill>
                  <a:srgbClr val="182B49"/>
                </a:solidFill>
                <a:latin typeface="Segoe UI Semibold"/>
              </a:rPr>
              <a:t>5. Success criterion  </a:t>
            </a:r>
            <a:r>
              <a:rPr sz="969" b="0" i="0">
                <a:solidFill>
                  <a:srgbClr val="1C2330"/>
                </a:solidFill>
                <a:latin typeface="Segoe UI"/>
              </a:rPr>
              <a:t>agreed in advance: each segment must be describable in one sentence a marketer understands, and must differ measurably in at least two features.</a:t>
            </a:r>
          </a:p>
          <a:p>
            <a:pPr algn="l">
              <a:lnSpc>
                <a:spcPct val="120000"/>
              </a:lnSpc>
              <a:spcBef>
                <a:spcPts val="650"/>
              </a:spcBef>
              <a:spcAft>
                <a:spcPts val="0"/>
              </a:spcAft>
            </a:pPr>
            <a:r>
              <a:rPr sz="969" b="1" i="0">
                <a:solidFill>
                  <a:srgbClr val="182B49"/>
                </a:solidFill>
                <a:latin typeface="Segoe UI Semibold"/>
              </a:rPr>
              <a:t>Why criterion 5 is the good one  </a:t>
            </a:r>
            <a:r>
              <a:rPr sz="969" b="0" i="0">
                <a:solidFill>
                  <a:srgbClr val="1C2330"/>
                </a:solidFill>
                <a:latin typeface="Segoe UI"/>
              </a:rPr>
              <a:t>it is a BUSINESS test, not a mathematical one. A statistically excellent clustering nobody can act on has failed.</a:t>
            </a:r>
          </a:p>
        </p:txBody>
      </p:sp>
      <p:sp>
        <p:nvSpPr>
          <p:cNvPr id="18" name="Rounded Rectangle 17"/>
          <p:cNvSpPr/>
          <p:nvPr/>
        </p:nvSpPr>
        <p:spPr>
          <a:xfrm>
            <a:off x="4443983" y="5541264"/>
            <a:ext cx="7245065" cy="786384"/>
          </a:xfrm>
          <a:prstGeom prst="roundRect">
            <a:avLst>
              <a:gd name="adj" fmla="val 8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lstStyle/>
          <a:p>
            <a:pPr algn="l">
              <a:lnSpc>
                <a:spcPct val="114000"/>
              </a:lnSpc>
              <a:spcBef>
                <a:spcPts val="0"/>
              </a:spcBef>
              <a:spcAft>
                <a:spcPts val="0"/>
              </a:spcAft>
            </a:pPr>
            <a:r>
              <a:rPr sz="1150" b="1" i="0">
                <a:solidFill>
                  <a:srgbClr val="107C41"/>
                </a:solidFill>
                <a:latin typeface="Segoe UI Semibold"/>
              </a:rPr>
              <a:t>ANSWER   </a:t>
            </a:r>
            <a:r>
              <a:rPr sz="1500" b="1" i="0">
                <a:solidFill>
                  <a:srgbClr val="182B49"/>
                </a:solidFill>
                <a:latin typeface="Cambria Math"/>
              </a:rPr>
              <a:t>Vague request → five explicit specifications → a problem you can actually solve.</a:t>
            </a:r>
          </a:p>
        </p:txBody>
      </p:sp>
      <p:sp>
        <p:nvSpPr>
          <p:cNvPr id="19" name="Rectangle 18"/>
          <p:cNvSpPr/>
          <p:nvPr/>
        </p:nvSpPr>
        <p:spPr>
          <a:xfrm>
            <a:off x="4443983" y="5541264"/>
            <a:ext cx="73152" cy="786384"/>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1.2 PROBLEM FORMULATION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Evaluation Problem - How Do You Know It Worked?</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18</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No ground truth does not mean no evaluation - it means you must choose your evidence deliberately.</a:t>
            </a:r>
          </a:p>
        </p:txBody>
      </p:sp>
      <p:sp>
        <p:nvSpPr>
          <p:cNvPr id="12" name="Rounded Rectangle 11"/>
          <p:cNvSpPr/>
          <p:nvPr/>
        </p:nvSpPr>
        <p:spPr>
          <a:xfrm>
            <a:off x="502920" y="4544568"/>
            <a:ext cx="3423909" cy="960120"/>
          </a:xfrm>
          <a:prstGeom prst="roundRect">
            <a:avLst>
              <a:gd name="adj" fmla="val 10000"/>
            </a:avLst>
          </a:prstGeom>
          <a:solidFill>
            <a:srgbClr val="DBF0F7"/>
          </a:solidFill>
          <a:ln w="22225">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0096C7"/>
                </a:solidFill>
                <a:latin typeface="Segoe UI Semibold"/>
              </a:rPr>
              <a:t>Internal</a:t>
            </a:r>
          </a:p>
          <a:p>
            <a:pPr algn="ctr">
              <a:lnSpc>
                <a:spcPct val="110000"/>
              </a:lnSpc>
              <a:spcBef>
                <a:spcPts val="300"/>
              </a:spcBef>
              <a:spcAft>
                <a:spcPts val="0"/>
              </a:spcAft>
            </a:pPr>
            <a:r>
              <a:rPr sz="950" b="0" i="0">
                <a:solidFill>
                  <a:srgbClr val="586476"/>
                </a:solidFill>
                <a:latin typeface="Segoe UI"/>
              </a:rPr>
              <a:t>is the geometry tight?
silhouette</a:t>
            </a:r>
          </a:p>
        </p:txBody>
      </p:sp>
      <p:sp>
        <p:nvSpPr>
          <p:cNvPr id="13" name="Right Arrow 12"/>
          <p:cNvSpPr/>
          <p:nvPr/>
        </p:nvSpPr>
        <p:spPr>
          <a:xfrm>
            <a:off x="4018269"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4384029" y="4544568"/>
            <a:ext cx="3423909" cy="960120"/>
          </a:xfrm>
          <a:prstGeom prst="roundRect">
            <a:avLst>
              <a:gd name="adj" fmla="val 10000"/>
            </a:avLst>
          </a:prstGeom>
          <a:solidFill>
            <a:srgbClr val="F9EBDC"/>
          </a:solidFill>
          <a:ln w="2222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D97706"/>
                </a:solidFill>
                <a:latin typeface="Segoe UI Semibold"/>
              </a:rPr>
              <a:t>Human</a:t>
            </a:r>
          </a:p>
          <a:p>
            <a:pPr algn="ctr">
              <a:lnSpc>
                <a:spcPct val="110000"/>
              </a:lnSpc>
              <a:spcBef>
                <a:spcPts val="300"/>
              </a:spcBef>
              <a:spcAft>
                <a:spcPts val="0"/>
              </a:spcAft>
            </a:pPr>
            <a:r>
              <a:rPr sz="950" b="0" i="0">
                <a:solidFill>
                  <a:srgbClr val="586476"/>
                </a:solidFill>
                <a:latin typeface="Segoe UI"/>
              </a:rPr>
              <a:t>can an expert
name the groups?</a:t>
            </a:r>
          </a:p>
        </p:txBody>
      </p:sp>
      <p:sp>
        <p:nvSpPr>
          <p:cNvPr id="15" name="Right Arrow 14"/>
          <p:cNvSpPr/>
          <p:nvPr/>
        </p:nvSpPr>
        <p:spPr>
          <a:xfrm>
            <a:off x="7899379"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265139" y="4544568"/>
            <a:ext cx="3423909" cy="960120"/>
          </a:xfrm>
          <a:prstGeom prst="roundRect">
            <a:avLst>
              <a:gd name="adj" fmla="val 10000"/>
            </a:avLst>
          </a:prstGeom>
          <a:solidFill>
            <a:srgbClr val="DDECE4"/>
          </a:solidFill>
          <a:ln w="2222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107C41"/>
                </a:solidFill>
                <a:latin typeface="Segoe UI Semibold"/>
              </a:rPr>
              <a:t>Downstream</a:t>
            </a:r>
          </a:p>
          <a:p>
            <a:pPr algn="ctr">
              <a:lnSpc>
                <a:spcPct val="110000"/>
              </a:lnSpc>
              <a:spcBef>
                <a:spcPts val="300"/>
              </a:spcBef>
              <a:spcAft>
                <a:spcPts val="0"/>
              </a:spcAft>
            </a:pPr>
            <a:r>
              <a:rPr sz="950" b="0" i="0">
                <a:solidFill>
                  <a:srgbClr val="586476"/>
                </a:solidFill>
                <a:latin typeface="Segoe UI"/>
              </a:rPr>
              <a:t>did the DECISION
improve?</a:t>
            </a:r>
          </a:p>
        </p:txBody>
      </p:sp>
      <p:sp>
        <p:nvSpPr>
          <p:cNvPr id="17" name="Rounded Rectangle 16"/>
          <p:cNvSpPr/>
          <p:nvPr/>
        </p:nvSpPr>
        <p:spPr>
          <a:xfrm>
            <a:off x="502920"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B42318"/>
                </a:solidFill>
                <a:latin typeface="Segoe UI Semibold"/>
              </a:rPr>
              <a:t>The core difficulty  </a:t>
            </a:r>
            <a:r>
              <a:rPr sz="810" b="0" i="0">
                <a:solidFill>
                  <a:srgbClr val="1C2330"/>
                </a:solidFill>
                <a:latin typeface="Segoe UI"/>
              </a:rPr>
              <a:t>there is no ground truth. Nobody wrote down the correct answer, so there is nothing to compare against.</a:t>
            </a:r>
          </a:p>
          <a:p>
            <a:pPr algn="l">
              <a:lnSpc>
                <a:spcPct val="116000"/>
              </a:lnSpc>
              <a:spcBef>
                <a:spcPts val="540"/>
              </a:spcBef>
              <a:spcAft>
                <a:spcPts val="0"/>
              </a:spcAft>
            </a:pPr>
            <a:r>
              <a:rPr sz="810" b="1" i="0">
                <a:solidFill>
                  <a:srgbClr val="B42318"/>
                </a:solidFill>
                <a:latin typeface="Segoe UI Semibold"/>
              </a:rPr>
              <a:t>You cannot report accuracy  </a:t>
            </a:r>
            <a:r>
              <a:rPr sz="810" b="0" i="0">
                <a:solidFill>
                  <a:srgbClr val="1C2330"/>
                </a:solidFill>
                <a:latin typeface="Segoe UI"/>
              </a:rPr>
              <a:t>'94% accurate' is meaningless when no correct grouping exists.</a:t>
            </a:r>
          </a:p>
          <a:p>
            <a:pPr algn="l">
              <a:lnSpc>
                <a:spcPct val="116000"/>
              </a:lnSpc>
              <a:spcBef>
                <a:spcPts val="540"/>
              </a:spcBef>
              <a:spcAft>
                <a:spcPts val="0"/>
              </a:spcAft>
            </a:pPr>
            <a:r>
              <a:rPr sz="810" b="1" i="0">
                <a:solidFill>
                  <a:srgbClr val="B42318"/>
                </a:solidFill>
                <a:latin typeface="Segoe UI Semibold"/>
              </a:rPr>
              <a:t>Different valid answers  </a:t>
            </a:r>
            <a:r>
              <a:rPr sz="810" b="0" i="0">
                <a:solidFill>
                  <a:srgbClr val="1C2330"/>
                </a:solidFill>
                <a:latin typeface="Segoe UI"/>
              </a:rPr>
              <a:t>changing the metric, the features or k gives a different clustering - and several may be defensible.</a:t>
            </a:r>
          </a:p>
          <a:p>
            <a:pPr algn="l">
              <a:lnSpc>
                <a:spcPct val="116000"/>
              </a:lnSpc>
              <a:spcBef>
                <a:spcPts val="540"/>
              </a:spcBef>
              <a:spcAft>
                <a:spcPts val="0"/>
              </a:spcAft>
            </a:pPr>
            <a:r>
              <a:rPr sz="810" b="1" i="0">
                <a:solidFill>
                  <a:srgbClr val="B42318"/>
                </a:solidFill>
                <a:latin typeface="Segoe UI Semibold"/>
              </a:rPr>
              <a:t>The temptation  </a:t>
            </a:r>
            <a:r>
              <a:rPr sz="810" b="0" i="0">
                <a:solidFill>
                  <a:srgbClr val="1C2330"/>
                </a:solidFill>
                <a:latin typeface="Segoe UI"/>
              </a:rPr>
              <a:t>run it, look at the output, then invent a story about why it is good. This is extremely easy to do accidentally.</a:t>
            </a:r>
          </a:p>
        </p:txBody>
      </p:sp>
      <p:sp>
        <p:nvSpPr>
          <p:cNvPr id="18" name="Rectangle 17"/>
          <p:cNvSpPr/>
          <p:nvPr/>
        </p:nvSpPr>
        <p:spPr>
          <a:xfrm>
            <a:off x="502920" y="2267712"/>
            <a:ext cx="5455904"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85800"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Why this is genuinely hard</a:t>
            </a:r>
          </a:p>
        </p:txBody>
      </p:sp>
      <p:sp>
        <p:nvSpPr>
          <p:cNvPr id="20" name="Rounded Rectangle 19"/>
          <p:cNvSpPr/>
          <p:nvPr/>
        </p:nvSpPr>
        <p:spPr>
          <a:xfrm>
            <a:off x="6233144"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30" b="1" i="0">
                <a:solidFill>
                  <a:srgbClr val="107C41"/>
                </a:solidFill>
                <a:latin typeface="Segoe UI Semibold"/>
              </a:rPr>
              <a:t>1. Internal measures  </a:t>
            </a:r>
            <a:r>
              <a:rPr sz="830" b="0" i="0">
                <a:solidFill>
                  <a:srgbClr val="1C2330"/>
                </a:solidFill>
                <a:latin typeface="Segoe UI"/>
              </a:rPr>
              <a:t>score the geometry itself - are clusters tight inside and far apart outside? Silhouette score, within-cluster sum of squares. No labels required.</a:t>
            </a:r>
          </a:p>
          <a:p>
            <a:pPr algn="l">
              <a:lnSpc>
                <a:spcPct val="116000"/>
              </a:lnSpc>
              <a:spcBef>
                <a:spcPts val="550"/>
              </a:spcBef>
              <a:spcAft>
                <a:spcPts val="0"/>
              </a:spcAft>
            </a:pPr>
            <a:r>
              <a:rPr sz="830" b="1" i="0">
                <a:solidFill>
                  <a:srgbClr val="107C41"/>
                </a:solidFill>
                <a:latin typeface="Segoe UI Semibold"/>
              </a:rPr>
              <a:t>2. External / human judgement  </a:t>
            </a:r>
            <a:r>
              <a:rPr sz="830" b="0" i="0">
                <a:solidFill>
                  <a:srgbClr val="1C2330"/>
                </a:solidFill>
                <a:latin typeface="Segoe UI"/>
              </a:rPr>
              <a:t>show the segments to a domain expert. Can they name each one? Do they recognise them? Unglamorous and very effective.</a:t>
            </a:r>
          </a:p>
          <a:p>
            <a:pPr algn="l">
              <a:lnSpc>
                <a:spcPct val="116000"/>
              </a:lnSpc>
              <a:spcBef>
                <a:spcPts val="550"/>
              </a:spcBef>
              <a:spcAft>
                <a:spcPts val="0"/>
              </a:spcAft>
            </a:pPr>
            <a:r>
              <a:rPr sz="830" b="1" i="0">
                <a:solidFill>
                  <a:srgbClr val="107C41"/>
                </a:solidFill>
                <a:latin typeface="Segoe UI Semibold"/>
              </a:rPr>
              <a:t>3. Downstream outcome  </a:t>
            </a:r>
            <a:r>
              <a:rPr sz="830" b="0" i="0">
                <a:solidFill>
                  <a:srgbClr val="1C2330"/>
                </a:solidFill>
                <a:latin typeface="Segoe UI"/>
              </a:rPr>
              <a:t>the strongest test. Run a campaign targeted by segment and measure whether response improved. The clustering is good if the DECISION it enabled was good.</a:t>
            </a:r>
          </a:p>
        </p:txBody>
      </p:sp>
      <p:sp>
        <p:nvSpPr>
          <p:cNvPr id="21" name="Rectangle 20"/>
          <p:cNvSpPr/>
          <p:nvPr/>
        </p:nvSpPr>
        <p:spPr>
          <a:xfrm>
            <a:off x="6233144" y="2267712"/>
            <a:ext cx="5455904" cy="384048"/>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6416024"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Three honest ways to evaluate</a:t>
            </a:r>
          </a:p>
        </p:txBody>
      </p:sp>
      <p:sp>
        <p:nvSpPr>
          <p:cNvPr id="23" name="Rounded Rectangle 22"/>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RANK THEM   </a:t>
            </a:r>
            <a:r>
              <a:rPr sz="1350" b="0" i="0">
                <a:solidFill>
                  <a:srgbClr val="1C2330"/>
                </a:solidFill>
                <a:latin typeface="Segoe UI"/>
              </a:rPr>
              <a:t>Which of the three would convince YOU? Which would convince a manager who does not know what a silhouette score is?</a:t>
            </a:r>
          </a:p>
        </p:txBody>
      </p:sp>
      <p:sp>
        <p:nvSpPr>
          <p:cNvPr id="24" name="Rectangle 23"/>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CHECK YOUR UNDERSTANDING</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Quick Check - Section 2</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19</a:t>
            </a:r>
          </a:p>
        </p:txBody>
      </p:sp>
      <p:sp>
        <p:nvSpPr>
          <p:cNvPr id="11" name="Rounded Rectangle 10"/>
          <p:cNvSpPr/>
          <p:nvPr/>
        </p:nvSpPr>
        <p:spPr>
          <a:xfrm>
            <a:off x="7757129" y="1792224"/>
            <a:ext cx="1892807" cy="4242816"/>
          </a:xfrm>
          <a:prstGeom prst="roundRect">
            <a:avLst>
              <a:gd name="adj" fmla="val 9000"/>
            </a:avLst>
          </a:prstGeom>
          <a:solidFill>
            <a:srgbClr val="DBF0F7"/>
          </a:solidFill>
          <a:ln w="2413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300"/>
              </a:spcAft>
            </a:pPr>
            <a:r>
              <a:rPr sz="1050" b="1" i="0">
                <a:solidFill>
                  <a:srgbClr val="0096C7"/>
                </a:solidFill>
                <a:latin typeface="Segoe UI Semibold"/>
              </a:rPr>
              <a:t>GEOMETRY</a:t>
            </a:r>
          </a:p>
          <a:p>
            <a:pPr algn="ctr">
              <a:lnSpc>
                <a:spcPct val="115000"/>
              </a:lnSpc>
              <a:spcBef>
                <a:spcPts val="0"/>
              </a:spcBef>
              <a:spcAft>
                <a:spcPts val="300"/>
              </a:spcAft>
            </a:pPr>
            <a:r>
              <a:rPr sz="2000" b="1" i="0">
                <a:solidFill>
                  <a:srgbClr val="182B49"/>
                </a:solidFill>
                <a:latin typeface="Segoe UI Semibold"/>
              </a:rPr>
              <a:t>0.71</a:t>
            </a:r>
          </a:p>
          <a:p>
            <a:pPr algn="ctr">
              <a:lnSpc>
                <a:spcPct val="110000"/>
              </a:lnSpc>
              <a:spcBef>
                <a:spcPts val="0"/>
              </a:spcBef>
              <a:spcAft>
                <a:spcPts val="0"/>
              </a:spcAft>
            </a:pPr>
            <a:r>
              <a:rPr sz="950" b="0" i="0">
                <a:solidFill>
                  <a:srgbClr val="586476"/>
                </a:solidFill>
                <a:latin typeface="Segoe UI"/>
              </a:rPr>
              <a:t>silhouette says: excellent</a:t>
            </a:r>
          </a:p>
        </p:txBody>
      </p:sp>
      <p:sp>
        <p:nvSpPr>
          <p:cNvPr id="12" name="Rounded Rectangle 11"/>
          <p:cNvSpPr/>
          <p:nvPr/>
        </p:nvSpPr>
        <p:spPr>
          <a:xfrm>
            <a:off x="9796241" y="1792224"/>
            <a:ext cx="1892807" cy="4242816"/>
          </a:xfrm>
          <a:prstGeom prst="roundRect">
            <a:avLst>
              <a:gd name="adj" fmla="val 9000"/>
            </a:avLst>
          </a:prstGeom>
          <a:solidFill>
            <a:srgbClr val="F4E0DE"/>
          </a:solidFill>
          <a:ln w="2413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300"/>
              </a:spcAft>
            </a:pPr>
            <a:r>
              <a:rPr sz="1050" b="1" i="0">
                <a:solidFill>
                  <a:srgbClr val="B42318"/>
                </a:solidFill>
                <a:latin typeface="Segoe UI Semibold"/>
              </a:rPr>
              <a:t>MEANING</a:t>
            </a:r>
          </a:p>
          <a:p>
            <a:pPr algn="ctr">
              <a:lnSpc>
                <a:spcPct val="115000"/>
              </a:lnSpc>
              <a:spcBef>
                <a:spcPts val="0"/>
              </a:spcBef>
              <a:spcAft>
                <a:spcPts val="300"/>
              </a:spcAft>
            </a:pPr>
            <a:r>
              <a:rPr sz="2000" b="1" i="0">
                <a:solidFill>
                  <a:srgbClr val="182B49"/>
                </a:solidFill>
                <a:latin typeface="Segoe UI Semibold"/>
              </a:rPr>
              <a:t>none</a:t>
            </a:r>
          </a:p>
          <a:p>
            <a:pPr algn="ctr">
              <a:lnSpc>
                <a:spcPct val="110000"/>
              </a:lnSpc>
              <a:spcBef>
                <a:spcPts val="0"/>
              </a:spcBef>
              <a:spcAft>
                <a:spcPts val="0"/>
              </a:spcAft>
            </a:pPr>
            <a:r>
              <a:rPr sz="950" b="0" i="0">
                <a:solidFill>
                  <a:srgbClr val="586476"/>
                </a:solidFill>
                <a:latin typeface="Segoe UI"/>
              </a:rPr>
              <a:t>marketing can name nothing</a:t>
            </a:r>
          </a:p>
        </p:txBody>
      </p:sp>
      <p:sp>
        <p:nvSpPr>
          <p:cNvPr id="13" name="TextBox 12"/>
          <p:cNvSpPr txBox="1"/>
          <p:nvPr/>
        </p:nvSpPr>
        <p:spPr>
          <a:xfrm>
            <a:off x="7757129" y="6071616"/>
            <a:ext cx="39319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586476"/>
                </a:solidFill>
                <a:latin typeface="Segoe UI"/>
              </a:rPr>
              <a:t>both statements are true at the same time</a:t>
            </a:r>
          </a:p>
        </p:txBody>
      </p:sp>
      <p:sp>
        <p:nvSpPr>
          <p:cNvPr id="14" name="Rounded Rectangle 13"/>
          <p:cNvSpPr/>
          <p:nvPr/>
        </p:nvSpPr>
        <p:spPr>
          <a:xfrm>
            <a:off x="502920" y="1792224"/>
            <a:ext cx="6998177" cy="932688"/>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5000"/>
              </a:lnSpc>
              <a:spcBef>
                <a:spcPts val="0"/>
              </a:spcBef>
              <a:spcAft>
                <a:spcPts val="300"/>
              </a:spcAft>
            </a:pPr>
            <a:r>
              <a:rPr sz="750" b="1" i="0">
                <a:solidFill>
                  <a:srgbClr val="F5A623"/>
                </a:solidFill>
                <a:latin typeface="Segoe UI Semibold"/>
              </a:rPr>
              <a:t>QUICK CHECK</a:t>
            </a:r>
          </a:p>
          <a:p>
            <a:pPr algn="l">
              <a:lnSpc>
                <a:spcPct val="115000"/>
              </a:lnSpc>
              <a:spcBef>
                <a:spcPts val="0"/>
              </a:spcBef>
              <a:spcAft>
                <a:spcPts val="0"/>
              </a:spcAft>
            </a:pPr>
            <a:r>
              <a:rPr sz="960" b="1" i="0">
                <a:solidFill>
                  <a:srgbClr val="FFFFFF"/>
                </a:solidFill>
                <a:latin typeface="Segoe UI Semibold"/>
              </a:rPr>
              <a:t>You cluster customers and get a silhouette score of 0.71 - geometrically excellent. Marketing looks at the segments and cannot describe a single one of them. What is the correct conclusion?</a:t>
            </a:r>
          </a:p>
        </p:txBody>
      </p:sp>
      <p:sp>
        <p:nvSpPr>
          <p:cNvPr id="15" name="Rectangle 14"/>
          <p:cNvSpPr/>
          <p:nvPr/>
        </p:nvSpPr>
        <p:spPr>
          <a:xfrm>
            <a:off x="502920" y="1792224"/>
            <a:ext cx="77724" cy="93268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3259835"/>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676656"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A</a:t>
            </a:r>
          </a:p>
        </p:txBody>
      </p:sp>
      <p:sp>
        <p:nvSpPr>
          <p:cNvPr id="18" name="TextBox 17"/>
          <p:cNvSpPr txBox="1"/>
          <p:nvPr/>
        </p:nvSpPr>
        <p:spPr>
          <a:xfrm>
            <a:off x="1106424" y="3351275"/>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The clustering is good; marketing needs training</a:t>
            </a:r>
          </a:p>
        </p:txBody>
      </p:sp>
      <p:sp>
        <p:nvSpPr>
          <p:cNvPr id="19" name="Rounded Rectangle 18"/>
          <p:cNvSpPr/>
          <p:nvPr/>
        </p:nvSpPr>
        <p:spPr>
          <a:xfrm>
            <a:off x="4066016" y="3259835"/>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4239752"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B</a:t>
            </a:r>
          </a:p>
        </p:txBody>
      </p:sp>
      <p:sp>
        <p:nvSpPr>
          <p:cNvPr id="21" name="TextBox 20"/>
          <p:cNvSpPr txBox="1"/>
          <p:nvPr/>
        </p:nvSpPr>
        <p:spPr>
          <a:xfrm>
            <a:off x="4669520" y="3351275"/>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The clustering is bad; the silhouette score must be wrong</a:t>
            </a:r>
          </a:p>
        </p:txBody>
      </p:sp>
      <p:sp>
        <p:nvSpPr>
          <p:cNvPr id="22" name="Rounded Rectangle 21"/>
          <p:cNvSpPr/>
          <p:nvPr/>
        </p:nvSpPr>
        <p:spPr>
          <a:xfrm>
            <a:off x="502920" y="4101083"/>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Oval 22"/>
          <p:cNvSpPr/>
          <p:nvPr/>
        </p:nvSpPr>
        <p:spPr>
          <a:xfrm>
            <a:off x="676656"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C</a:t>
            </a:r>
          </a:p>
        </p:txBody>
      </p:sp>
      <p:sp>
        <p:nvSpPr>
          <p:cNvPr id="24" name="TextBox 23"/>
          <p:cNvSpPr txBox="1"/>
          <p:nvPr/>
        </p:nvSpPr>
        <p:spPr>
          <a:xfrm>
            <a:off x="1106424" y="4192523"/>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The clustering is geometrically sound but has failed its success criterion</a:t>
            </a:r>
          </a:p>
        </p:txBody>
      </p:sp>
      <p:sp>
        <p:nvSpPr>
          <p:cNvPr id="25" name="Rounded Rectangle 24"/>
          <p:cNvSpPr/>
          <p:nvPr/>
        </p:nvSpPr>
        <p:spPr>
          <a:xfrm>
            <a:off x="4066016" y="4101083"/>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4239752"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D</a:t>
            </a:r>
          </a:p>
        </p:txBody>
      </p:sp>
      <p:sp>
        <p:nvSpPr>
          <p:cNvPr id="27" name="TextBox 26"/>
          <p:cNvSpPr txBox="1"/>
          <p:nvPr/>
        </p:nvSpPr>
        <p:spPr>
          <a:xfrm>
            <a:off x="4669520" y="4192523"/>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You should increase k until the segments become describable</a:t>
            </a:r>
          </a:p>
        </p:txBody>
      </p:sp>
      <p:sp>
        <p:nvSpPr>
          <p:cNvPr id="28" name="TextBox 27"/>
          <p:cNvSpPr txBox="1"/>
          <p:nvPr/>
        </p:nvSpPr>
        <p:spPr>
          <a:xfrm>
            <a:off x="502920" y="5326379"/>
            <a:ext cx="6998177" cy="310896"/>
          </a:xfrm>
          <a:prstGeom prst="rect">
            <a:avLst/>
          </a:prstGeom>
          <a:noFill/>
        </p:spPr>
        <p:txBody>
          <a:bodyPr wrap="square" lIns="0" tIns="0" rIns="0" bIns="0" anchor="t">
            <a:spAutoFit/>
          </a:bodyPr>
          <a:lstStyle/>
          <a:p>
            <a:pPr algn="ctr">
              <a:lnSpc>
                <a:spcPct val="115000"/>
              </a:lnSpc>
              <a:spcBef>
                <a:spcPts val="0"/>
              </a:spcBef>
              <a:spcAft>
                <a:spcPts val="0"/>
              </a:spcAft>
            </a:pPr>
            <a:r>
              <a:rPr sz="1150" b="0" i="1">
                <a:solidFill>
                  <a:srgbClr val="586476"/>
                </a:solidFill>
                <a:latin typeface="Segoe UI"/>
              </a:rPr>
              <a:t>◆  click to reveal the answer</a:t>
            </a:r>
          </a:p>
        </p:txBody>
      </p:sp>
      <p:sp>
        <p:nvSpPr>
          <p:cNvPr id="29" name="Rounded Rectangle 28"/>
          <p:cNvSpPr/>
          <p:nvPr/>
        </p:nvSpPr>
        <p:spPr>
          <a:xfrm>
            <a:off x="502920" y="5052059"/>
            <a:ext cx="6998177" cy="960120"/>
          </a:xfrm>
          <a:prstGeom prst="roundRect">
            <a:avLst>
              <a:gd name="adj" fmla="val 6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8000"/>
              </a:lnSpc>
              <a:spcBef>
                <a:spcPts val="0"/>
              </a:spcBef>
              <a:spcAft>
                <a:spcPts val="0"/>
              </a:spcAft>
            </a:pPr>
            <a:r>
              <a:rPr sz="869" b="1" i="0">
                <a:solidFill>
                  <a:srgbClr val="107C41"/>
                </a:solidFill>
                <a:latin typeface="Segoe UI Semibold"/>
              </a:rPr>
              <a:t>ANSWER: C   </a:t>
            </a:r>
            <a:r>
              <a:rPr sz="910" b="0" i="0">
                <a:solidFill>
                  <a:srgbClr val="1C2330"/>
                </a:solidFill>
                <a:latin typeface="Segoe UI"/>
              </a:rPr>
              <a:t>A high silhouette score says the clusters are tight and well separated - a statement about GEOMETRY only. It says nothing about meaning. If the agreed success criterion was 'describable and actionable', the result has failed that criterion, and the honest next step is to revisit the FEATURES, not to blame the audience.</a:t>
            </a:r>
          </a:p>
        </p:txBody>
      </p:sp>
      <p:sp>
        <p:nvSpPr>
          <p:cNvPr id="30" name="Rectangle 29"/>
          <p:cNvSpPr/>
          <p:nvPr/>
        </p:nvSpPr>
        <p:spPr>
          <a:xfrm>
            <a:off x="502920" y="5052059"/>
            <a:ext cx="77724" cy="96012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03</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FFFFFF"/>
                </a:solidFill>
                <a:latin typeface="Segoe UI Semibold"/>
              </a:rPr>
              <a:t>Real-Life
Use Cases</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D97706"/>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Market segmentation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Customer behaviour analysis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Anomaly and fraud detection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Pattern discovery in biological and social data</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What all four have in common</a:t>
            </a:r>
          </a:p>
        </p:txBody>
      </p:sp>
      <p:sp>
        <p:nvSpPr>
          <p:cNvPr id="9" name="Rounded Rectangle 8"/>
          <p:cNvSpPr/>
          <p:nvPr/>
        </p:nvSpPr>
        <p:spPr>
          <a:xfrm>
            <a:off x="914400"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1 · Paradigms</a:t>
            </a:r>
          </a:p>
        </p:txBody>
      </p:sp>
      <p:sp>
        <p:nvSpPr>
          <p:cNvPr id="10" name="Rounded Rectangle 9"/>
          <p:cNvSpPr/>
          <p:nvPr/>
        </p:nvSpPr>
        <p:spPr>
          <a:xfrm>
            <a:off x="2999232"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2 · Formulation</a:t>
            </a:r>
          </a:p>
        </p:txBody>
      </p:sp>
      <p:sp>
        <p:nvSpPr>
          <p:cNvPr id="11" name="Rounded Rectangle 10"/>
          <p:cNvSpPr/>
          <p:nvPr/>
        </p:nvSpPr>
        <p:spPr>
          <a:xfrm>
            <a:off x="5084064" y="5998464"/>
            <a:ext cx="1993392" cy="408188"/>
          </a:xfrm>
          <a:prstGeom prst="roundRect">
            <a:avLst>
              <a:gd name="adj" fmla="val 14000"/>
            </a:avLst>
          </a:prstGeom>
          <a:solidFill>
            <a:srgbClr val="ED771F"/>
          </a:solidFill>
          <a:ln w="20320">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1" i="0">
                <a:solidFill>
                  <a:srgbClr val="FFFFFF"/>
                </a:solidFill>
                <a:latin typeface="Segoe UI Semibold"/>
              </a:rPr>
              <a:t>3 · Use cases</a:t>
            </a:r>
          </a:p>
        </p:txBody>
      </p:sp>
      <p:sp>
        <p:nvSpPr>
          <p:cNvPr id="12" name="Rounded Rectangle 11"/>
          <p:cNvSpPr/>
          <p:nvPr/>
        </p:nvSpPr>
        <p:spPr>
          <a:xfrm>
            <a:off x="7168896"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4 · Metrics</a:t>
            </a:r>
          </a:p>
        </p:txBody>
      </p:sp>
      <p:sp>
        <p:nvSpPr>
          <p:cNvPr id="13" name="Rounded Rectangle 12"/>
          <p:cNvSpPr/>
          <p:nvPr/>
        </p:nvSpPr>
        <p:spPr>
          <a:xfrm>
            <a:off x="9253728"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5 · Why it matters</a:t>
            </a:r>
          </a:p>
        </p:txBody>
      </p:sp>
      <p:sp>
        <p:nvSpPr>
          <p:cNvPr id="14" name="TextBox 13"/>
          <p:cNvSpPr txBox="1"/>
          <p:nvPr/>
        </p:nvSpPr>
        <p:spPr>
          <a:xfrm>
            <a:off x="914400" y="6446154"/>
            <a:ext cx="103327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96B2D0"/>
                </a:solidFill>
                <a:latin typeface="Segoe UI"/>
              </a:rPr>
              <a:t>you are here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1.3 REAL-LIFE USE CASES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Market Segmentation and Customer Behaviour Analysis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21</a:t>
            </a:r>
          </a:p>
        </p:txBody>
      </p:sp>
      <p:sp>
        <p:nvSpPr>
          <p:cNvPr id="11" name="TextBox 10"/>
          <p:cNvSpPr txBox="1"/>
          <p:nvPr/>
        </p:nvSpPr>
        <p:spPr>
          <a:xfrm>
            <a:off x="7757129" y="1792224"/>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WHAT GOOD SEGMENTS LOOK LIKE</a:t>
            </a:r>
          </a:p>
        </p:txBody>
      </p:sp>
      <p:sp>
        <p:nvSpPr>
          <p:cNvPr id="12" name="Rounded Rectangle 11"/>
          <p:cNvSpPr/>
          <p:nvPr/>
        </p:nvSpPr>
        <p:spPr>
          <a:xfrm>
            <a:off x="7757129" y="2084831"/>
            <a:ext cx="3931920" cy="786383"/>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7848569" y="2340864"/>
            <a:ext cx="402336" cy="27432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B</a:t>
            </a:r>
          </a:p>
        </p:txBody>
      </p:sp>
      <p:sp>
        <p:nvSpPr>
          <p:cNvPr id="14" name="TextBox 13"/>
          <p:cNvSpPr txBox="1"/>
          <p:nvPr/>
        </p:nvSpPr>
        <p:spPr>
          <a:xfrm>
            <a:off x="8324057" y="2139696"/>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bargain hunters - only buy in a sale</a:t>
            </a:r>
          </a:p>
        </p:txBody>
      </p:sp>
      <p:sp>
        <p:nvSpPr>
          <p:cNvPr id="15" name="Rounded Rectangle 14"/>
          <p:cNvSpPr/>
          <p:nvPr/>
        </p:nvSpPr>
        <p:spPr>
          <a:xfrm>
            <a:off x="7757129" y="2962656"/>
            <a:ext cx="3931920" cy="786383"/>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7848569" y="3218688"/>
            <a:ext cx="402336" cy="2743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L</a:t>
            </a:r>
          </a:p>
        </p:txBody>
      </p:sp>
      <p:sp>
        <p:nvSpPr>
          <p:cNvPr id="17" name="TextBox 16"/>
          <p:cNvSpPr txBox="1"/>
          <p:nvPr/>
        </p:nvSpPr>
        <p:spPr>
          <a:xfrm>
            <a:off x="8324057" y="3017520"/>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loyal regulars - small, frequent, full price</a:t>
            </a:r>
          </a:p>
        </p:txBody>
      </p:sp>
      <p:sp>
        <p:nvSpPr>
          <p:cNvPr id="18" name="Rounded Rectangle 17"/>
          <p:cNvSpPr/>
          <p:nvPr/>
        </p:nvSpPr>
        <p:spPr>
          <a:xfrm>
            <a:off x="7757129" y="3840479"/>
            <a:ext cx="3931920" cy="786383"/>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7848569" y="4096511"/>
            <a:ext cx="402336" cy="274320"/>
          </a:xfrm>
          <a:prstGeom prst="round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O</a:t>
            </a:r>
          </a:p>
        </p:txBody>
      </p:sp>
      <p:sp>
        <p:nvSpPr>
          <p:cNvPr id="20" name="TextBox 19"/>
          <p:cNvSpPr txBox="1"/>
          <p:nvPr/>
        </p:nvSpPr>
        <p:spPr>
          <a:xfrm>
            <a:off x="8324057" y="3895343"/>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big occasional - twice a year, huge basket</a:t>
            </a:r>
          </a:p>
        </p:txBody>
      </p:sp>
      <p:sp>
        <p:nvSpPr>
          <p:cNvPr id="21" name="Rounded Rectangle 20"/>
          <p:cNvSpPr/>
          <p:nvPr/>
        </p:nvSpPr>
        <p:spPr>
          <a:xfrm>
            <a:off x="7757129" y="4718303"/>
            <a:ext cx="3931920" cy="786383"/>
          </a:xfrm>
          <a:prstGeom prst="roundRect">
            <a:avLst>
              <a:gd name="adj" fmla="val 8000"/>
            </a:avLst>
          </a:prstGeom>
          <a:solidFill>
            <a:srgbClr val="F9EDEC"/>
          </a:solidFill>
          <a:ln w="1778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848569" y="4974335"/>
            <a:ext cx="402336" cy="274320"/>
          </a:xfrm>
          <a:prstGeom prst="round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X</a:t>
            </a:r>
          </a:p>
        </p:txBody>
      </p:sp>
      <p:sp>
        <p:nvSpPr>
          <p:cNvPr id="23" name="TextBox 22"/>
          <p:cNvSpPr txBox="1"/>
          <p:nvPr/>
        </p:nvSpPr>
        <p:spPr>
          <a:xfrm>
            <a:off x="8324057" y="4773167"/>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lapsed - were frequent, now nothing</a:t>
            </a:r>
          </a:p>
        </p:txBody>
      </p:sp>
      <p:sp>
        <p:nvSpPr>
          <p:cNvPr id="24" name="Rounded Rectangle 23"/>
          <p:cNvSpPr/>
          <p:nvPr/>
        </p:nvSpPr>
        <p:spPr>
          <a:xfrm>
            <a:off x="502920" y="1792224"/>
            <a:ext cx="1598668" cy="371246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70"/>
              </a:spcAft>
            </a:pPr>
            <a:r>
              <a:rPr sz="750" b="1" i="0">
                <a:solidFill>
                  <a:srgbClr val="0096C7"/>
                </a:solidFill>
                <a:latin typeface="Segoe UI Semibold"/>
              </a:rPr>
              <a:t>USE CASE 1</a:t>
            </a:r>
          </a:p>
          <a:p>
            <a:pPr algn="l">
              <a:lnSpc>
                <a:spcPct val="110000"/>
              </a:lnSpc>
              <a:spcBef>
                <a:spcPts val="0"/>
              </a:spcBef>
              <a:spcAft>
                <a:spcPts val="480"/>
              </a:spcAft>
            </a:pPr>
            <a:r>
              <a:rPr sz="1019" b="1" i="0">
                <a:solidFill>
                  <a:srgbClr val="182B49"/>
                </a:solidFill>
                <a:latin typeface="Segoe UI Semibold"/>
              </a:rPr>
              <a:t>Market segmentation</a:t>
            </a:r>
          </a:p>
          <a:p>
            <a:pPr marL="237744" indent="-237744" algn="l">
              <a:lnSpc>
                <a:spcPct val="116000"/>
              </a:lnSpc>
              <a:spcBef>
                <a:spcPts val="340"/>
              </a:spcBef>
              <a:spcAft>
                <a:spcPts val="0"/>
              </a:spcAft>
              <a:buClr>
                <a:srgbClr val="0096C7"/>
              </a:buClr>
              <a:buSzPct val="86000"/>
              <a:buFont typeface="Arial"/>
              <a:buChar char="▪"/>
            </a:pPr>
            <a:r>
              <a:rPr sz="819" b="0" i="0">
                <a:solidFill>
                  <a:srgbClr val="1C2330"/>
                </a:solidFill>
                <a:latin typeface="Segoe UI"/>
              </a:rPr>
              <a:t>Divide a customer base into groups with similar behaviour</a:t>
            </a:r>
          </a:p>
          <a:p>
            <a:pPr marL="237744" indent="-237744" algn="l">
              <a:lnSpc>
                <a:spcPct val="116000"/>
              </a:lnSpc>
              <a:spcBef>
                <a:spcPts val="340"/>
              </a:spcBef>
              <a:spcAft>
                <a:spcPts val="0"/>
              </a:spcAft>
              <a:buClr>
                <a:srgbClr val="0096C7"/>
              </a:buClr>
              <a:buSzPct val="86000"/>
              <a:buFont typeface="Arial"/>
              <a:buChar char="▪"/>
            </a:pPr>
            <a:r>
              <a:rPr sz="819" b="0" i="0">
                <a:solidFill>
                  <a:srgbClr val="1C2330"/>
                </a:solidFill>
                <a:latin typeface="Segoe UI"/>
              </a:rPr>
              <a:t>Input: RFM, demographics, category mix, channel</a:t>
            </a:r>
          </a:p>
          <a:p>
            <a:pPr marL="237744" indent="-237744" algn="l">
              <a:lnSpc>
                <a:spcPct val="116000"/>
              </a:lnSpc>
              <a:spcBef>
                <a:spcPts val="340"/>
              </a:spcBef>
              <a:spcAft>
                <a:spcPts val="0"/>
              </a:spcAft>
              <a:buClr>
                <a:srgbClr val="0096C7"/>
              </a:buClr>
              <a:buSzPct val="86000"/>
              <a:buFont typeface="Arial"/>
              <a:buChar char="▪"/>
            </a:pPr>
            <a:r>
              <a:rPr sz="819" b="0" i="0">
                <a:solidFill>
                  <a:srgbClr val="1C2330"/>
                </a:solidFill>
                <a:latin typeface="Segoe UI"/>
              </a:rPr>
              <a:t>Output: 3-6 named, actionable segments</a:t>
            </a:r>
          </a:p>
          <a:p>
            <a:pPr marL="237744" indent="-237744" algn="l">
              <a:lnSpc>
                <a:spcPct val="116000"/>
              </a:lnSpc>
              <a:spcBef>
                <a:spcPts val="340"/>
              </a:spcBef>
              <a:spcAft>
                <a:spcPts val="0"/>
              </a:spcAft>
              <a:buClr>
                <a:srgbClr val="0096C7"/>
              </a:buClr>
              <a:buSzPct val="86000"/>
              <a:buFont typeface="Arial"/>
              <a:buChar char="▪"/>
            </a:pPr>
            <a:r>
              <a:rPr sz="819" b="0" i="0">
                <a:solidFill>
                  <a:srgbClr val="1C2330"/>
                </a:solidFill>
                <a:latin typeface="Segoe UI"/>
              </a:rPr>
              <a:t>Value: one message per segment beats one message for everyone</a:t>
            </a:r>
          </a:p>
        </p:txBody>
      </p:sp>
      <p:sp>
        <p:nvSpPr>
          <p:cNvPr id="25" name="Rectangle 24"/>
          <p:cNvSpPr/>
          <p:nvPr/>
        </p:nvSpPr>
        <p:spPr>
          <a:xfrm>
            <a:off x="502920" y="1792224"/>
            <a:ext cx="1598668" cy="685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a:off x="2302756" y="1792224"/>
            <a:ext cx="1598668" cy="371246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107C41"/>
                </a:solidFill>
                <a:latin typeface="Segoe UI Semibold"/>
              </a:rPr>
              <a:t>USE CASE 1</a:t>
            </a:r>
          </a:p>
          <a:p>
            <a:pPr algn="l">
              <a:lnSpc>
                <a:spcPct val="110000"/>
              </a:lnSpc>
              <a:spcBef>
                <a:spcPts val="0"/>
              </a:spcBef>
              <a:spcAft>
                <a:spcPts val="420"/>
              </a:spcAft>
            </a:pPr>
            <a:r>
              <a:rPr sz="900" b="1" i="0">
                <a:solidFill>
                  <a:srgbClr val="182B49"/>
                </a:solidFill>
                <a:latin typeface="Segoe UI Semibold"/>
              </a:rPr>
              <a:t>What it looks like in practice</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'Bargain hunters' - only ever buy during sales</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'Loyal regulars' - small, frequent, full-price purchases</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'Big occasional' - twice a year, very large baskets</a:t>
            </a:r>
          </a:p>
          <a:p>
            <a:pPr marL="237744" indent="-237744" algn="l">
              <a:lnSpc>
                <a:spcPct val="116000"/>
              </a:lnSpc>
              <a:spcBef>
                <a:spcPts val="300"/>
              </a:spcBef>
              <a:spcAft>
                <a:spcPts val="0"/>
              </a:spcAft>
              <a:buClr>
                <a:srgbClr val="107C41"/>
              </a:buClr>
              <a:buSzPct val="86000"/>
              <a:buFont typeface="Arial"/>
              <a:buChar char="▪"/>
            </a:pPr>
            <a:r>
              <a:rPr sz="750" b="0" i="0">
                <a:solidFill>
                  <a:srgbClr val="1C2330"/>
                </a:solidFill>
                <a:latin typeface="Segoe UI"/>
              </a:rPr>
              <a:t>'Lapsed' - were frequent, nothing for 6 months</a:t>
            </a:r>
          </a:p>
        </p:txBody>
      </p:sp>
      <p:sp>
        <p:nvSpPr>
          <p:cNvPr id="27" name="Rectangle 26"/>
          <p:cNvSpPr/>
          <p:nvPr/>
        </p:nvSpPr>
        <p:spPr>
          <a:xfrm>
            <a:off x="2302756" y="1792224"/>
            <a:ext cx="1598668" cy="6858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ounded Rectangle 27"/>
          <p:cNvSpPr/>
          <p:nvPr/>
        </p:nvSpPr>
        <p:spPr>
          <a:xfrm>
            <a:off x="4102592" y="1792224"/>
            <a:ext cx="1598668" cy="371246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60"/>
              </a:spcAft>
            </a:pPr>
            <a:r>
              <a:rPr sz="750" b="1" i="0">
                <a:solidFill>
                  <a:srgbClr val="D97706"/>
                </a:solidFill>
                <a:latin typeface="Segoe UI Semibold"/>
              </a:rPr>
              <a:t>USE CASE 2</a:t>
            </a:r>
          </a:p>
          <a:p>
            <a:pPr algn="l">
              <a:lnSpc>
                <a:spcPct val="110000"/>
              </a:lnSpc>
              <a:spcBef>
                <a:spcPts val="0"/>
              </a:spcBef>
              <a:spcAft>
                <a:spcPts val="450"/>
              </a:spcAft>
            </a:pPr>
            <a:r>
              <a:rPr sz="969" b="1" i="0">
                <a:solidFill>
                  <a:srgbClr val="182B49"/>
                </a:solidFill>
                <a:latin typeface="Segoe UI Semibold"/>
              </a:rPr>
              <a:t>Customer behaviour analysis</a:t>
            </a:r>
          </a:p>
          <a:p>
            <a:pPr marL="237744" indent="-237744" algn="l">
              <a:lnSpc>
                <a:spcPct val="116000"/>
              </a:lnSpc>
              <a:spcBef>
                <a:spcPts val="320"/>
              </a:spcBef>
              <a:spcAft>
                <a:spcPts val="0"/>
              </a:spcAft>
              <a:buClr>
                <a:srgbClr val="D97706"/>
              </a:buClr>
              <a:buSzPct val="86000"/>
              <a:buFont typeface="Arial"/>
              <a:buChar char="▪"/>
            </a:pPr>
            <a:r>
              <a:rPr sz="780" b="0" i="0">
                <a:solidFill>
                  <a:srgbClr val="1C2330"/>
                </a:solidFill>
                <a:latin typeface="Segoe UI"/>
              </a:rPr>
              <a:t>Discover PATTERNS in what people do, not who they are</a:t>
            </a:r>
          </a:p>
          <a:p>
            <a:pPr marL="237744" indent="-237744" algn="l">
              <a:lnSpc>
                <a:spcPct val="116000"/>
              </a:lnSpc>
              <a:spcBef>
                <a:spcPts val="320"/>
              </a:spcBef>
              <a:spcAft>
                <a:spcPts val="0"/>
              </a:spcAft>
              <a:buClr>
                <a:srgbClr val="D97706"/>
              </a:buClr>
              <a:buSzPct val="86000"/>
              <a:buFont typeface="Arial"/>
              <a:buChar char="▪"/>
            </a:pPr>
            <a:r>
              <a:rPr sz="780" b="0" i="0">
                <a:solidFill>
                  <a:srgbClr val="1C2330"/>
                </a:solidFill>
                <a:latin typeface="Segoe UI"/>
              </a:rPr>
              <a:t>Sequence of pages before a purchase; time-of-day patterns</a:t>
            </a:r>
          </a:p>
          <a:p>
            <a:pPr marL="237744" indent="-237744" algn="l">
              <a:lnSpc>
                <a:spcPct val="116000"/>
              </a:lnSpc>
              <a:spcBef>
                <a:spcPts val="320"/>
              </a:spcBef>
              <a:spcAft>
                <a:spcPts val="0"/>
              </a:spcAft>
              <a:buClr>
                <a:srgbClr val="D97706"/>
              </a:buClr>
              <a:buSzPct val="86000"/>
              <a:buFont typeface="Arial"/>
              <a:buChar char="▪"/>
            </a:pPr>
            <a:r>
              <a:rPr sz="780" b="0" i="0">
                <a:solidFill>
                  <a:srgbClr val="1C2330"/>
                </a:solidFill>
                <a:latin typeface="Segoe UI"/>
              </a:rPr>
              <a:t>Association rules: what gets bought together</a:t>
            </a:r>
          </a:p>
          <a:p>
            <a:pPr marL="237744" indent="-237744" algn="l">
              <a:lnSpc>
                <a:spcPct val="116000"/>
              </a:lnSpc>
              <a:spcBef>
                <a:spcPts val="320"/>
              </a:spcBef>
              <a:spcAft>
                <a:spcPts val="0"/>
              </a:spcAft>
              <a:buClr>
                <a:srgbClr val="D97706"/>
              </a:buClr>
              <a:buSzPct val="86000"/>
              <a:buFont typeface="Arial"/>
              <a:buChar char="▪"/>
            </a:pPr>
            <a:r>
              <a:rPr sz="780" b="0" i="0">
                <a:solidFill>
                  <a:srgbClr val="1C2330"/>
                </a:solidFill>
                <a:latin typeface="Segoe UI"/>
              </a:rPr>
              <a:t>Basket analysis is the classic example</a:t>
            </a:r>
          </a:p>
        </p:txBody>
      </p:sp>
      <p:sp>
        <p:nvSpPr>
          <p:cNvPr id="29" name="Rectangle 28"/>
          <p:cNvSpPr/>
          <p:nvPr/>
        </p:nvSpPr>
        <p:spPr>
          <a:xfrm>
            <a:off x="4102592" y="1792224"/>
            <a:ext cx="1598668"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5902429" y="1792224"/>
            <a:ext cx="1598668" cy="3712463"/>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80"/>
              </a:spcAft>
            </a:pPr>
            <a:r>
              <a:rPr sz="750" b="1" i="0">
                <a:solidFill>
                  <a:srgbClr val="5C2D91"/>
                </a:solidFill>
                <a:latin typeface="Segoe UI Semibold"/>
              </a:rPr>
              <a:t>USE CASE 2</a:t>
            </a:r>
          </a:p>
          <a:p>
            <a:pPr algn="l">
              <a:lnSpc>
                <a:spcPct val="110000"/>
              </a:lnSpc>
              <a:spcBef>
                <a:spcPts val="0"/>
              </a:spcBef>
              <a:spcAft>
                <a:spcPts val="500"/>
              </a:spcAft>
            </a:pPr>
            <a:r>
              <a:rPr sz="1070" b="1" i="0">
                <a:solidFill>
                  <a:srgbClr val="182B49"/>
                </a:solidFill>
                <a:latin typeface="Segoe UI Semibold"/>
              </a:rPr>
              <a:t>Why it is unsupervised</a:t>
            </a:r>
          </a:p>
          <a:p>
            <a:pPr marL="237744" indent="-237744" algn="l">
              <a:lnSpc>
                <a:spcPct val="116000"/>
              </a:lnSpc>
              <a:spcBef>
                <a:spcPts val="360"/>
              </a:spcBef>
              <a:spcAft>
                <a:spcPts val="0"/>
              </a:spcAft>
              <a:buClr>
                <a:srgbClr val="5C2D91"/>
              </a:buClr>
              <a:buSzPct val="86000"/>
              <a:buFont typeface="Arial"/>
              <a:buChar char="▪"/>
            </a:pPr>
            <a:r>
              <a:rPr sz="850" b="0" i="0">
                <a:solidFill>
                  <a:srgbClr val="1C2330"/>
                </a:solidFill>
                <a:latin typeface="Segoe UI"/>
              </a:rPr>
              <a:t>Nobody wrote down the list of behaviours to look for</a:t>
            </a:r>
          </a:p>
          <a:p>
            <a:pPr marL="237744" indent="-237744" algn="l">
              <a:lnSpc>
                <a:spcPct val="116000"/>
              </a:lnSpc>
              <a:spcBef>
                <a:spcPts val="360"/>
              </a:spcBef>
              <a:spcAft>
                <a:spcPts val="0"/>
              </a:spcAft>
              <a:buClr>
                <a:srgbClr val="5C2D91"/>
              </a:buClr>
              <a:buSzPct val="86000"/>
              <a:buFont typeface="Arial"/>
              <a:buChar char="▪"/>
            </a:pPr>
            <a:r>
              <a:rPr sz="850" b="0" i="0">
                <a:solidFill>
                  <a:srgbClr val="1C2330"/>
                </a:solidFill>
                <a:latin typeface="Segoe UI"/>
              </a:rPr>
              <a:t>The patterns are discovered, not verified</a:t>
            </a:r>
          </a:p>
          <a:p>
            <a:pPr marL="237744" indent="-237744" algn="l">
              <a:lnSpc>
                <a:spcPct val="116000"/>
              </a:lnSpc>
              <a:spcBef>
                <a:spcPts val="360"/>
              </a:spcBef>
              <a:spcAft>
                <a:spcPts val="0"/>
              </a:spcAft>
              <a:buClr>
                <a:srgbClr val="5C2D91"/>
              </a:buClr>
              <a:buSzPct val="86000"/>
              <a:buFont typeface="Arial"/>
              <a:buChar char="▪"/>
            </a:pPr>
            <a:r>
              <a:rPr sz="850" b="0" i="0">
                <a:solidFill>
                  <a:srgbClr val="1C2330"/>
                </a:solidFill>
                <a:latin typeface="Segoe UI"/>
              </a:rPr>
              <a:t>Often surprising - which is the whole point</a:t>
            </a:r>
          </a:p>
          <a:p>
            <a:pPr marL="237744" indent="-237744" algn="l">
              <a:lnSpc>
                <a:spcPct val="116000"/>
              </a:lnSpc>
              <a:spcBef>
                <a:spcPts val="360"/>
              </a:spcBef>
              <a:spcAft>
                <a:spcPts val="0"/>
              </a:spcAft>
              <a:buClr>
                <a:srgbClr val="5C2D91"/>
              </a:buClr>
              <a:buSzPct val="86000"/>
              <a:buFont typeface="Arial"/>
              <a:buChar char="▪"/>
            </a:pPr>
            <a:r>
              <a:rPr sz="850" b="0" i="0">
                <a:solidFill>
                  <a:srgbClr val="1C2330"/>
                </a:solidFill>
                <a:latin typeface="Segoe UI"/>
              </a:rPr>
              <a:t>A supervised model can only confirm what you suspected</a:t>
            </a:r>
          </a:p>
        </p:txBody>
      </p:sp>
      <p:sp>
        <p:nvSpPr>
          <p:cNvPr id="31" name="Rectangle 30"/>
          <p:cNvSpPr/>
          <p:nvPr/>
        </p:nvSpPr>
        <p:spPr>
          <a:xfrm>
            <a:off x="5902429" y="1792224"/>
            <a:ext cx="1598668"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ounded Rectangle 31"/>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BRAINSTORM   </a:t>
            </a:r>
            <a:r>
              <a:rPr sz="1350" b="0" i="0">
                <a:solidFill>
                  <a:srgbClr val="1C2330"/>
                </a:solidFill>
                <a:latin typeface="Segoe UI"/>
              </a:rPr>
              <a:t>Name a segment YOU belong to as a customer of some app. What behaviour defines it?</a:t>
            </a:r>
          </a:p>
        </p:txBody>
      </p:sp>
      <p:sp>
        <p:nvSpPr>
          <p:cNvPr id="33" name="Rectangle 32"/>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1.3 REAL-LIFE USE CASES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Anomaly Detection, Fraud, and Pattern Discovery</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22</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Two use cases where unsupervised learning is not just convenient - it is the only option.</a:t>
            </a:r>
          </a:p>
        </p:txBody>
      </p:sp>
      <p:sp>
        <p:nvSpPr>
          <p:cNvPr id="12" name="TextBox 11"/>
          <p:cNvSpPr txBox="1"/>
          <p:nvPr/>
        </p:nvSpPr>
        <p:spPr>
          <a:xfrm>
            <a:off x="7757129" y="2267712"/>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FOUR PLACES LABELS DO NOT EXIST</a:t>
            </a:r>
          </a:p>
        </p:txBody>
      </p:sp>
      <p:sp>
        <p:nvSpPr>
          <p:cNvPr id="13" name="Rounded Rectangle 12"/>
          <p:cNvSpPr/>
          <p:nvPr/>
        </p:nvSpPr>
        <p:spPr>
          <a:xfrm>
            <a:off x="7757129" y="2560320"/>
            <a:ext cx="3931920" cy="786384"/>
          </a:xfrm>
          <a:prstGeom prst="roundRect">
            <a:avLst>
              <a:gd name="adj" fmla="val 8000"/>
            </a:avLst>
          </a:prstGeom>
          <a:solidFill>
            <a:srgbClr val="F9EDEC"/>
          </a:solidFill>
          <a:ln w="1778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7848569" y="2816352"/>
            <a:ext cx="402336" cy="274320"/>
          </a:xfrm>
          <a:prstGeom prst="round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a:t>
            </a:r>
          </a:p>
        </p:txBody>
      </p:sp>
      <p:sp>
        <p:nvSpPr>
          <p:cNvPr id="15" name="TextBox 14"/>
          <p:cNvSpPr txBox="1"/>
          <p:nvPr/>
        </p:nvSpPr>
        <p:spPr>
          <a:xfrm>
            <a:off x="8324057" y="2615184"/>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fraud - unlike anything seen before</a:t>
            </a:r>
          </a:p>
        </p:txBody>
      </p:sp>
      <p:sp>
        <p:nvSpPr>
          <p:cNvPr id="16" name="Rounded Rectangle 15"/>
          <p:cNvSpPr/>
          <p:nvPr/>
        </p:nvSpPr>
        <p:spPr>
          <a:xfrm>
            <a:off x="7757129" y="3438144"/>
            <a:ext cx="3931920" cy="786384"/>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7848569" y="3694175"/>
            <a:ext cx="402336" cy="2743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a:t>
            </a:r>
          </a:p>
        </p:txBody>
      </p:sp>
      <p:sp>
        <p:nvSpPr>
          <p:cNvPr id="18" name="TextBox 17"/>
          <p:cNvSpPr txBox="1"/>
          <p:nvPr/>
        </p:nvSpPr>
        <p:spPr>
          <a:xfrm>
            <a:off x="8324057" y="3493008"/>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faults - nobody labels 'about to fail'</a:t>
            </a:r>
          </a:p>
        </p:txBody>
      </p:sp>
      <p:sp>
        <p:nvSpPr>
          <p:cNvPr id="19" name="Rounded Rectangle 18"/>
          <p:cNvSpPr/>
          <p:nvPr/>
        </p:nvSpPr>
        <p:spPr>
          <a:xfrm>
            <a:off x="7757129" y="4315968"/>
            <a:ext cx="3931920" cy="786384"/>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7848569" y="4571999"/>
            <a:ext cx="402336" cy="274320"/>
          </a:xfrm>
          <a:prstGeom prst="round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DNA</a:t>
            </a:r>
          </a:p>
        </p:txBody>
      </p:sp>
      <p:sp>
        <p:nvSpPr>
          <p:cNvPr id="21" name="TextBox 20"/>
          <p:cNvSpPr txBox="1"/>
          <p:nvPr/>
        </p:nvSpPr>
        <p:spPr>
          <a:xfrm>
            <a:off x="8324057" y="4370831"/>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disease subtypes nobody knew existed</a:t>
            </a:r>
          </a:p>
        </p:txBody>
      </p:sp>
      <p:sp>
        <p:nvSpPr>
          <p:cNvPr id="22" name="Rounded Rectangle 21"/>
          <p:cNvSpPr/>
          <p:nvPr/>
        </p:nvSpPr>
        <p:spPr>
          <a:xfrm>
            <a:off x="7757129" y="5193792"/>
            <a:ext cx="3931920" cy="786384"/>
          </a:xfrm>
          <a:prstGeom prst="roundRect">
            <a:avLst>
              <a:gd name="adj" fmla="val 8000"/>
            </a:avLst>
          </a:prstGeom>
          <a:solidFill>
            <a:srgbClr val="F1EEF6"/>
          </a:solidFill>
          <a:ln w="1778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ounded Rectangle 22"/>
          <p:cNvSpPr/>
          <p:nvPr/>
        </p:nvSpPr>
        <p:spPr>
          <a:xfrm>
            <a:off x="7848569" y="5449823"/>
            <a:ext cx="402336" cy="274320"/>
          </a:xfrm>
          <a:prstGeom prst="round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a:t>
            </a:r>
          </a:p>
        </p:txBody>
      </p:sp>
      <p:sp>
        <p:nvSpPr>
          <p:cNvPr id="24" name="TextBox 23"/>
          <p:cNvSpPr txBox="1"/>
          <p:nvPr/>
        </p:nvSpPr>
        <p:spPr>
          <a:xfrm>
            <a:off x="8324057" y="5248655"/>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communities in a social graph</a:t>
            </a:r>
          </a:p>
        </p:txBody>
      </p:sp>
      <p:sp>
        <p:nvSpPr>
          <p:cNvPr id="25" name="Rounded Rectangle 24"/>
          <p:cNvSpPr/>
          <p:nvPr/>
        </p:nvSpPr>
        <p:spPr>
          <a:xfrm>
            <a:off x="502920" y="2267712"/>
            <a:ext cx="1598668" cy="4059935"/>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60"/>
              </a:spcAft>
            </a:pPr>
            <a:r>
              <a:rPr sz="750" b="1" i="0">
                <a:solidFill>
                  <a:srgbClr val="B42318"/>
                </a:solidFill>
                <a:latin typeface="Segoe UI Semibold"/>
              </a:rPr>
              <a:t>USE CASE 3</a:t>
            </a:r>
          </a:p>
          <a:p>
            <a:pPr algn="l">
              <a:lnSpc>
                <a:spcPct val="110000"/>
              </a:lnSpc>
              <a:spcBef>
                <a:spcPts val="0"/>
              </a:spcBef>
              <a:spcAft>
                <a:spcPts val="459"/>
              </a:spcAft>
            </a:pPr>
            <a:r>
              <a:rPr sz="990" b="1" i="0">
                <a:solidFill>
                  <a:srgbClr val="182B49"/>
                </a:solidFill>
                <a:latin typeface="Segoe UI Semibold"/>
              </a:rPr>
              <a:t>Anomaly and fraud detection</a:t>
            </a:r>
          </a:p>
          <a:p>
            <a:pPr marL="237744" indent="-237744" algn="l">
              <a:lnSpc>
                <a:spcPct val="116000"/>
              </a:lnSpc>
              <a:spcBef>
                <a:spcPts val="330"/>
              </a:spcBef>
              <a:spcAft>
                <a:spcPts val="0"/>
              </a:spcAft>
              <a:buClr>
                <a:srgbClr val="B42318"/>
              </a:buClr>
              <a:buSzPct val="86000"/>
              <a:buFont typeface="Arial"/>
              <a:buChar char="▪"/>
            </a:pPr>
            <a:r>
              <a:rPr sz="790" b="0" i="0">
                <a:solidFill>
                  <a:srgbClr val="1C2330"/>
                </a:solidFill>
                <a:latin typeface="Segoe UI"/>
              </a:rPr>
              <a:t>Find the points that do not resemble anything else</a:t>
            </a:r>
          </a:p>
          <a:p>
            <a:pPr marL="237744" indent="-237744" algn="l">
              <a:lnSpc>
                <a:spcPct val="116000"/>
              </a:lnSpc>
              <a:spcBef>
                <a:spcPts val="330"/>
              </a:spcBef>
              <a:spcAft>
                <a:spcPts val="0"/>
              </a:spcAft>
              <a:buClr>
                <a:srgbClr val="B42318"/>
              </a:buClr>
              <a:buSzPct val="86000"/>
              <a:buFont typeface="Arial"/>
              <a:buChar char="▪"/>
            </a:pPr>
            <a:r>
              <a:rPr sz="790" b="0" i="0">
                <a:solidFill>
                  <a:srgbClr val="1C2330"/>
                </a:solidFill>
                <a:latin typeface="Segoe UI"/>
              </a:rPr>
              <a:t>Card fraud, network intrusion, machine failure, insurance abuse</a:t>
            </a:r>
          </a:p>
          <a:p>
            <a:pPr marL="237744" indent="-237744" algn="l">
              <a:lnSpc>
                <a:spcPct val="116000"/>
              </a:lnSpc>
              <a:spcBef>
                <a:spcPts val="330"/>
              </a:spcBef>
              <a:spcAft>
                <a:spcPts val="0"/>
              </a:spcAft>
              <a:buClr>
                <a:srgbClr val="B42318"/>
              </a:buClr>
              <a:buSzPct val="86000"/>
              <a:buFont typeface="Arial"/>
              <a:buChar char="▪"/>
            </a:pPr>
            <a:r>
              <a:rPr sz="790" b="0" i="0">
                <a:solidFill>
                  <a:srgbClr val="1C2330"/>
                </a:solidFill>
                <a:latin typeface="Segoe UI"/>
              </a:rPr>
              <a:t>Anomalies are RARE - often well under 1% of records</a:t>
            </a:r>
          </a:p>
          <a:p>
            <a:pPr marL="237744" indent="-237744" algn="l">
              <a:lnSpc>
                <a:spcPct val="116000"/>
              </a:lnSpc>
              <a:spcBef>
                <a:spcPts val="330"/>
              </a:spcBef>
              <a:spcAft>
                <a:spcPts val="0"/>
              </a:spcAft>
              <a:buClr>
                <a:srgbClr val="B42318"/>
              </a:buClr>
              <a:buSzPct val="86000"/>
              <a:buFont typeface="Arial"/>
              <a:buChar char="▪"/>
            </a:pPr>
            <a:r>
              <a:rPr sz="790" b="0" i="0">
                <a:solidFill>
                  <a:srgbClr val="1C2330"/>
                </a:solidFill>
                <a:latin typeface="Segoe UI"/>
              </a:rPr>
              <a:t>Which is exactly why labels are scarce</a:t>
            </a:r>
          </a:p>
        </p:txBody>
      </p:sp>
      <p:sp>
        <p:nvSpPr>
          <p:cNvPr id="26" name="Rectangle 25"/>
          <p:cNvSpPr/>
          <p:nvPr/>
        </p:nvSpPr>
        <p:spPr>
          <a:xfrm>
            <a:off x="502920" y="2267712"/>
            <a:ext cx="1598668" cy="6858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ounded Rectangle 26"/>
          <p:cNvSpPr/>
          <p:nvPr/>
        </p:nvSpPr>
        <p:spPr>
          <a:xfrm>
            <a:off x="2302756" y="2267712"/>
            <a:ext cx="1598668" cy="4059935"/>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40"/>
              </a:spcAft>
            </a:pPr>
            <a:r>
              <a:rPr sz="750" b="1" i="0">
                <a:solidFill>
                  <a:srgbClr val="D97706"/>
                </a:solidFill>
                <a:latin typeface="Segoe UI Semibold"/>
              </a:rPr>
              <a:t>USE CASE 3</a:t>
            </a:r>
          </a:p>
          <a:p>
            <a:pPr algn="l">
              <a:lnSpc>
                <a:spcPct val="110000"/>
              </a:lnSpc>
              <a:spcBef>
                <a:spcPts val="0"/>
              </a:spcBef>
              <a:spcAft>
                <a:spcPts val="420"/>
              </a:spcAft>
            </a:pPr>
            <a:r>
              <a:rPr sz="910" b="1" i="0">
                <a:solidFill>
                  <a:srgbClr val="182B49"/>
                </a:solidFill>
                <a:latin typeface="Segoe UI Semibold"/>
              </a:rPr>
              <a:t>Why unsupervised beats supervised here</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A supervised model learns PAST fraud patterns</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So it catches fraud that resembles fraud you already know</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New schemes look like nothing in the training set</a:t>
            </a:r>
          </a:p>
          <a:p>
            <a:pPr marL="237744" indent="-237744" algn="l">
              <a:lnSpc>
                <a:spcPct val="116000"/>
              </a:lnSpc>
              <a:spcBef>
                <a:spcPts val="300"/>
              </a:spcBef>
              <a:spcAft>
                <a:spcPts val="0"/>
              </a:spcAft>
              <a:buClr>
                <a:srgbClr val="D97706"/>
              </a:buClr>
              <a:buSzPct val="86000"/>
              <a:buFont typeface="Arial"/>
              <a:buChar char="▪"/>
            </a:pPr>
            <a:r>
              <a:rPr sz="750" b="0" i="0">
                <a:solidFill>
                  <a:srgbClr val="1C2330"/>
                </a:solidFill>
                <a:latin typeface="Segoe UI"/>
              </a:rPr>
              <a:t>Unsupervised catches 'unlike anything' - including the new</a:t>
            </a:r>
          </a:p>
        </p:txBody>
      </p:sp>
      <p:sp>
        <p:nvSpPr>
          <p:cNvPr id="28" name="Rectangle 27"/>
          <p:cNvSpPr/>
          <p:nvPr/>
        </p:nvSpPr>
        <p:spPr>
          <a:xfrm>
            <a:off x="2302756" y="2267712"/>
            <a:ext cx="1598668"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ounded Rectangle 28"/>
          <p:cNvSpPr/>
          <p:nvPr/>
        </p:nvSpPr>
        <p:spPr>
          <a:xfrm>
            <a:off x="4102592" y="2267712"/>
            <a:ext cx="1598668" cy="4059935"/>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290"/>
              </a:spcAft>
            </a:pPr>
            <a:r>
              <a:rPr sz="750" b="1" i="0">
                <a:solidFill>
                  <a:srgbClr val="107C41"/>
                </a:solidFill>
                <a:latin typeface="Segoe UI Semibold"/>
              </a:rPr>
              <a:t>USE CASE 4</a:t>
            </a:r>
          </a:p>
          <a:p>
            <a:pPr algn="l">
              <a:lnSpc>
                <a:spcPct val="110000"/>
              </a:lnSpc>
              <a:spcBef>
                <a:spcPts val="0"/>
              </a:spcBef>
              <a:spcAft>
                <a:spcPts val="500"/>
              </a:spcAft>
            </a:pPr>
            <a:r>
              <a:rPr sz="1080" b="1" i="0">
                <a:solidFill>
                  <a:srgbClr val="182B49"/>
                </a:solidFill>
                <a:latin typeface="Segoe UI Semibold"/>
              </a:rPr>
              <a:t>Biological data</a:t>
            </a:r>
          </a:p>
          <a:p>
            <a:pPr marL="237744" indent="-237744" algn="l">
              <a:lnSpc>
                <a:spcPct val="116000"/>
              </a:lnSpc>
              <a:spcBef>
                <a:spcPts val="360"/>
              </a:spcBef>
              <a:spcAft>
                <a:spcPts val="0"/>
              </a:spcAft>
              <a:buClr>
                <a:srgbClr val="107C41"/>
              </a:buClr>
              <a:buSzPct val="86000"/>
              <a:buFont typeface="Arial"/>
              <a:buChar char="▪"/>
            </a:pPr>
            <a:r>
              <a:rPr sz="860" b="0" i="0">
                <a:solidFill>
                  <a:srgbClr val="1C2330"/>
                </a:solidFill>
                <a:latin typeface="Segoe UI"/>
              </a:rPr>
              <a:t>Cluster gene expression profiles across patients</a:t>
            </a:r>
          </a:p>
          <a:p>
            <a:pPr marL="237744" indent="-237744" algn="l">
              <a:lnSpc>
                <a:spcPct val="116000"/>
              </a:lnSpc>
              <a:spcBef>
                <a:spcPts val="360"/>
              </a:spcBef>
              <a:spcAft>
                <a:spcPts val="0"/>
              </a:spcAft>
              <a:buClr>
                <a:srgbClr val="107C41"/>
              </a:buClr>
              <a:buSzPct val="86000"/>
              <a:buFont typeface="Arial"/>
              <a:buChar char="▪"/>
            </a:pPr>
            <a:r>
              <a:rPr sz="860" b="0" i="0">
                <a:solidFill>
                  <a:srgbClr val="1C2330"/>
                </a:solidFill>
                <a:latin typeface="Segoe UI"/>
              </a:rPr>
              <a:t>Groups emerge that correspond to DISEASE SUBTYPES</a:t>
            </a:r>
          </a:p>
          <a:p>
            <a:pPr marL="237744" indent="-237744" algn="l">
              <a:lnSpc>
                <a:spcPct val="116000"/>
              </a:lnSpc>
              <a:spcBef>
                <a:spcPts val="360"/>
              </a:spcBef>
              <a:spcAft>
                <a:spcPts val="0"/>
              </a:spcAft>
              <a:buClr>
                <a:srgbClr val="107C41"/>
              </a:buClr>
              <a:buSzPct val="86000"/>
              <a:buFont typeface="Arial"/>
              <a:buChar char="▪"/>
            </a:pPr>
            <a:r>
              <a:rPr sz="860" b="0" i="0">
                <a:solidFill>
                  <a:srgbClr val="1C2330"/>
                </a:solidFill>
                <a:latin typeface="Segoe UI"/>
              </a:rPr>
              <a:t>Nobody knew the subtypes existed beforehand</a:t>
            </a:r>
          </a:p>
          <a:p>
            <a:pPr marL="237744" indent="-237744" algn="l">
              <a:lnSpc>
                <a:spcPct val="116000"/>
              </a:lnSpc>
              <a:spcBef>
                <a:spcPts val="360"/>
              </a:spcBef>
              <a:spcAft>
                <a:spcPts val="0"/>
              </a:spcAft>
              <a:buClr>
                <a:srgbClr val="107C41"/>
              </a:buClr>
              <a:buSzPct val="86000"/>
              <a:buFont typeface="Arial"/>
              <a:buChar char="▪"/>
            </a:pPr>
            <a:r>
              <a:rPr sz="860" b="0" i="0">
                <a:solidFill>
                  <a:srgbClr val="1C2330"/>
                </a:solidFill>
                <a:latin typeface="Segoe UI"/>
              </a:rPr>
              <a:t>Different subtypes respond to different treatments</a:t>
            </a:r>
          </a:p>
        </p:txBody>
      </p:sp>
      <p:sp>
        <p:nvSpPr>
          <p:cNvPr id="30" name="Rectangle 29"/>
          <p:cNvSpPr/>
          <p:nvPr/>
        </p:nvSpPr>
        <p:spPr>
          <a:xfrm>
            <a:off x="4102592" y="2267712"/>
            <a:ext cx="1598668" cy="6858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ounded Rectangle 30"/>
          <p:cNvSpPr/>
          <p:nvPr/>
        </p:nvSpPr>
        <p:spPr>
          <a:xfrm>
            <a:off x="5902429" y="2267712"/>
            <a:ext cx="1598668" cy="4059935"/>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20"/>
              </a:spcAft>
            </a:pPr>
            <a:r>
              <a:rPr sz="790" b="1" i="0">
                <a:solidFill>
                  <a:srgbClr val="5C2D91"/>
                </a:solidFill>
                <a:latin typeface="Segoe UI Semibold"/>
              </a:rPr>
              <a:t>USE CASE 4</a:t>
            </a:r>
          </a:p>
          <a:p>
            <a:pPr algn="l">
              <a:lnSpc>
                <a:spcPct val="110000"/>
              </a:lnSpc>
              <a:spcBef>
                <a:spcPts val="0"/>
              </a:spcBef>
              <a:spcAft>
                <a:spcPts val="550"/>
              </a:spcAft>
            </a:pPr>
            <a:r>
              <a:rPr sz="1190" b="1" i="0">
                <a:solidFill>
                  <a:srgbClr val="182B49"/>
                </a:solidFill>
                <a:latin typeface="Segoe UI Semibold"/>
              </a:rPr>
              <a:t>Social data</a:t>
            </a:r>
          </a:p>
          <a:p>
            <a:pPr marL="237744" indent="-237744" algn="l">
              <a:lnSpc>
                <a:spcPct val="116000"/>
              </a:lnSpc>
              <a:spcBef>
                <a:spcPts val="400"/>
              </a:spcBef>
              <a:spcAft>
                <a:spcPts val="0"/>
              </a:spcAft>
              <a:buClr>
                <a:srgbClr val="5C2D91"/>
              </a:buClr>
              <a:buSzPct val="86000"/>
              <a:buFont typeface="Arial"/>
              <a:buChar char="▪"/>
            </a:pPr>
            <a:r>
              <a:rPr sz="950" b="0" i="0">
                <a:solidFill>
                  <a:srgbClr val="1C2330"/>
                </a:solidFill>
                <a:latin typeface="Segoe UI"/>
              </a:rPr>
              <a:t>Community detection in social networks</a:t>
            </a:r>
          </a:p>
          <a:p>
            <a:pPr marL="237744" indent="-237744" algn="l">
              <a:lnSpc>
                <a:spcPct val="116000"/>
              </a:lnSpc>
              <a:spcBef>
                <a:spcPts val="400"/>
              </a:spcBef>
              <a:spcAft>
                <a:spcPts val="0"/>
              </a:spcAft>
              <a:buClr>
                <a:srgbClr val="5C2D91"/>
              </a:buClr>
              <a:buSzPct val="86000"/>
              <a:buFont typeface="Arial"/>
              <a:buChar char="▪"/>
            </a:pPr>
            <a:r>
              <a:rPr sz="950" b="0" i="0">
                <a:solidFill>
                  <a:srgbClr val="1C2330"/>
                </a:solidFill>
                <a:latin typeface="Segoe UI"/>
              </a:rPr>
              <a:t>Topic discovery across millions of documents</a:t>
            </a:r>
          </a:p>
          <a:p>
            <a:pPr marL="237744" indent="-237744" algn="l">
              <a:lnSpc>
                <a:spcPct val="116000"/>
              </a:lnSpc>
              <a:spcBef>
                <a:spcPts val="400"/>
              </a:spcBef>
              <a:spcAft>
                <a:spcPts val="0"/>
              </a:spcAft>
              <a:buClr>
                <a:srgbClr val="5C2D91"/>
              </a:buClr>
              <a:buSzPct val="86000"/>
              <a:buFont typeface="Arial"/>
              <a:buChar char="▪"/>
            </a:pPr>
            <a:r>
              <a:rPr sz="950" b="0" i="0">
                <a:solidFill>
                  <a:srgbClr val="1C2330"/>
                </a:solidFill>
                <a:latin typeface="Segoe UI"/>
              </a:rPr>
              <a:t>Detecting coordinated inauthentic behaviour</a:t>
            </a:r>
          </a:p>
          <a:p>
            <a:pPr marL="237744" indent="-237744" algn="l">
              <a:lnSpc>
                <a:spcPct val="116000"/>
              </a:lnSpc>
              <a:spcBef>
                <a:spcPts val="400"/>
              </a:spcBef>
              <a:spcAft>
                <a:spcPts val="0"/>
              </a:spcAft>
              <a:buClr>
                <a:srgbClr val="5C2D91"/>
              </a:buClr>
              <a:buSzPct val="86000"/>
              <a:buFont typeface="Arial"/>
              <a:buChar char="▪"/>
            </a:pPr>
            <a:r>
              <a:rPr sz="950" b="0" i="0">
                <a:solidFill>
                  <a:srgbClr val="1C2330"/>
                </a:solidFill>
                <a:latin typeface="Segoe UI"/>
              </a:rPr>
              <a:t>Structure in who-connects-to-whom, not in what they say</a:t>
            </a:r>
          </a:p>
        </p:txBody>
      </p:sp>
      <p:sp>
        <p:nvSpPr>
          <p:cNvPr id="32" name="Rectangle 31"/>
          <p:cNvSpPr/>
          <p:nvPr/>
        </p:nvSpPr>
        <p:spPr>
          <a:xfrm>
            <a:off x="5902429" y="2267712"/>
            <a:ext cx="1598668"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1.3 REAL-LIFE USE CASES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What Clustering Actually Produces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23</a:t>
            </a:r>
          </a:p>
        </p:txBody>
      </p:sp>
      <p:pic>
        <p:nvPicPr>
          <p:cNvPr id="11" name="Picture 10" descr="i396_clusters.png"/>
          <p:cNvPicPr>
            <a:picLocks noChangeAspect="1"/>
          </p:cNvPicPr>
          <p:nvPr/>
        </p:nvPicPr>
        <p:blipFill>
          <a:blip r:embed="rId2"/>
          <a:stretch>
            <a:fillRect/>
          </a:stretch>
        </p:blipFill>
        <p:spPr>
          <a:xfrm>
            <a:off x="1678722" y="1792224"/>
            <a:ext cx="4920893" cy="3822191"/>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860"/>
              </a:spcAft>
            </a:pPr>
            <a:r>
              <a:rPr sz="1000" b="1" i="0">
                <a:solidFill>
                  <a:srgbClr val="0096C7"/>
                </a:solidFill>
                <a:latin typeface="Segoe UI Semibold"/>
              </a:rPr>
              <a:t>HOW TO READ THIS FIGURE</a:t>
            </a:r>
          </a:p>
          <a:p>
            <a:pPr algn="l">
              <a:lnSpc>
                <a:spcPct val="114000"/>
              </a:lnSpc>
              <a:spcBef>
                <a:spcPts val="760"/>
              </a:spcBef>
              <a:spcAft>
                <a:spcPts val="0"/>
              </a:spcAft>
            </a:pPr>
            <a:r>
              <a:rPr sz="1190" b="1" i="0">
                <a:solidFill>
                  <a:srgbClr val="182B49"/>
                </a:solidFill>
                <a:latin typeface="Segoe UI Semibold"/>
              </a:rPr>
              <a:t>The coloured groups  </a:t>
            </a:r>
            <a:r>
              <a:rPr sz="1190" b="0" i="0">
                <a:solidFill>
                  <a:srgbClr val="1C2330"/>
                </a:solidFill>
                <a:latin typeface="Segoe UI"/>
              </a:rPr>
              <a:t>the segments. Nobody defined them - the algorithm found them.</a:t>
            </a:r>
          </a:p>
          <a:p>
            <a:pPr algn="l">
              <a:lnSpc>
                <a:spcPct val="114000"/>
              </a:lnSpc>
              <a:spcBef>
                <a:spcPts val="760"/>
              </a:spcBef>
              <a:spcAft>
                <a:spcPts val="0"/>
              </a:spcAft>
            </a:pPr>
            <a:r>
              <a:rPr sz="1190" b="1" i="0">
                <a:solidFill>
                  <a:srgbClr val="182B49"/>
                </a:solidFill>
                <a:latin typeface="Segoe UI Semibold"/>
              </a:rPr>
              <a:t>The X marks  </a:t>
            </a:r>
            <a:r>
              <a:rPr sz="1190" b="0" i="0">
                <a:solidFill>
                  <a:srgbClr val="1C2330"/>
                </a:solidFill>
                <a:latin typeface="Segoe UI"/>
              </a:rPr>
              <a:t>each cluster's centre. In K-Means this is literally the mean of its members.</a:t>
            </a:r>
          </a:p>
          <a:p>
            <a:pPr algn="l">
              <a:lnSpc>
                <a:spcPct val="114000"/>
              </a:lnSpc>
              <a:spcBef>
                <a:spcPts val="760"/>
              </a:spcBef>
              <a:spcAft>
                <a:spcPts val="0"/>
              </a:spcAft>
            </a:pPr>
            <a:r>
              <a:rPr sz="1190" b="1" i="0">
                <a:solidFill>
                  <a:srgbClr val="182B49"/>
                </a:solidFill>
                <a:latin typeface="Segoe UI Semibold"/>
              </a:rPr>
              <a:t>The hollow red circles  </a:t>
            </a:r>
            <a:r>
              <a:rPr sz="1190" b="0" i="0">
                <a:solidFill>
                  <a:srgbClr val="1C2330"/>
                </a:solidFill>
                <a:latin typeface="Segoe UI"/>
              </a:rPr>
              <a:t>points far from every group - candidate anomalies.</a:t>
            </a:r>
          </a:p>
          <a:p>
            <a:pPr algn="l">
              <a:lnSpc>
                <a:spcPct val="114000"/>
              </a:lnSpc>
              <a:spcBef>
                <a:spcPts val="760"/>
              </a:spcBef>
              <a:spcAft>
                <a:spcPts val="0"/>
              </a:spcAft>
            </a:pPr>
            <a:r>
              <a:rPr sz="1190" b="1" i="0">
                <a:solidFill>
                  <a:srgbClr val="182B49"/>
                </a:solidFill>
                <a:latin typeface="Segoe UI Semibold"/>
              </a:rPr>
              <a:t>Two use cases, one picture  </a:t>
            </a:r>
            <a:r>
              <a:rPr sz="1190" b="0" i="0">
                <a:solidFill>
                  <a:srgbClr val="1C2330"/>
                </a:solidFill>
                <a:latin typeface="Segoe UI"/>
              </a:rPr>
              <a:t>segmentation reads the clusters; anomaly detection reads the leftovers.</a:t>
            </a:r>
          </a:p>
          <a:p>
            <a:pPr algn="l">
              <a:lnSpc>
                <a:spcPct val="114000"/>
              </a:lnSpc>
              <a:spcBef>
                <a:spcPts val="760"/>
              </a:spcBef>
              <a:spcAft>
                <a:spcPts val="0"/>
              </a:spcAft>
            </a:pPr>
            <a:r>
              <a:rPr sz="1190" b="1" i="0">
                <a:solidFill>
                  <a:srgbClr val="182B49"/>
                </a:solidFill>
                <a:latin typeface="Segoe UI Semibold"/>
              </a:rPr>
              <a:t>The catch  </a:t>
            </a:r>
            <a:r>
              <a:rPr sz="1190" b="0" i="0">
                <a:solidFill>
                  <a:srgbClr val="1C2330"/>
                </a:solidFill>
                <a:latin typeface="Segoe UI"/>
              </a:rPr>
              <a:t>the axes are unlabelled here. On real data YOU chose those features - and that choice made these groups.</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Segmentation and anomaly detection are the same computation read two different ways.</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1.3 REAL-LIFE USE CASES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Case Study: Detecting Fraudulent Card Transactions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24</a:t>
            </a:r>
          </a:p>
        </p:txBody>
      </p:sp>
      <p:sp>
        <p:nvSpPr>
          <p:cNvPr id="11" name="TextBox 10"/>
          <p:cNvSpPr txBox="1"/>
          <p:nvPr/>
        </p:nvSpPr>
        <p:spPr>
          <a:xfrm>
            <a:off x="502920" y="5303520"/>
            <a:ext cx="37033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EVERY FEATURE IS RELATIVE</a:t>
            </a:r>
          </a:p>
        </p:txBody>
      </p:sp>
      <p:sp>
        <p:nvSpPr>
          <p:cNvPr id="12" name="Rounded Rectangle 11"/>
          <p:cNvSpPr/>
          <p:nvPr/>
        </p:nvSpPr>
        <p:spPr>
          <a:xfrm>
            <a:off x="502920" y="5596128"/>
            <a:ext cx="857250" cy="731519"/>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160"/>
              </a:spcAft>
            </a:pPr>
            <a:r>
              <a:rPr sz="880" b="1" i="0">
                <a:solidFill>
                  <a:srgbClr val="0096C7"/>
                </a:solidFill>
                <a:latin typeface="Segoe UI Semibold"/>
              </a:rPr>
              <a:t>1</a:t>
            </a:r>
          </a:p>
          <a:p>
            <a:pPr algn="ctr">
              <a:lnSpc>
                <a:spcPct val="108000"/>
              </a:lnSpc>
              <a:spcBef>
                <a:spcPts val="0"/>
              </a:spcBef>
              <a:spcAft>
                <a:spcPts val="0"/>
              </a:spcAft>
            </a:pPr>
            <a:r>
              <a:rPr sz="750" b="0" i="0">
                <a:solidFill>
                  <a:srgbClr val="1C2330"/>
                </a:solidFill>
                <a:latin typeface="Segoe UI"/>
              </a:rPr>
              <a:t>amount vs THIS customer's normal</a:t>
            </a:r>
          </a:p>
        </p:txBody>
      </p:sp>
      <p:sp>
        <p:nvSpPr>
          <p:cNvPr id="13" name="Rounded Rectangle 12"/>
          <p:cNvSpPr/>
          <p:nvPr/>
        </p:nvSpPr>
        <p:spPr>
          <a:xfrm>
            <a:off x="1451610" y="5596128"/>
            <a:ext cx="857250" cy="731519"/>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190"/>
              </a:spcAft>
            </a:pPr>
            <a:r>
              <a:rPr sz="1070" b="1" i="0">
                <a:solidFill>
                  <a:srgbClr val="D97706"/>
                </a:solidFill>
                <a:latin typeface="Segoe UI Semibold"/>
              </a:rPr>
              <a:t>2</a:t>
            </a:r>
          </a:p>
          <a:p>
            <a:pPr algn="ctr">
              <a:lnSpc>
                <a:spcPct val="108000"/>
              </a:lnSpc>
              <a:spcBef>
                <a:spcPts val="0"/>
              </a:spcBef>
              <a:spcAft>
                <a:spcPts val="0"/>
              </a:spcAft>
            </a:pPr>
            <a:r>
              <a:rPr sz="830" b="0" i="0">
                <a:solidFill>
                  <a:srgbClr val="1C2330"/>
                </a:solidFill>
                <a:latin typeface="Segoe UI"/>
              </a:rPr>
              <a:t>distance from THEIR usual places</a:t>
            </a:r>
          </a:p>
        </p:txBody>
      </p:sp>
      <p:sp>
        <p:nvSpPr>
          <p:cNvPr id="14" name="Rounded Rectangle 13"/>
          <p:cNvSpPr/>
          <p:nvPr/>
        </p:nvSpPr>
        <p:spPr>
          <a:xfrm>
            <a:off x="2400300" y="5596128"/>
            <a:ext cx="857250" cy="731519"/>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200"/>
              </a:spcAft>
            </a:pPr>
            <a:r>
              <a:rPr sz="1100" b="1" i="0">
                <a:solidFill>
                  <a:srgbClr val="107C41"/>
                </a:solidFill>
                <a:latin typeface="Segoe UI Semibold"/>
              </a:rPr>
              <a:t>3</a:t>
            </a:r>
          </a:p>
          <a:p>
            <a:pPr algn="ctr">
              <a:lnSpc>
                <a:spcPct val="108000"/>
              </a:lnSpc>
              <a:spcBef>
                <a:spcPts val="0"/>
              </a:spcBef>
              <a:spcAft>
                <a:spcPts val="0"/>
              </a:spcAft>
            </a:pPr>
            <a:r>
              <a:rPr sz="850" b="0" i="0">
                <a:solidFill>
                  <a:srgbClr val="1C2330"/>
                </a:solidFill>
                <a:latin typeface="Segoe UI"/>
              </a:rPr>
              <a:t>hour vs THEIR pattern</a:t>
            </a:r>
          </a:p>
        </p:txBody>
      </p:sp>
      <p:sp>
        <p:nvSpPr>
          <p:cNvPr id="15" name="Rounded Rectangle 14"/>
          <p:cNvSpPr/>
          <p:nvPr/>
        </p:nvSpPr>
        <p:spPr>
          <a:xfrm>
            <a:off x="3348990" y="5596128"/>
            <a:ext cx="857250" cy="731519"/>
          </a:xfrm>
          <a:prstGeom prst="roundRect">
            <a:avLst>
              <a:gd name="adj" fmla="val 8000"/>
            </a:avLst>
          </a:prstGeom>
          <a:solidFill>
            <a:srgbClr val="F1EEF6"/>
          </a:solidFill>
          <a:ln w="1778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lnSpc>
                <a:spcPct val="115000"/>
              </a:lnSpc>
              <a:spcBef>
                <a:spcPts val="0"/>
              </a:spcBef>
              <a:spcAft>
                <a:spcPts val="190"/>
              </a:spcAft>
            </a:pPr>
            <a:r>
              <a:rPr sz="1070" b="1" i="0">
                <a:solidFill>
                  <a:srgbClr val="5C2D91"/>
                </a:solidFill>
                <a:latin typeface="Segoe UI Semibold"/>
              </a:rPr>
              <a:t>4</a:t>
            </a:r>
          </a:p>
          <a:p>
            <a:pPr algn="ctr">
              <a:lnSpc>
                <a:spcPct val="108000"/>
              </a:lnSpc>
              <a:spcBef>
                <a:spcPts val="0"/>
              </a:spcBef>
              <a:spcAft>
                <a:spcPts val="0"/>
              </a:spcAft>
            </a:pPr>
            <a:r>
              <a:rPr sz="830" b="0" i="0">
                <a:solidFill>
                  <a:srgbClr val="1C2330"/>
                </a:solidFill>
                <a:latin typeface="Segoe UI"/>
              </a:rPr>
              <a:t>merchant category novelty</a:t>
            </a:r>
          </a:p>
        </p:txBody>
      </p:sp>
      <p:sp>
        <p:nvSpPr>
          <p:cNvPr id="16" name="Rounded Rectangle 15"/>
          <p:cNvSpPr/>
          <p:nvPr/>
        </p:nvSpPr>
        <p:spPr>
          <a:xfrm>
            <a:off x="502920" y="1792224"/>
            <a:ext cx="3703320" cy="1730776"/>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19456" tIns="219456" rIns="182880" bIns="0" rtlCol="0" anchor="t"/>
          <a:lstStyle/>
          <a:p>
            <a:pPr algn="l">
              <a:lnSpc>
                <a:spcPct val="115000"/>
              </a:lnSpc>
              <a:spcBef>
                <a:spcPts val="0"/>
              </a:spcBef>
              <a:spcAft>
                <a:spcPts val="600"/>
              </a:spcAft>
            </a:pPr>
            <a:r>
              <a:rPr sz="750" b="1" i="0">
                <a:solidFill>
                  <a:srgbClr val="0096C7"/>
                </a:solidFill>
                <a:latin typeface="Segoe UI Semibold"/>
              </a:rPr>
              <a:t>THE PROBLEM</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A bank processes millions of card transactions per day</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Confirmed fraud is roughly 0.1% of transactions</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Confirmed labels arrive weeks late, via customer complaints</a:t>
            </a:r>
          </a:p>
          <a:p>
            <a:pPr marL="237744" indent="-237744" algn="l">
              <a:lnSpc>
                <a:spcPct val="120000"/>
              </a:lnSpc>
              <a:spcBef>
                <a:spcPts val="480"/>
              </a:spcBef>
              <a:spcAft>
                <a:spcPts val="0"/>
              </a:spcAft>
              <a:buClr>
                <a:srgbClr val="F47D35"/>
              </a:buClr>
              <a:buSzPct val="86000"/>
              <a:buFont typeface="Arial"/>
              <a:buChar char="▪"/>
            </a:pPr>
            <a:r>
              <a:rPr sz="780" b="0" i="0">
                <a:solidFill>
                  <a:srgbClr val="DEE8F4"/>
                </a:solidFill>
                <a:latin typeface="Segoe UI"/>
              </a:rPr>
              <a:t>Task: design an unsupervised approach</a:t>
            </a:r>
          </a:p>
        </p:txBody>
      </p:sp>
      <p:sp>
        <p:nvSpPr>
          <p:cNvPr id="17" name="Rounded Rectangle 16"/>
          <p:cNvSpPr/>
          <p:nvPr/>
        </p:nvSpPr>
        <p:spPr>
          <a:xfrm>
            <a:off x="502920" y="3705880"/>
            <a:ext cx="3703320" cy="1414759"/>
          </a:xfrm>
          <a:prstGeom prst="roundRect">
            <a:avLst>
              <a:gd name="adj" fmla="val 5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182880" bIns="0" rtlCol="0" anchor="t"/>
          <a:lstStyle/>
          <a:p>
            <a:pPr algn="l">
              <a:lnSpc>
                <a:spcPct val="115000"/>
              </a:lnSpc>
              <a:spcBef>
                <a:spcPts val="0"/>
              </a:spcBef>
              <a:spcAft>
                <a:spcPts val="480"/>
              </a:spcAft>
            </a:pPr>
            <a:r>
              <a:rPr sz="750" b="1" i="0">
                <a:solidFill>
                  <a:srgbClr val="D97706"/>
                </a:solidFill>
                <a:latin typeface="Segoe UI Semibold"/>
              </a:rPr>
              <a:t>WHY IT MATTERS</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Rare-event problems make labels scarce AND late - a double bind</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Defining 'normal' per-entity is usually stronger than a global rule</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The false-alarm cost is a business decision, not a technical one</a:t>
            </a:r>
          </a:p>
        </p:txBody>
      </p:sp>
      <p:sp>
        <p:nvSpPr>
          <p:cNvPr id="18" name="Rounded Rectangle 17"/>
          <p:cNvSpPr/>
          <p:nvPr/>
        </p:nvSpPr>
        <p:spPr>
          <a:xfrm>
            <a:off x="4443983" y="1792224"/>
            <a:ext cx="7245065" cy="3584447"/>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37744" tIns="219456" rIns="219456" bIns="0" rtlCol="0" anchor="t"/>
          <a:lstStyle/>
          <a:p>
            <a:pPr algn="l">
              <a:lnSpc>
                <a:spcPct val="115000"/>
              </a:lnSpc>
              <a:spcBef>
                <a:spcPts val="0"/>
              </a:spcBef>
              <a:spcAft>
                <a:spcPts val="720"/>
              </a:spcAft>
            </a:pPr>
            <a:r>
              <a:rPr sz="750" b="1" i="0">
                <a:solidFill>
                  <a:srgbClr val="0096C7"/>
                </a:solidFill>
                <a:latin typeface="Segoe UI Semibold"/>
              </a:rPr>
              <a:t>STEP-BY-STEP SOLUTION</a:t>
            </a:r>
          </a:p>
          <a:p>
            <a:pPr algn="l">
              <a:lnSpc>
                <a:spcPct val="120000"/>
              </a:lnSpc>
              <a:spcBef>
                <a:spcPts val="650"/>
              </a:spcBef>
              <a:spcAft>
                <a:spcPts val="0"/>
              </a:spcAft>
            </a:pPr>
            <a:r>
              <a:rPr sz="969" b="1" i="0">
                <a:solidFill>
                  <a:srgbClr val="182B49"/>
                </a:solidFill>
                <a:latin typeface="Segoe UI Semibold"/>
              </a:rPr>
              <a:t>1. Objects  </a:t>
            </a:r>
            <a:r>
              <a:rPr sz="969" b="0" i="0">
                <a:solidFill>
                  <a:srgbClr val="1C2330"/>
                </a:solidFill>
                <a:latin typeface="Segoe UI"/>
              </a:rPr>
              <a:t>the TRANSACTION - but described relative to that cardholder's own history, not against the population.</a:t>
            </a:r>
          </a:p>
          <a:p>
            <a:pPr algn="l">
              <a:lnSpc>
                <a:spcPct val="120000"/>
              </a:lnSpc>
              <a:spcBef>
                <a:spcPts val="650"/>
              </a:spcBef>
              <a:spcAft>
                <a:spcPts val="0"/>
              </a:spcAft>
            </a:pPr>
            <a:r>
              <a:rPr sz="969" b="1" i="0">
                <a:solidFill>
                  <a:srgbClr val="182B49"/>
                </a:solidFill>
                <a:latin typeface="Segoe UI Semibold"/>
              </a:rPr>
              <a:t>2. Features  </a:t>
            </a:r>
            <a:r>
              <a:rPr sz="969" b="0" i="0">
                <a:solidFill>
                  <a:srgbClr val="1C2330"/>
                </a:solidFill>
                <a:latin typeface="Segoe UI"/>
              </a:rPr>
              <a:t>amount vs. that customer's usual amount; distance from their usual locations; time of day vs. their pattern; merchant category novelty; time since previous transaction.</a:t>
            </a:r>
          </a:p>
          <a:p>
            <a:pPr algn="l">
              <a:lnSpc>
                <a:spcPct val="120000"/>
              </a:lnSpc>
              <a:spcBef>
                <a:spcPts val="650"/>
              </a:spcBef>
              <a:spcAft>
                <a:spcPts val="0"/>
              </a:spcAft>
            </a:pPr>
            <a:r>
              <a:rPr sz="969" b="1" i="0">
                <a:solidFill>
                  <a:srgbClr val="182B49"/>
                </a:solidFill>
                <a:latin typeface="Segoe UI Semibold"/>
              </a:rPr>
              <a:t>3. Similarity  </a:t>
            </a:r>
            <a:r>
              <a:rPr sz="969" b="0" i="0">
                <a:solidFill>
                  <a:srgbClr val="1C2330"/>
                </a:solidFill>
                <a:latin typeface="Segoe UI"/>
              </a:rPr>
              <a:t>distance in a standardised feature space - amounts and distances live on wildly different scales.</a:t>
            </a:r>
          </a:p>
          <a:p>
            <a:pPr algn="l">
              <a:lnSpc>
                <a:spcPct val="120000"/>
              </a:lnSpc>
              <a:spcBef>
                <a:spcPts val="650"/>
              </a:spcBef>
              <a:spcAft>
                <a:spcPts val="0"/>
              </a:spcAft>
            </a:pPr>
            <a:r>
              <a:rPr sz="969" b="1" i="0">
                <a:solidFill>
                  <a:srgbClr val="182B49"/>
                </a:solidFill>
                <a:latin typeface="Segoe UI Semibold"/>
              </a:rPr>
              <a:t>4. Structure sought  </a:t>
            </a:r>
            <a:r>
              <a:rPr sz="969" b="0" i="0">
                <a:solidFill>
                  <a:srgbClr val="1C2330"/>
                </a:solidFill>
                <a:latin typeface="Segoe UI"/>
              </a:rPr>
              <a:t>ANOMALIES, not clusters. Points far from every dense region of that customer's normal behaviour.</a:t>
            </a:r>
          </a:p>
          <a:p>
            <a:pPr algn="l">
              <a:lnSpc>
                <a:spcPct val="120000"/>
              </a:lnSpc>
              <a:spcBef>
                <a:spcPts val="650"/>
              </a:spcBef>
              <a:spcAft>
                <a:spcPts val="0"/>
              </a:spcAft>
            </a:pPr>
            <a:r>
              <a:rPr sz="969" b="1" i="0">
                <a:solidFill>
                  <a:srgbClr val="182B49"/>
                </a:solidFill>
                <a:latin typeface="Segoe UI Semibold"/>
              </a:rPr>
              <a:t>5. Success criterion  </a:t>
            </a:r>
            <a:r>
              <a:rPr sz="969" b="0" i="0">
                <a:solidFill>
                  <a:srgbClr val="1C2330"/>
                </a:solidFill>
                <a:latin typeface="Segoe UI"/>
              </a:rPr>
              <a:t>agreed in advance: catch a useful share of confirmed fraud while keeping false alarms low enough that genuine customers are not blocked.</a:t>
            </a:r>
          </a:p>
          <a:p>
            <a:pPr algn="l">
              <a:lnSpc>
                <a:spcPct val="120000"/>
              </a:lnSpc>
              <a:spcBef>
                <a:spcPts val="650"/>
              </a:spcBef>
              <a:spcAft>
                <a:spcPts val="0"/>
              </a:spcAft>
            </a:pPr>
            <a:r>
              <a:rPr sz="969" b="1" i="0">
                <a:solidFill>
                  <a:srgbClr val="182B49"/>
                </a:solidFill>
                <a:latin typeface="Segoe UI Semibold"/>
              </a:rPr>
              <a:t>The key design insight  </a:t>
            </a:r>
            <a:r>
              <a:rPr sz="969" b="0" i="0">
                <a:solidFill>
                  <a:srgbClr val="1C2330"/>
                </a:solidFill>
                <a:latin typeface="Segoe UI"/>
              </a:rPr>
              <a:t>'normal' is defined PER CUSTOMER. Rs. 40,000 is unremarkable for one cardholder and a screaming alarm for another. A global threshold fails both.</a:t>
            </a:r>
          </a:p>
        </p:txBody>
      </p:sp>
      <p:sp>
        <p:nvSpPr>
          <p:cNvPr id="19" name="Rounded Rectangle 18"/>
          <p:cNvSpPr/>
          <p:nvPr/>
        </p:nvSpPr>
        <p:spPr>
          <a:xfrm>
            <a:off x="4443983" y="5541264"/>
            <a:ext cx="7245065" cy="786384"/>
          </a:xfrm>
          <a:prstGeom prst="roundRect">
            <a:avLst>
              <a:gd name="adj" fmla="val 8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lstStyle/>
          <a:p>
            <a:pPr algn="l">
              <a:lnSpc>
                <a:spcPct val="114000"/>
              </a:lnSpc>
              <a:spcBef>
                <a:spcPts val="0"/>
              </a:spcBef>
              <a:spcAft>
                <a:spcPts val="0"/>
              </a:spcAft>
            </a:pPr>
            <a:r>
              <a:rPr sz="1150" b="1" i="0">
                <a:solidFill>
                  <a:srgbClr val="107C41"/>
                </a:solidFill>
                <a:latin typeface="Segoe UI Semibold"/>
              </a:rPr>
              <a:t>ANSWER   </a:t>
            </a:r>
            <a:r>
              <a:rPr sz="1500" b="1" i="0">
                <a:solidFill>
                  <a:srgbClr val="182B49"/>
                </a:solidFill>
                <a:latin typeface="Cambria Math"/>
              </a:rPr>
              <a:t>Anomaly detection with no labels — because the labels arrive weeks too late to be useful.</a:t>
            </a:r>
          </a:p>
        </p:txBody>
      </p:sp>
      <p:sp>
        <p:nvSpPr>
          <p:cNvPr id="20" name="Rectangle 19"/>
          <p:cNvSpPr/>
          <p:nvPr/>
        </p:nvSpPr>
        <p:spPr>
          <a:xfrm>
            <a:off x="4443983" y="5541264"/>
            <a:ext cx="73152" cy="786384"/>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1.3 REAL-LIFE USE CASES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What All Four Use Cases Have in Common</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25</a:t>
            </a:r>
          </a:p>
        </p:txBody>
      </p:sp>
      <p:sp>
        <p:nvSpPr>
          <p:cNvPr id="11" name="Rounded Rectangle 10"/>
          <p:cNvSpPr/>
          <p:nvPr/>
        </p:nvSpPr>
        <p:spPr>
          <a:xfrm>
            <a:off x="7757129" y="1792224"/>
            <a:ext cx="3931920" cy="669340"/>
          </a:xfrm>
          <a:prstGeom prst="roundRect">
            <a:avLst>
              <a:gd name="adj" fmla="val 8000"/>
            </a:avLst>
          </a:prstGeom>
          <a:solidFill>
            <a:srgbClr val="DBF0F7"/>
          </a:solidFill>
          <a:ln w="2286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0096C7"/>
                </a:solidFill>
                <a:latin typeface="Segoe UI Semibold"/>
              </a:rPr>
              <a:t>Categories do not exist yet</a:t>
            </a:r>
          </a:p>
          <a:p>
            <a:pPr algn="l">
              <a:lnSpc>
                <a:spcPct val="110000"/>
              </a:lnSpc>
              <a:spcBef>
                <a:spcPts val="200"/>
              </a:spcBef>
              <a:spcAft>
                <a:spcPts val="0"/>
              </a:spcAft>
            </a:pPr>
            <a:r>
              <a:rPr sz="950" b="0" i="0">
                <a:solidFill>
                  <a:srgbClr val="586476"/>
                </a:solidFill>
                <a:latin typeface="Segoe UI"/>
              </a:rPr>
              <a:t>they are the OUTPUT</a:t>
            </a:r>
          </a:p>
        </p:txBody>
      </p:sp>
      <p:sp>
        <p:nvSpPr>
          <p:cNvPr id="12" name="Rounded Rectangle 11"/>
          <p:cNvSpPr/>
          <p:nvPr/>
        </p:nvSpPr>
        <p:spPr>
          <a:xfrm>
            <a:off x="7757129" y="2553004"/>
            <a:ext cx="3931920" cy="669340"/>
          </a:xfrm>
          <a:prstGeom prst="roundRect">
            <a:avLst>
              <a:gd name="adj" fmla="val 8000"/>
            </a:avLst>
          </a:prstGeom>
          <a:solidFill>
            <a:srgbClr val="F9EBDC"/>
          </a:solidFill>
          <a:ln w="2286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D97706"/>
                </a:solidFill>
                <a:latin typeface="Segoe UI Semibold"/>
              </a:rPr>
              <a:t>Labelling is impractical</a:t>
            </a:r>
          </a:p>
          <a:p>
            <a:pPr algn="l">
              <a:lnSpc>
                <a:spcPct val="110000"/>
              </a:lnSpc>
              <a:spcBef>
                <a:spcPts val="200"/>
              </a:spcBef>
              <a:spcAft>
                <a:spcPts val="0"/>
              </a:spcAft>
            </a:pPr>
            <a:r>
              <a:rPr sz="950" b="0" i="0">
                <a:solidFill>
                  <a:srgbClr val="586476"/>
                </a:solidFill>
                <a:latin typeface="Segoe UI"/>
              </a:rPr>
              <a:t>or arrives far too late</a:t>
            </a:r>
          </a:p>
        </p:txBody>
      </p:sp>
      <p:sp>
        <p:nvSpPr>
          <p:cNvPr id="13" name="Rounded Rectangle 12"/>
          <p:cNvSpPr/>
          <p:nvPr/>
        </p:nvSpPr>
        <p:spPr>
          <a:xfrm>
            <a:off x="7757129" y="3313785"/>
            <a:ext cx="3931920" cy="669340"/>
          </a:xfrm>
          <a:prstGeom prst="roundRect">
            <a:avLst>
              <a:gd name="adj" fmla="val 8000"/>
            </a:avLst>
          </a:prstGeom>
          <a:solidFill>
            <a:srgbClr val="DDECE4"/>
          </a:solidFill>
          <a:ln w="2286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107C41"/>
                </a:solidFill>
                <a:latin typeface="Segoe UI Semibold"/>
              </a:rPr>
              <a:t>Unlabelled data is abundant</a:t>
            </a:r>
          </a:p>
          <a:p>
            <a:pPr algn="l">
              <a:lnSpc>
                <a:spcPct val="110000"/>
              </a:lnSpc>
              <a:spcBef>
                <a:spcPts val="200"/>
              </a:spcBef>
              <a:spcAft>
                <a:spcPts val="0"/>
              </a:spcAft>
            </a:pPr>
            <a:r>
              <a:rPr sz="950" b="0" i="0">
                <a:solidFill>
                  <a:srgbClr val="586476"/>
                </a:solidFill>
                <a:latin typeface="Segoe UI"/>
              </a:rPr>
              <a:t>and cheap</a:t>
            </a:r>
          </a:p>
        </p:txBody>
      </p:sp>
      <p:sp>
        <p:nvSpPr>
          <p:cNvPr id="14" name="Rounded Rectangle 13"/>
          <p:cNvSpPr/>
          <p:nvPr/>
        </p:nvSpPr>
        <p:spPr>
          <a:xfrm>
            <a:off x="7757129" y="4074566"/>
            <a:ext cx="3931920" cy="669340"/>
          </a:xfrm>
          <a:prstGeom prst="roundRect">
            <a:avLst>
              <a:gd name="adj" fmla="val 8000"/>
            </a:avLst>
          </a:prstGeom>
          <a:solidFill>
            <a:srgbClr val="E8E1EF"/>
          </a:solidFill>
          <a:ln w="2286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5C2D91"/>
                </a:solidFill>
                <a:latin typeface="Segoe UI Semibold"/>
              </a:rPr>
              <a:t>Discovery has value</a:t>
            </a:r>
          </a:p>
          <a:p>
            <a:pPr algn="l">
              <a:lnSpc>
                <a:spcPct val="110000"/>
              </a:lnSpc>
              <a:spcBef>
                <a:spcPts val="200"/>
              </a:spcBef>
              <a:spcAft>
                <a:spcPts val="0"/>
              </a:spcAft>
            </a:pPr>
            <a:r>
              <a:rPr sz="950" b="0" i="0">
                <a:solidFill>
                  <a:srgbClr val="586476"/>
                </a:solidFill>
                <a:latin typeface="Segoe UI"/>
              </a:rPr>
              <a:t>you learn what you did not ask</a:t>
            </a:r>
          </a:p>
        </p:txBody>
      </p:sp>
      <p:sp>
        <p:nvSpPr>
          <p:cNvPr id="15" name="Rounded Rectangle 14"/>
          <p:cNvSpPr/>
          <p:nvPr/>
        </p:nvSpPr>
        <p:spPr>
          <a:xfrm>
            <a:off x="7757129" y="4835347"/>
            <a:ext cx="3931920" cy="669340"/>
          </a:xfrm>
          <a:prstGeom prst="roundRect">
            <a:avLst>
              <a:gd name="adj" fmla="val 8000"/>
            </a:avLst>
          </a:prstGeom>
          <a:solidFill>
            <a:srgbClr val="F4E0DE"/>
          </a:solidFill>
          <a:ln w="2286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B42318"/>
                </a:solidFill>
                <a:latin typeface="Segoe UI Semibold"/>
              </a:rPr>
              <a:t>Judged downstream</a:t>
            </a:r>
          </a:p>
          <a:p>
            <a:pPr algn="l">
              <a:lnSpc>
                <a:spcPct val="110000"/>
              </a:lnSpc>
              <a:spcBef>
                <a:spcPts val="200"/>
              </a:spcBef>
              <a:spcAft>
                <a:spcPts val="0"/>
              </a:spcAft>
            </a:pPr>
            <a:r>
              <a:rPr sz="950" b="0" i="0">
                <a:solidFill>
                  <a:srgbClr val="586476"/>
                </a:solidFill>
                <a:latin typeface="Segoe UI"/>
              </a:rPr>
              <a:t>by the decision it enabled</a:t>
            </a:r>
          </a:p>
        </p:txBody>
      </p:sp>
      <p:sp>
        <p:nvSpPr>
          <p:cNvPr id="16" name="Rounded Rectangle 15"/>
          <p:cNvSpPr/>
          <p:nvPr/>
        </p:nvSpPr>
        <p:spPr>
          <a:xfrm>
            <a:off x="502920" y="1792224"/>
            <a:ext cx="6998177" cy="3712463"/>
          </a:xfrm>
          <a:prstGeom prst="roundRect">
            <a:avLst>
              <a:gd name="adj" fmla="val 3500"/>
            </a:avLst>
          </a:prstGeom>
          <a:solidFill>
            <a:srgbClr val="EEF2F8"/>
          </a:solidFill>
          <a:ln w="15875">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100" b="1" i="0">
                <a:solidFill>
                  <a:srgbClr val="182B49"/>
                </a:solidFill>
                <a:latin typeface="Segoe UI Semibold"/>
              </a:rPr>
              <a:t>1. The categories do not exist yet  </a:t>
            </a:r>
            <a:r>
              <a:rPr sz="1100" b="0" i="0">
                <a:solidFill>
                  <a:srgbClr val="1C2330"/>
                </a:solidFill>
                <a:latin typeface="Segoe UI"/>
              </a:rPr>
              <a:t>segments, behaviour patterns, anomaly types and disease subtypes are all OUTPUTS, not inputs. Nobody could have supplied them.</a:t>
            </a:r>
          </a:p>
          <a:p>
            <a:pPr algn="l">
              <a:lnSpc>
                <a:spcPct val="120000"/>
              </a:lnSpc>
              <a:spcBef>
                <a:spcPts val="740"/>
              </a:spcBef>
              <a:spcAft>
                <a:spcPts val="0"/>
              </a:spcAft>
            </a:pPr>
            <a:r>
              <a:rPr sz="1100" b="1" i="0">
                <a:solidFill>
                  <a:srgbClr val="182B49"/>
                </a:solidFill>
                <a:latin typeface="Segoe UI Semibold"/>
              </a:rPr>
              <a:t>2. Labelling is impossible, impractical or too slow  </a:t>
            </a:r>
            <a:r>
              <a:rPr sz="1100" b="0" i="0">
                <a:solidFill>
                  <a:srgbClr val="1C2330"/>
                </a:solidFill>
                <a:latin typeface="Segoe UI"/>
              </a:rPr>
              <a:t>you cannot label 'which segment' because segments do not exist; fraud labels arrive weeks late; nobody knew the disease subtypes.</a:t>
            </a:r>
          </a:p>
          <a:p>
            <a:pPr algn="l">
              <a:lnSpc>
                <a:spcPct val="120000"/>
              </a:lnSpc>
              <a:spcBef>
                <a:spcPts val="740"/>
              </a:spcBef>
              <a:spcAft>
                <a:spcPts val="0"/>
              </a:spcAft>
            </a:pPr>
            <a:r>
              <a:rPr sz="1100" b="1" i="0">
                <a:solidFill>
                  <a:srgbClr val="182B49"/>
                </a:solidFill>
                <a:latin typeface="Segoe UI Semibold"/>
              </a:rPr>
              <a:t>3. There is a lot of unlabelled data  </a:t>
            </a:r>
            <a:r>
              <a:rPr sz="1100" b="0" i="0">
                <a:solidFill>
                  <a:srgbClr val="1C2330"/>
                </a:solidFill>
                <a:latin typeface="Segoe UI"/>
              </a:rPr>
              <a:t>and it is cheap. This is the resource unsupervised learning is designed to exploit.</a:t>
            </a:r>
          </a:p>
          <a:p>
            <a:pPr algn="l">
              <a:lnSpc>
                <a:spcPct val="120000"/>
              </a:lnSpc>
              <a:spcBef>
                <a:spcPts val="740"/>
              </a:spcBef>
              <a:spcAft>
                <a:spcPts val="0"/>
              </a:spcAft>
            </a:pPr>
            <a:r>
              <a:rPr sz="1100" b="1" i="0">
                <a:solidFill>
                  <a:srgbClr val="182B49"/>
                </a:solidFill>
                <a:latin typeface="Segoe UI Semibold"/>
              </a:rPr>
              <a:t>4. Discovery has real value  </a:t>
            </a:r>
            <a:r>
              <a:rPr sz="1100" b="0" i="0">
                <a:solidFill>
                  <a:srgbClr val="1C2330"/>
                </a:solidFill>
                <a:latin typeface="Segoe UI"/>
              </a:rPr>
              <a:t>finding something you did not think to ask about is the point. A supervised model can only confirm what you already suspected.</a:t>
            </a:r>
          </a:p>
          <a:p>
            <a:pPr algn="l">
              <a:lnSpc>
                <a:spcPct val="120000"/>
              </a:lnSpc>
              <a:spcBef>
                <a:spcPts val="740"/>
              </a:spcBef>
              <a:spcAft>
                <a:spcPts val="0"/>
              </a:spcAft>
            </a:pPr>
            <a:r>
              <a:rPr sz="1100" b="1" i="0">
                <a:solidFill>
                  <a:srgbClr val="182B49"/>
                </a:solidFill>
                <a:latin typeface="Segoe UI Semibold"/>
              </a:rPr>
              <a:t>5. Success is judged downstream  </a:t>
            </a:r>
            <a:r>
              <a:rPr sz="1100" b="0" i="0">
                <a:solidFill>
                  <a:srgbClr val="1C2330"/>
                </a:solidFill>
                <a:latin typeface="Segoe UI"/>
              </a:rPr>
              <a:t>by the campaign response, the fraud prevented, the treatment chosen - not by an accuracy score.</a:t>
            </a:r>
          </a:p>
        </p:txBody>
      </p:sp>
      <p:sp>
        <p:nvSpPr>
          <p:cNvPr id="17" name="Rectangle 16"/>
          <p:cNvSpPr/>
          <p:nvPr/>
        </p:nvSpPr>
        <p:spPr>
          <a:xfrm>
            <a:off x="502920" y="1792224"/>
            <a:ext cx="6998177" cy="420624"/>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704088" y="1883664"/>
            <a:ext cx="6540977"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KEY CONCEPT   ·   </a:t>
            </a:r>
            <a:r>
              <a:rPr sz="1400" b="1" i="0">
                <a:solidFill>
                  <a:srgbClr val="FFFFFF"/>
                </a:solidFill>
                <a:latin typeface="Segoe UI Semibold"/>
              </a:rPr>
              <a:t>The shape of a genuine unsupervised problem</a:t>
            </a:r>
          </a:p>
        </p:txBody>
      </p:sp>
      <p:sp>
        <p:nvSpPr>
          <p:cNvPr id="19" name="Rounded Rectangle 18"/>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APPLY IT   </a:t>
            </a:r>
            <a:r>
              <a:rPr sz="1350" b="0" i="0">
                <a:solidFill>
                  <a:srgbClr val="1C2330"/>
                </a:solidFill>
                <a:latin typeface="Segoe UI"/>
              </a:rPr>
              <a:t>Think of a problem from your own life or work. Does it have all five? If not, which one is missing - and is unsupervised learning really the right tool?</a:t>
            </a:r>
          </a:p>
        </p:txBody>
      </p:sp>
      <p:sp>
        <p:nvSpPr>
          <p:cNvPr id="20" name="Rectangle 19"/>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04</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Distance and
Similarity Metrics</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0096C7"/>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Why the metric IS the algorithm's definition of 'similar'</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Euclidean distance - the crow flies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Manhattan distance - the city blocks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Cosine similarity - direction, not magnitude</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Hands-on calculation on all three</a:t>
            </a:r>
          </a:p>
        </p:txBody>
      </p:sp>
      <p:sp>
        <p:nvSpPr>
          <p:cNvPr id="9" name="Rounded Rectangle 8"/>
          <p:cNvSpPr/>
          <p:nvPr/>
        </p:nvSpPr>
        <p:spPr>
          <a:xfrm>
            <a:off x="914400"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1 · Paradigms</a:t>
            </a:r>
          </a:p>
        </p:txBody>
      </p:sp>
      <p:sp>
        <p:nvSpPr>
          <p:cNvPr id="10" name="Rounded Rectangle 9"/>
          <p:cNvSpPr/>
          <p:nvPr/>
        </p:nvSpPr>
        <p:spPr>
          <a:xfrm>
            <a:off x="2999232"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2 · Formulation</a:t>
            </a:r>
          </a:p>
        </p:txBody>
      </p:sp>
      <p:sp>
        <p:nvSpPr>
          <p:cNvPr id="11" name="Rounded Rectangle 10"/>
          <p:cNvSpPr/>
          <p:nvPr/>
        </p:nvSpPr>
        <p:spPr>
          <a:xfrm>
            <a:off x="5084064"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3 · Use cases</a:t>
            </a:r>
          </a:p>
        </p:txBody>
      </p:sp>
      <p:sp>
        <p:nvSpPr>
          <p:cNvPr id="12" name="Rounded Rectangle 11"/>
          <p:cNvSpPr/>
          <p:nvPr/>
        </p:nvSpPr>
        <p:spPr>
          <a:xfrm>
            <a:off x="7168896" y="5998464"/>
            <a:ext cx="1993392" cy="408188"/>
          </a:xfrm>
          <a:prstGeom prst="roundRect">
            <a:avLst>
              <a:gd name="adj" fmla="val 14000"/>
            </a:avLst>
          </a:prstGeom>
          <a:solidFill>
            <a:srgbClr val="ED771F"/>
          </a:solidFill>
          <a:ln w="20320">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1" i="0">
                <a:solidFill>
                  <a:srgbClr val="FFFFFF"/>
                </a:solidFill>
                <a:latin typeface="Segoe UI Semibold"/>
              </a:rPr>
              <a:t>4 · Metrics</a:t>
            </a:r>
          </a:p>
        </p:txBody>
      </p:sp>
      <p:sp>
        <p:nvSpPr>
          <p:cNvPr id="13" name="Rounded Rectangle 12"/>
          <p:cNvSpPr/>
          <p:nvPr/>
        </p:nvSpPr>
        <p:spPr>
          <a:xfrm>
            <a:off x="9253728" y="5998464"/>
            <a:ext cx="1993392" cy="408188"/>
          </a:xfrm>
          <a:prstGeom prst="roundRect">
            <a:avLst>
              <a:gd name="adj" fmla="val 14000"/>
            </a:avLst>
          </a:prstGeom>
          <a:solidFill>
            <a:srgbClr val="1F3558"/>
          </a:solidFill>
          <a:ln w="2032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5 · Why it matters</a:t>
            </a:r>
          </a:p>
        </p:txBody>
      </p:sp>
      <p:sp>
        <p:nvSpPr>
          <p:cNvPr id="14" name="TextBox 13"/>
          <p:cNvSpPr txBox="1"/>
          <p:nvPr/>
        </p:nvSpPr>
        <p:spPr>
          <a:xfrm>
            <a:off x="914400" y="6446154"/>
            <a:ext cx="103327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96B2D0"/>
                </a:solidFill>
                <a:latin typeface="Segoe UI"/>
              </a:rPr>
              <a:t>you are 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Distance Metric IS the Definition of 'Similar'</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27</a:t>
            </a:r>
          </a:p>
        </p:txBody>
      </p:sp>
      <p:sp>
        <p:nvSpPr>
          <p:cNvPr id="11" name="TextBox 10"/>
          <p:cNvSpPr txBox="1"/>
          <p:nvPr/>
        </p:nvSpPr>
        <p:spPr>
          <a:xfrm>
            <a:off x="7757129" y="1792224"/>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A TRUE METRIC OBEYS FOUR RULES</a:t>
            </a:r>
          </a:p>
        </p:txBody>
      </p:sp>
      <p:sp>
        <p:nvSpPr>
          <p:cNvPr id="12" name="Rounded Rectangle 11"/>
          <p:cNvSpPr/>
          <p:nvPr/>
        </p:nvSpPr>
        <p:spPr>
          <a:xfrm>
            <a:off x="7757129" y="2084831"/>
            <a:ext cx="3931920" cy="786383"/>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7848569" y="2340864"/>
            <a:ext cx="402336" cy="27432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1</a:t>
            </a:r>
          </a:p>
        </p:txBody>
      </p:sp>
      <p:sp>
        <p:nvSpPr>
          <p:cNvPr id="14" name="TextBox 13"/>
          <p:cNvSpPr txBox="1"/>
          <p:nvPr/>
        </p:nvSpPr>
        <p:spPr>
          <a:xfrm>
            <a:off x="8324057" y="2139696"/>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non-negativity   d(a,b) ≥ 0</a:t>
            </a:r>
          </a:p>
        </p:txBody>
      </p:sp>
      <p:sp>
        <p:nvSpPr>
          <p:cNvPr id="15" name="Rounded Rectangle 14"/>
          <p:cNvSpPr/>
          <p:nvPr/>
        </p:nvSpPr>
        <p:spPr>
          <a:xfrm>
            <a:off x="7757129" y="2962656"/>
            <a:ext cx="3931920" cy="786383"/>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7848569" y="3218688"/>
            <a:ext cx="402336" cy="2743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2</a:t>
            </a:r>
          </a:p>
        </p:txBody>
      </p:sp>
      <p:sp>
        <p:nvSpPr>
          <p:cNvPr id="17" name="TextBox 16"/>
          <p:cNvSpPr txBox="1"/>
          <p:nvPr/>
        </p:nvSpPr>
        <p:spPr>
          <a:xfrm>
            <a:off x="8324057" y="3017520"/>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identity   d(a,a) = 0</a:t>
            </a:r>
          </a:p>
        </p:txBody>
      </p:sp>
      <p:sp>
        <p:nvSpPr>
          <p:cNvPr id="18" name="Rounded Rectangle 17"/>
          <p:cNvSpPr/>
          <p:nvPr/>
        </p:nvSpPr>
        <p:spPr>
          <a:xfrm>
            <a:off x="7757129" y="3840479"/>
            <a:ext cx="3931920" cy="786383"/>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7848569" y="4096511"/>
            <a:ext cx="402336" cy="274320"/>
          </a:xfrm>
          <a:prstGeom prst="round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3</a:t>
            </a:r>
          </a:p>
        </p:txBody>
      </p:sp>
      <p:sp>
        <p:nvSpPr>
          <p:cNvPr id="20" name="TextBox 19"/>
          <p:cNvSpPr txBox="1"/>
          <p:nvPr/>
        </p:nvSpPr>
        <p:spPr>
          <a:xfrm>
            <a:off x="8324057" y="3895343"/>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symmetry   d(a,b) = d(b,a)</a:t>
            </a:r>
          </a:p>
        </p:txBody>
      </p:sp>
      <p:sp>
        <p:nvSpPr>
          <p:cNvPr id="21" name="Rounded Rectangle 20"/>
          <p:cNvSpPr/>
          <p:nvPr/>
        </p:nvSpPr>
        <p:spPr>
          <a:xfrm>
            <a:off x="7757129" y="4718303"/>
            <a:ext cx="3931920" cy="786383"/>
          </a:xfrm>
          <a:prstGeom prst="roundRect">
            <a:avLst>
              <a:gd name="adj" fmla="val 8000"/>
            </a:avLst>
          </a:prstGeom>
          <a:solidFill>
            <a:srgbClr val="F1EEF6"/>
          </a:solidFill>
          <a:ln w="1778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848569" y="4974335"/>
            <a:ext cx="402336" cy="274320"/>
          </a:xfrm>
          <a:prstGeom prst="round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4</a:t>
            </a:r>
          </a:p>
        </p:txBody>
      </p:sp>
      <p:sp>
        <p:nvSpPr>
          <p:cNvPr id="23" name="TextBox 22"/>
          <p:cNvSpPr txBox="1"/>
          <p:nvPr/>
        </p:nvSpPr>
        <p:spPr>
          <a:xfrm>
            <a:off x="8324057" y="4773167"/>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triangle   d(a,c) ≤ d(a,b) + d(b,c)</a:t>
            </a:r>
          </a:p>
        </p:txBody>
      </p:sp>
      <p:sp>
        <p:nvSpPr>
          <p:cNvPr id="24" name="Rounded Rectangle 23"/>
          <p:cNvSpPr/>
          <p:nvPr/>
        </p:nvSpPr>
        <p:spPr>
          <a:xfrm>
            <a:off x="502920" y="1792224"/>
            <a:ext cx="6998177" cy="3712463"/>
          </a:xfrm>
          <a:prstGeom prst="roundRect">
            <a:avLst>
              <a:gd name="adj" fmla="val 3500"/>
            </a:avLst>
          </a:prstGeom>
          <a:solidFill>
            <a:srgbClr val="EEF2F8"/>
          </a:solidFill>
          <a:ln w="15875">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100" b="1" i="0">
                <a:solidFill>
                  <a:srgbClr val="182B49"/>
                </a:solidFill>
                <a:latin typeface="Segoe UI Semibold"/>
              </a:rPr>
              <a:t>What a distance metric does  </a:t>
            </a:r>
            <a:r>
              <a:rPr sz="1100" b="0" i="0">
                <a:solidFill>
                  <a:srgbClr val="1C2330"/>
                </a:solidFill>
                <a:latin typeface="Segoe UI"/>
              </a:rPr>
              <a:t>takes two objects, each described by a list of numbers, and returns a single number: how far apart they are.</a:t>
            </a:r>
          </a:p>
          <a:p>
            <a:pPr algn="l">
              <a:lnSpc>
                <a:spcPct val="120000"/>
              </a:lnSpc>
              <a:spcBef>
                <a:spcPts val="740"/>
              </a:spcBef>
              <a:spcAft>
                <a:spcPts val="0"/>
              </a:spcAft>
            </a:pPr>
            <a:r>
              <a:rPr sz="1100" b="1" i="0">
                <a:solidFill>
                  <a:srgbClr val="182B49"/>
                </a:solidFill>
                <a:latin typeface="Segoe UI Semibold"/>
              </a:rPr>
              <a:t>Why it is not a detail  </a:t>
            </a:r>
            <a:r>
              <a:rPr sz="1100" b="0" i="0">
                <a:solidFill>
                  <a:srgbClr val="1C2330"/>
                </a:solidFill>
                <a:latin typeface="Segoe UI"/>
              </a:rPr>
              <a:t>clustering means grouping things that are close. Change what 'close' means and the groups change - same data, same algorithm, different answer.</a:t>
            </a:r>
          </a:p>
          <a:p>
            <a:pPr algn="l">
              <a:lnSpc>
                <a:spcPct val="120000"/>
              </a:lnSpc>
              <a:spcBef>
                <a:spcPts val="740"/>
              </a:spcBef>
              <a:spcAft>
                <a:spcPts val="0"/>
              </a:spcAft>
            </a:pPr>
            <a:r>
              <a:rPr sz="1100" b="1" i="0">
                <a:solidFill>
                  <a:srgbClr val="182B49"/>
                </a:solidFill>
                <a:latin typeface="Segoe UI Semibold"/>
              </a:rPr>
              <a:t>The four properties of a true metric  </a:t>
            </a:r>
            <a:r>
              <a:rPr sz="1100" b="0" i="0">
                <a:solidFill>
                  <a:srgbClr val="1C2330"/>
                </a:solidFill>
                <a:latin typeface="Segoe UI"/>
              </a:rPr>
              <a:t>non-negativity d(a,b) ≥ 0; identity d(a,a) = 0; symmetry d(a,b) = d(b,a); and the triangle inequality d(a,c) ≤ d(a,b) + d(b,c).</a:t>
            </a:r>
          </a:p>
          <a:p>
            <a:pPr algn="l">
              <a:lnSpc>
                <a:spcPct val="120000"/>
              </a:lnSpc>
              <a:spcBef>
                <a:spcPts val="740"/>
              </a:spcBef>
              <a:spcAft>
                <a:spcPts val="0"/>
              </a:spcAft>
            </a:pPr>
            <a:r>
              <a:rPr sz="1100" b="1" i="0">
                <a:solidFill>
                  <a:srgbClr val="182B49"/>
                </a:solidFill>
                <a:latin typeface="Segoe UI Semibold"/>
              </a:rPr>
              <a:t>Similarity vs. distance  </a:t>
            </a:r>
            <a:r>
              <a:rPr sz="1100" b="0" i="0">
                <a:solidFill>
                  <a:srgbClr val="1C2330"/>
                </a:solidFill>
                <a:latin typeface="Segoe UI"/>
              </a:rPr>
              <a:t>they are inverses. High similarity = small distance. Cosine gives SIMILARITY (higher is more alike); Euclidean and Manhattan give DISTANCE (lower is more alike). Do not mix them up.</a:t>
            </a:r>
          </a:p>
          <a:p>
            <a:pPr algn="l">
              <a:lnSpc>
                <a:spcPct val="120000"/>
              </a:lnSpc>
              <a:spcBef>
                <a:spcPts val="740"/>
              </a:spcBef>
              <a:spcAft>
                <a:spcPts val="0"/>
              </a:spcAft>
            </a:pPr>
            <a:r>
              <a:rPr sz="1100" b="1" i="0">
                <a:solidFill>
                  <a:srgbClr val="182B49"/>
                </a:solidFill>
                <a:latin typeface="Segoe UI Semibold"/>
              </a:rPr>
              <a:t>The practical consequence  </a:t>
            </a:r>
            <a:r>
              <a:rPr sz="1100" b="0" i="0">
                <a:solidFill>
                  <a:srgbClr val="1C2330"/>
                </a:solidFill>
                <a:latin typeface="Segoe UI"/>
              </a:rPr>
              <a:t>before you cluster anything, you must be able to finish this sentence: 'two of my objects are similar when ___'.</a:t>
            </a:r>
          </a:p>
        </p:txBody>
      </p:sp>
      <p:sp>
        <p:nvSpPr>
          <p:cNvPr id="25" name="Rectangle 24"/>
          <p:cNvSpPr/>
          <p:nvPr/>
        </p:nvSpPr>
        <p:spPr>
          <a:xfrm>
            <a:off x="502920" y="1792224"/>
            <a:ext cx="6998177" cy="420624"/>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04088" y="1883664"/>
            <a:ext cx="6540977"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KEY CONCEPT   ·   </a:t>
            </a:r>
            <a:r>
              <a:rPr sz="1400" b="1" i="0">
                <a:solidFill>
                  <a:srgbClr val="FFFFFF"/>
                </a:solidFill>
                <a:latin typeface="Segoe UI Semibold"/>
              </a:rPr>
              <a:t>The algorithm has no opinion. You supply one.</a:t>
            </a:r>
          </a:p>
        </p:txBody>
      </p:sp>
      <p:sp>
        <p:nvSpPr>
          <p:cNvPr id="27" name="Rounded Rectangle 26"/>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FINISH THE SENTENCE   </a:t>
            </a:r>
            <a:r>
              <a:rPr sz="1350" b="0" i="0">
                <a:solidFill>
                  <a:srgbClr val="1C2330"/>
                </a:solidFill>
                <a:latin typeface="Segoe UI"/>
              </a:rPr>
              <a:t>'Two of my objects are similar when ___.' Say yours out loud.</a:t>
            </a:r>
          </a:p>
        </p:txBody>
      </p:sp>
      <p:sp>
        <p:nvSpPr>
          <p:cNvPr id="28" name="Rectangle 27"/>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Euclidean Distance - How the Crow Flies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28</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The default metric - and the right one when your features are continuous and comparably scaled.</a:t>
            </a:r>
          </a:p>
        </p:txBody>
      </p:sp>
      <p:sp>
        <p:nvSpPr>
          <p:cNvPr id="12" name="Rounded Rectangle 11"/>
          <p:cNvSpPr/>
          <p:nvPr/>
        </p:nvSpPr>
        <p:spPr>
          <a:xfrm>
            <a:off x="502920" y="2249424"/>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EUCLIDEAN DISTANCE IN 2 DIMENSIONS</a:t>
            </a:r>
          </a:p>
          <a:p>
            <a:pPr algn="l">
              <a:lnSpc>
                <a:spcPct val="115000"/>
              </a:lnSpc>
              <a:spcBef>
                <a:spcPts val="0"/>
              </a:spcBef>
              <a:spcAft>
                <a:spcPts val="0"/>
              </a:spcAft>
            </a:pPr>
            <a:r>
              <a:rPr sz="1700" b="1" i="0">
                <a:solidFill>
                  <a:srgbClr val="182B49"/>
                </a:solidFill>
                <a:latin typeface="Cambria Math"/>
              </a:rPr>
              <a:t>d(p, q) = √[ (p₁ − q₁)² + (p₂ − q₂)² ]</a:t>
            </a:r>
          </a:p>
          <a:p>
            <a:pPr algn="l">
              <a:lnSpc>
                <a:spcPct val="114000"/>
              </a:lnSpc>
              <a:spcBef>
                <a:spcPts val="540"/>
              </a:spcBef>
              <a:spcAft>
                <a:spcPts val="0"/>
              </a:spcAft>
            </a:pPr>
            <a:r>
              <a:rPr sz="1120" b="0" i="0">
                <a:solidFill>
                  <a:srgbClr val="586476"/>
                </a:solidFill>
                <a:latin typeface="Segoe UI"/>
              </a:rPr>
              <a:t>Pythagoras. The straight-line distance between two points.</a:t>
            </a:r>
          </a:p>
        </p:txBody>
      </p:sp>
      <p:sp>
        <p:nvSpPr>
          <p:cNvPr id="13" name="Rectangle 12"/>
          <p:cNvSpPr/>
          <p:nvPr/>
        </p:nvSpPr>
        <p:spPr>
          <a:xfrm>
            <a:off x="502920" y="2249424"/>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3389376"/>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EUCLIDEAN DISTANCE IN N DIMENSIONS</a:t>
            </a:r>
          </a:p>
          <a:p>
            <a:pPr algn="l">
              <a:lnSpc>
                <a:spcPct val="115000"/>
              </a:lnSpc>
              <a:spcBef>
                <a:spcPts val="0"/>
              </a:spcBef>
              <a:spcAft>
                <a:spcPts val="0"/>
              </a:spcAft>
            </a:pPr>
            <a:r>
              <a:rPr sz="1700" b="1" i="0">
                <a:solidFill>
                  <a:srgbClr val="182B49"/>
                </a:solidFill>
                <a:latin typeface="Cambria Math"/>
              </a:rPr>
              <a:t>d(p, q) = √[ Σᵢ₌₁ⁿ (pᵢ − qᵢ)² ]</a:t>
            </a:r>
          </a:p>
          <a:p>
            <a:pPr algn="l">
              <a:lnSpc>
                <a:spcPct val="114000"/>
              </a:lnSpc>
              <a:spcBef>
                <a:spcPts val="540"/>
              </a:spcBef>
              <a:spcAft>
                <a:spcPts val="0"/>
              </a:spcAft>
            </a:pPr>
            <a:r>
              <a:rPr sz="1120" b="0" i="0">
                <a:solidFill>
                  <a:srgbClr val="586476"/>
                </a:solidFill>
                <a:latin typeface="Segoe UI"/>
              </a:rPr>
              <a:t>Same idea, more features. Also written as the L2 norm ‖p − q‖₂.</a:t>
            </a:r>
          </a:p>
        </p:txBody>
      </p:sp>
      <p:sp>
        <p:nvSpPr>
          <p:cNvPr id="15" name="Rectangle 14"/>
          <p:cNvSpPr/>
          <p:nvPr/>
        </p:nvSpPr>
        <p:spPr>
          <a:xfrm>
            <a:off x="502920" y="3389376"/>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4529328"/>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WORKED: P = (2, 3), Q = (6, 6)</a:t>
            </a:r>
          </a:p>
          <a:p>
            <a:pPr algn="l">
              <a:lnSpc>
                <a:spcPct val="115000"/>
              </a:lnSpc>
              <a:spcBef>
                <a:spcPts val="0"/>
              </a:spcBef>
              <a:spcAft>
                <a:spcPts val="0"/>
              </a:spcAft>
            </a:pPr>
            <a:r>
              <a:rPr sz="1700" b="1" i="0">
                <a:solidFill>
                  <a:srgbClr val="182B49"/>
                </a:solidFill>
                <a:latin typeface="Cambria Math"/>
              </a:rPr>
              <a:t>d = √[ (2−6)² + (3−6)² ] = √[16 + 9] = √25 = 5</a:t>
            </a:r>
          </a:p>
          <a:p>
            <a:pPr algn="l">
              <a:lnSpc>
                <a:spcPct val="114000"/>
              </a:lnSpc>
              <a:spcBef>
                <a:spcPts val="540"/>
              </a:spcBef>
              <a:spcAft>
                <a:spcPts val="0"/>
              </a:spcAft>
            </a:pPr>
            <a:r>
              <a:rPr sz="1120" b="0" i="0">
                <a:solidFill>
                  <a:srgbClr val="586476"/>
                </a:solidFill>
                <a:latin typeface="Segoe UI"/>
              </a:rPr>
              <a:t>The classic 3-4-5 triangle. Do this one by hand now.</a:t>
            </a:r>
          </a:p>
        </p:txBody>
      </p:sp>
      <p:sp>
        <p:nvSpPr>
          <p:cNvPr id="17" name="Rectangle 16"/>
          <p:cNvSpPr/>
          <p:nvPr/>
        </p:nvSpPr>
        <p:spPr>
          <a:xfrm>
            <a:off x="502920" y="4529328"/>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8" name="Picture 17" descr="i396v_euclid.png"/>
          <p:cNvPicPr>
            <a:picLocks noChangeAspect="1"/>
          </p:cNvPicPr>
          <p:nvPr/>
        </p:nvPicPr>
        <p:blipFill>
          <a:blip r:embed="rId2"/>
          <a:stretch>
            <a:fillRect/>
          </a:stretch>
        </p:blipFill>
        <p:spPr>
          <a:xfrm>
            <a:off x="8945096" y="4532132"/>
            <a:ext cx="2241785" cy="935979"/>
          </a:xfrm>
          <a:prstGeom prst="rect">
            <a:avLst/>
          </a:prstGeom>
        </p:spPr>
      </p:pic>
      <p:sp>
        <p:nvSpPr>
          <p:cNvPr id="19" name="Rounded Rectangle 18"/>
          <p:cNvSpPr/>
          <p:nvPr/>
        </p:nvSpPr>
        <p:spPr>
          <a:xfrm>
            <a:off x="8442929" y="2249424"/>
            <a:ext cx="3246120" cy="2148474"/>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182880" bIns="0" rtlCol="0" anchor="t"/>
          <a:lstStyle/>
          <a:p>
            <a:pPr algn="l">
              <a:lnSpc>
                <a:spcPct val="115000"/>
              </a:lnSpc>
              <a:spcBef>
                <a:spcPts val="0"/>
              </a:spcBef>
              <a:spcAft>
                <a:spcPts val="540"/>
              </a:spcAft>
            </a:pPr>
            <a:r>
              <a:rPr sz="750" b="1" i="0">
                <a:solidFill>
                  <a:srgbClr val="0096C7"/>
                </a:solidFill>
                <a:latin typeface="Segoe UI Semibold"/>
              </a:rPr>
              <a:t>WHERE, AND WHEN TO USE IT</a:t>
            </a:r>
          </a:p>
          <a:p>
            <a:pPr algn="l">
              <a:lnSpc>
                <a:spcPct val="114000"/>
              </a:lnSpc>
              <a:spcBef>
                <a:spcPts val="480"/>
              </a:spcBef>
              <a:spcAft>
                <a:spcPts val="0"/>
              </a:spcAft>
            </a:pPr>
            <a:r>
              <a:rPr sz="750" b="1" i="0">
                <a:solidFill>
                  <a:srgbClr val="182B49"/>
                </a:solidFill>
                <a:latin typeface="Segoe UI Semibold"/>
              </a:rPr>
              <a:t>p, q  </a:t>
            </a:r>
            <a:r>
              <a:rPr sz="750" b="0" i="0">
                <a:solidFill>
                  <a:srgbClr val="1C2330"/>
                </a:solidFill>
                <a:latin typeface="Segoe UI"/>
              </a:rPr>
              <a:t>two objects, each a list of n feature values</a:t>
            </a:r>
          </a:p>
          <a:p>
            <a:pPr algn="l">
              <a:lnSpc>
                <a:spcPct val="114000"/>
              </a:lnSpc>
              <a:spcBef>
                <a:spcPts val="480"/>
              </a:spcBef>
              <a:spcAft>
                <a:spcPts val="0"/>
              </a:spcAft>
            </a:pPr>
            <a:r>
              <a:rPr sz="750" b="1" i="0">
                <a:solidFill>
                  <a:srgbClr val="182B49"/>
                </a:solidFill>
                <a:latin typeface="Segoe UI Semibold"/>
              </a:rPr>
              <a:t>n  </a:t>
            </a:r>
            <a:r>
              <a:rPr sz="750" b="0" i="0">
                <a:solidFill>
                  <a:srgbClr val="1C2330"/>
                </a:solidFill>
                <a:latin typeface="Segoe UI"/>
              </a:rPr>
              <a:t>the number of features (dimensions)</a:t>
            </a:r>
          </a:p>
          <a:p>
            <a:pPr algn="l">
              <a:lnSpc>
                <a:spcPct val="114000"/>
              </a:lnSpc>
              <a:spcBef>
                <a:spcPts val="480"/>
              </a:spcBef>
              <a:spcAft>
                <a:spcPts val="0"/>
              </a:spcAft>
            </a:pPr>
            <a:r>
              <a:rPr sz="750" b="1" i="0">
                <a:solidFill>
                  <a:srgbClr val="182B49"/>
                </a:solidFill>
                <a:latin typeface="Segoe UI Semibold"/>
              </a:rPr>
              <a:t>Σ  </a:t>
            </a:r>
            <a:r>
              <a:rPr sz="750" b="0" i="0">
                <a:solidFill>
                  <a:srgbClr val="1C2330"/>
                </a:solidFill>
                <a:latin typeface="Segoe UI"/>
              </a:rPr>
              <a:t>sum over all n features</a:t>
            </a:r>
          </a:p>
          <a:p>
            <a:pPr algn="l">
              <a:lnSpc>
                <a:spcPct val="114000"/>
              </a:lnSpc>
              <a:spcBef>
                <a:spcPts val="480"/>
              </a:spcBef>
              <a:spcAft>
                <a:spcPts val="0"/>
              </a:spcAft>
            </a:pPr>
            <a:r>
              <a:rPr sz="750" b="1" i="0">
                <a:solidFill>
                  <a:srgbClr val="182B49"/>
                </a:solidFill>
                <a:latin typeface="Segoe UI Semibold"/>
              </a:rPr>
              <a:t>Squaring  </a:t>
            </a:r>
            <a:r>
              <a:rPr sz="750" b="0" i="0">
                <a:solidFill>
                  <a:srgbClr val="1C2330"/>
                </a:solidFill>
                <a:latin typeface="Segoe UI"/>
              </a:rPr>
              <a:t>makes every difference positive AND penalises large gaps disproportionately - one big difference outweighs several small ones</a:t>
            </a:r>
          </a:p>
          <a:p>
            <a:pPr algn="l">
              <a:lnSpc>
                <a:spcPct val="114000"/>
              </a:lnSpc>
              <a:spcBef>
                <a:spcPts val="480"/>
              </a:spcBef>
              <a:spcAft>
                <a:spcPts val="0"/>
              </a:spcAft>
            </a:pPr>
            <a:r>
              <a:rPr sz="750" b="1" i="0">
                <a:solidFill>
                  <a:srgbClr val="182B49"/>
                </a:solidFill>
                <a:latin typeface="Segoe UI Semibold"/>
              </a:rPr>
              <a:t>Also called  </a:t>
            </a:r>
            <a:r>
              <a:rPr sz="750" b="0" i="0">
                <a:solidFill>
                  <a:srgbClr val="1C2330"/>
                </a:solidFill>
                <a:latin typeface="Segoe UI"/>
              </a:rPr>
              <a:t>the L2 norm, or the 2-norm</a:t>
            </a:r>
          </a:p>
          <a:p>
            <a:pPr algn="l">
              <a:lnSpc>
                <a:spcPct val="114000"/>
              </a:lnSpc>
              <a:spcBef>
                <a:spcPts val="480"/>
              </a:spcBef>
              <a:spcAft>
                <a:spcPts val="0"/>
              </a:spcAft>
            </a:pPr>
            <a:r>
              <a:rPr sz="750" b="1" i="0">
                <a:solidFill>
                  <a:srgbClr val="182B49"/>
                </a:solidFill>
                <a:latin typeface="Segoe UI Semibold"/>
              </a:rPr>
              <a:t>Use it when  </a:t>
            </a:r>
            <a:r>
              <a:rPr sz="750" b="0" i="0">
                <a:solidFill>
                  <a:srgbClr val="1C2330"/>
                </a:solidFill>
                <a:latin typeface="Segoe UI"/>
              </a:rPr>
              <a:t>features are continuous, on comparable scales, and straight-line closeness is meaningful</a:t>
            </a:r>
          </a:p>
        </p:txBody>
      </p:sp>
      <p:sp>
        <p:nvSpPr>
          <p:cNvPr id="20" name="Rounded Rectangle 19"/>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ON PAPER   </a:t>
            </a:r>
            <a:r>
              <a:rPr sz="1350" b="0" i="0">
                <a:solidFill>
                  <a:srgbClr val="1C2330"/>
                </a:solidFill>
                <a:latin typeface="Segoe UI"/>
              </a:rPr>
              <a:t>p = (2,3), q = (6,6). Compute it before I do.</a:t>
            </a:r>
          </a:p>
        </p:txBody>
      </p:sp>
      <p:sp>
        <p:nvSpPr>
          <p:cNvPr id="21" name="Rectangle 20"/>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Manhattan Distance - City Blocks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29</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You cannot walk through buildings - so sometimes the straight line is the wrong measure.</a:t>
            </a:r>
          </a:p>
        </p:txBody>
      </p:sp>
      <p:sp>
        <p:nvSpPr>
          <p:cNvPr id="12" name="Rounded Rectangle 11"/>
          <p:cNvSpPr/>
          <p:nvPr/>
        </p:nvSpPr>
        <p:spPr>
          <a:xfrm>
            <a:off x="502920" y="2249424"/>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MANHATTAN DISTANCE IN 2 DIMENSIONS</a:t>
            </a:r>
          </a:p>
          <a:p>
            <a:pPr algn="l">
              <a:lnSpc>
                <a:spcPct val="115000"/>
              </a:lnSpc>
              <a:spcBef>
                <a:spcPts val="0"/>
              </a:spcBef>
              <a:spcAft>
                <a:spcPts val="0"/>
              </a:spcAft>
            </a:pPr>
            <a:r>
              <a:rPr sz="1700" b="1" i="0">
                <a:solidFill>
                  <a:srgbClr val="182B49"/>
                </a:solidFill>
                <a:latin typeface="Cambria Math"/>
              </a:rPr>
              <a:t>d(p, q) = |p₁ − q₁| + |p₂ − q₂|</a:t>
            </a:r>
          </a:p>
          <a:p>
            <a:pPr algn="l">
              <a:lnSpc>
                <a:spcPct val="114000"/>
              </a:lnSpc>
              <a:spcBef>
                <a:spcPts val="540"/>
              </a:spcBef>
              <a:spcAft>
                <a:spcPts val="0"/>
              </a:spcAft>
            </a:pPr>
            <a:r>
              <a:rPr sz="1120" b="0" i="0">
                <a:solidFill>
                  <a:srgbClr val="586476"/>
                </a:solidFill>
                <a:latin typeface="Segoe UI"/>
              </a:rPr>
              <a:t>Sum of absolute differences. No squaring, no square root.</a:t>
            </a:r>
          </a:p>
        </p:txBody>
      </p:sp>
      <p:sp>
        <p:nvSpPr>
          <p:cNvPr id="13" name="Rectangle 12"/>
          <p:cNvSpPr/>
          <p:nvPr/>
        </p:nvSpPr>
        <p:spPr>
          <a:xfrm>
            <a:off x="502920" y="2249424"/>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3389376"/>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MANHATTAN DISTANCE IN N DIMENSIONS</a:t>
            </a:r>
          </a:p>
          <a:p>
            <a:pPr algn="l">
              <a:lnSpc>
                <a:spcPct val="115000"/>
              </a:lnSpc>
              <a:spcBef>
                <a:spcPts val="0"/>
              </a:spcBef>
              <a:spcAft>
                <a:spcPts val="0"/>
              </a:spcAft>
            </a:pPr>
            <a:r>
              <a:rPr sz="1700" b="1" i="0">
                <a:solidFill>
                  <a:srgbClr val="182B49"/>
                </a:solidFill>
                <a:latin typeface="Cambria Math"/>
              </a:rPr>
              <a:t>d(p, q) = Σᵢ₌₁ⁿ |pᵢ − qᵢ|</a:t>
            </a:r>
          </a:p>
          <a:p>
            <a:pPr algn="l">
              <a:lnSpc>
                <a:spcPct val="114000"/>
              </a:lnSpc>
              <a:spcBef>
                <a:spcPts val="540"/>
              </a:spcBef>
              <a:spcAft>
                <a:spcPts val="0"/>
              </a:spcAft>
            </a:pPr>
            <a:r>
              <a:rPr sz="1120" b="0" i="0">
                <a:solidFill>
                  <a:srgbClr val="586476"/>
                </a:solidFill>
                <a:latin typeface="Segoe UI"/>
              </a:rPr>
              <a:t>Also called the L1 norm, taxicab distance, or city-block distance.</a:t>
            </a:r>
          </a:p>
        </p:txBody>
      </p:sp>
      <p:sp>
        <p:nvSpPr>
          <p:cNvPr id="15" name="Rectangle 14"/>
          <p:cNvSpPr/>
          <p:nvPr/>
        </p:nvSpPr>
        <p:spPr>
          <a:xfrm>
            <a:off x="502920" y="3389376"/>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4529328"/>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WORKED: THE SAME P = (2, 3), Q = (6, 6)</a:t>
            </a:r>
          </a:p>
          <a:p>
            <a:pPr algn="l">
              <a:lnSpc>
                <a:spcPct val="115000"/>
              </a:lnSpc>
              <a:spcBef>
                <a:spcPts val="0"/>
              </a:spcBef>
              <a:spcAft>
                <a:spcPts val="0"/>
              </a:spcAft>
            </a:pPr>
            <a:r>
              <a:rPr sz="1700" b="1" i="0">
                <a:solidFill>
                  <a:srgbClr val="182B49"/>
                </a:solidFill>
                <a:latin typeface="Cambria Math"/>
              </a:rPr>
              <a:t>d = |2−6| + |3−6| = 4 + 3 = 7      (Euclidean was 5)</a:t>
            </a:r>
          </a:p>
          <a:p>
            <a:pPr algn="l">
              <a:lnSpc>
                <a:spcPct val="114000"/>
              </a:lnSpc>
              <a:spcBef>
                <a:spcPts val="540"/>
              </a:spcBef>
              <a:spcAft>
                <a:spcPts val="0"/>
              </a:spcAft>
            </a:pPr>
            <a:r>
              <a:rPr sz="1120" b="0" i="0">
                <a:solidFill>
                  <a:srgbClr val="586476"/>
                </a:solidFill>
                <a:latin typeface="Segoe UI"/>
              </a:rPr>
              <a:t>Same two points. Different metric. Different answer. 7 vs 5.</a:t>
            </a:r>
          </a:p>
        </p:txBody>
      </p:sp>
      <p:sp>
        <p:nvSpPr>
          <p:cNvPr id="17" name="Rectangle 16"/>
          <p:cNvSpPr/>
          <p:nvPr/>
        </p:nvSpPr>
        <p:spPr>
          <a:xfrm>
            <a:off x="502920" y="4529328"/>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8" name="Picture 17" descr="i396v_manhattan.png"/>
          <p:cNvPicPr>
            <a:picLocks noChangeAspect="1"/>
          </p:cNvPicPr>
          <p:nvPr/>
        </p:nvPicPr>
        <p:blipFill>
          <a:blip r:embed="rId2"/>
          <a:stretch>
            <a:fillRect/>
          </a:stretch>
        </p:blipFill>
        <p:spPr>
          <a:xfrm>
            <a:off x="8878659" y="4532132"/>
            <a:ext cx="2374659" cy="935979"/>
          </a:xfrm>
          <a:prstGeom prst="rect">
            <a:avLst/>
          </a:prstGeom>
        </p:spPr>
      </p:pic>
      <p:sp>
        <p:nvSpPr>
          <p:cNvPr id="19" name="Rounded Rectangle 18"/>
          <p:cNvSpPr/>
          <p:nvPr/>
        </p:nvSpPr>
        <p:spPr>
          <a:xfrm>
            <a:off x="8442929" y="2249424"/>
            <a:ext cx="3246120" cy="2148474"/>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182880" bIns="0" rtlCol="0" anchor="t"/>
          <a:lstStyle/>
          <a:p>
            <a:pPr algn="l">
              <a:lnSpc>
                <a:spcPct val="115000"/>
              </a:lnSpc>
              <a:spcBef>
                <a:spcPts val="0"/>
              </a:spcBef>
              <a:spcAft>
                <a:spcPts val="540"/>
              </a:spcAft>
            </a:pPr>
            <a:r>
              <a:rPr sz="750" b="1" i="0">
                <a:solidFill>
                  <a:srgbClr val="0096C7"/>
                </a:solidFill>
                <a:latin typeface="Segoe UI Semibold"/>
              </a:rPr>
              <a:t>WHERE, AND WHEN TO USE IT</a:t>
            </a:r>
          </a:p>
          <a:p>
            <a:pPr algn="l">
              <a:lnSpc>
                <a:spcPct val="114000"/>
              </a:lnSpc>
              <a:spcBef>
                <a:spcPts val="480"/>
              </a:spcBef>
              <a:spcAft>
                <a:spcPts val="0"/>
              </a:spcAft>
            </a:pPr>
            <a:r>
              <a:rPr sz="750" b="1" i="0">
                <a:solidFill>
                  <a:srgbClr val="182B49"/>
                </a:solidFill>
                <a:latin typeface="Segoe UI Semibold"/>
              </a:rPr>
              <a:t>| · |  </a:t>
            </a:r>
            <a:r>
              <a:rPr sz="750" b="0" i="0">
                <a:solidFill>
                  <a:srgbClr val="1C2330"/>
                </a:solidFill>
                <a:latin typeface="Segoe UI"/>
              </a:rPr>
              <a:t>absolute value - drop the minus sign</a:t>
            </a:r>
          </a:p>
          <a:p>
            <a:pPr algn="l">
              <a:lnSpc>
                <a:spcPct val="114000"/>
              </a:lnSpc>
              <a:spcBef>
                <a:spcPts val="480"/>
              </a:spcBef>
              <a:spcAft>
                <a:spcPts val="0"/>
              </a:spcAft>
            </a:pPr>
            <a:r>
              <a:rPr sz="750" b="1" i="0">
                <a:solidFill>
                  <a:srgbClr val="182B49"/>
                </a:solidFill>
                <a:latin typeface="Segoe UI Semibold"/>
              </a:rPr>
              <a:t>No squaring  </a:t>
            </a:r>
            <a:r>
              <a:rPr sz="750" b="0" i="0">
                <a:solidFill>
                  <a:srgbClr val="1C2330"/>
                </a:solidFill>
                <a:latin typeface="Segoe UI"/>
              </a:rPr>
              <a:t>so every feature contributes in proportion to its difference - one big gap does NOT dominate</a:t>
            </a:r>
          </a:p>
          <a:p>
            <a:pPr algn="l">
              <a:lnSpc>
                <a:spcPct val="114000"/>
              </a:lnSpc>
              <a:spcBef>
                <a:spcPts val="480"/>
              </a:spcBef>
              <a:spcAft>
                <a:spcPts val="0"/>
              </a:spcAft>
            </a:pPr>
            <a:r>
              <a:rPr sz="750" b="1" i="0">
                <a:solidFill>
                  <a:srgbClr val="182B49"/>
                </a:solidFill>
                <a:latin typeface="Segoe UI Semibold"/>
              </a:rPr>
              <a:t>Also called  </a:t>
            </a:r>
            <a:r>
              <a:rPr sz="750" b="0" i="0">
                <a:solidFill>
                  <a:srgbClr val="1C2330"/>
                </a:solidFill>
                <a:latin typeface="Segoe UI"/>
              </a:rPr>
              <a:t>L1 norm, taxicab distance, city-block distance</a:t>
            </a:r>
          </a:p>
          <a:p>
            <a:pPr algn="l">
              <a:lnSpc>
                <a:spcPct val="114000"/>
              </a:lnSpc>
              <a:spcBef>
                <a:spcPts val="480"/>
              </a:spcBef>
              <a:spcAft>
                <a:spcPts val="0"/>
              </a:spcAft>
            </a:pPr>
            <a:r>
              <a:rPr sz="750" b="1" i="0">
                <a:solidFill>
                  <a:srgbClr val="182B49"/>
                </a:solidFill>
                <a:latin typeface="Segoe UI Semibold"/>
              </a:rPr>
              <a:t>More robust to outliers  </a:t>
            </a:r>
            <a:r>
              <a:rPr sz="750" b="0" i="0">
                <a:solidFill>
                  <a:srgbClr val="1C2330"/>
                </a:solidFill>
                <a:latin typeface="Segoe UI"/>
              </a:rPr>
              <a:t>than Euclidean, precisely because it does not square</a:t>
            </a:r>
          </a:p>
          <a:p>
            <a:pPr algn="l">
              <a:lnSpc>
                <a:spcPct val="114000"/>
              </a:lnSpc>
              <a:spcBef>
                <a:spcPts val="480"/>
              </a:spcBef>
              <a:spcAft>
                <a:spcPts val="0"/>
              </a:spcAft>
            </a:pPr>
            <a:r>
              <a:rPr sz="750" b="1" i="0">
                <a:solidFill>
                  <a:srgbClr val="182B49"/>
                </a:solidFill>
                <a:latin typeface="Segoe UI Semibold"/>
              </a:rPr>
              <a:t>Better in high dimensions  </a:t>
            </a:r>
            <a:r>
              <a:rPr sz="750" b="0" i="0">
                <a:solidFill>
                  <a:srgbClr val="1C2330"/>
                </a:solidFill>
                <a:latin typeface="Segoe UI"/>
              </a:rPr>
              <a:t>where Euclidean distances tend to concentrate and lose contrast</a:t>
            </a:r>
          </a:p>
          <a:p>
            <a:pPr algn="l">
              <a:lnSpc>
                <a:spcPct val="114000"/>
              </a:lnSpc>
              <a:spcBef>
                <a:spcPts val="480"/>
              </a:spcBef>
              <a:spcAft>
                <a:spcPts val="0"/>
              </a:spcAft>
            </a:pPr>
            <a:r>
              <a:rPr sz="750" b="1" i="0">
                <a:solidFill>
                  <a:srgbClr val="182B49"/>
                </a:solidFill>
                <a:latin typeface="Segoe UI Semibold"/>
              </a:rPr>
              <a:t>Use it when  </a:t>
            </a:r>
            <a:r>
              <a:rPr sz="750" b="0" i="0">
                <a:solidFill>
                  <a:srgbClr val="1C2330"/>
                </a:solidFill>
                <a:latin typeface="Segoe UI"/>
              </a:rPr>
              <a:t>movement is constrained to axes, or features are independent counts, or outliers are a concern</a:t>
            </a:r>
          </a:p>
        </p:txBody>
      </p:sp>
      <p:sp>
        <p:nvSpPr>
          <p:cNvPr id="20" name="Rounded Rectangle 19"/>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SAME TWO POINTS   </a:t>
            </a:r>
            <a:r>
              <a:rPr sz="1350" b="0" i="0">
                <a:solidFill>
                  <a:srgbClr val="1C2330"/>
                </a:solidFill>
                <a:latin typeface="Segoe UI"/>
              </a:rPr>
              <a:t>Why is the answer 7 and not 5?</a:t>
            </a:r>
          </a:p>
        </p:txBody>
      </p:sp>
      <p:sp>
        <p:nvSpPr>
          <p:cNvPr id="21" name="Rectangle 20"/>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200" b="1" i="0">
                <a:solidFill>
                  <a:srgbClr val="FFFFFF"/>
                </a:solidFill>
                <a:latin typeface="Segoe UI Semibold"/>
              </a:rPr>
              <a:t>Euclidean vs Manhattan - Same Points, Different Worlds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30</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Neither is correct in general. Each is correct for a different question.</a:t>
            </a:r>
          </a:p>
        </p:txBody>
      </p:sp>
      <p:sp>
        <p:nvSpPr>
          <p:cNvPr id="12" name="Rounded Rectangle 11"/>
          <p:cNvSpPr/>
          <p:nvPr/>
        </p:nvSpPr>
        <p:spPr>
          <a:xfrm>
            <a:off x="2779776" y="2249424"/>
            <a:ext cx="4390628" cy="420624"/>
          </a:xfrm>
          <a:prstGeom prst="roundRect">
            <a:avLst>
              <a:gd name="adj" fmla="val 12000"/>
            </a:avLst>
          </a:prstGeom>
          <a:solidFill>
            <a:srgbClr val="0096C7"/>
          </a:solidFill>
          <a:ln w="1270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Segoe UI Semibold"/>
              </a:rPr>
              <a:t>Euclidean (L2)</a:t>
            </a:r>
          </a:p>
        </p:txBody>
      </p:sp>
      <p:sp>
        <p:nvSpPr>
          <p:cNvPr id="13" name="Rounded Rectangle 12"/>
          <p:cNvSpPr/>
          <p:nvPr/>
        </p:nvSpPr>
        <p:spPr>
          <a:xfrm>
            <a:off x="7298420" y="2249424"/>
            <a:ext cx="4390628" cy="420624"/>
          </a:xfrm>
          <a:prstGeom prst="roundRect">
            <a:avLst>
              <a:gd name="adj" fmla="val 12000"/>
            </a:avLst>
          </a:prstGeom>
          <a:solidFill>
            <a:srgbClr val="D97706"/>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Segoe UI Semibold"/>
              </a:rPr>
              <a:t>Manhattan (L1)</a:t>
            </a:r>
          </a:p>
        </p:txBody>
      </p:sp>
      <p:sp>
        <p:nvSpPr>
          <p:cNvPr id="14" name="Rounded Rectangle 13"/>
          <p:cNvSpPr/>
          <p:nvPr/>
        </p:nvSpPr>
        <p:spPr>
          <a:xfrm>
            <a:off x="502920" y="2761488"/>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Physical picture</a:t>
            </a:r>
          </a:p>
        </p:txBody>
      </p:sp>
      <p:sp>
        <p:nvSpPr>
          <p:cNvPr id="15" name="Rounded Rectangle 14"/>
          <p:cNvSpPr/>
          <p:nvPr/>
        </p:nvSpPr>
        <p:spPr>
          <a:xfrm>
            <a:off x="2779776" y="2761488"/>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As the crow flies - straight line</a:t>
            </a:r>
          </a:p>
        </p:txBody>
      </p:sp>
      <p:sp>
        <p:nvSpPr>
          <p:cNvPr id="16" name="Rectangle 15"/>
          <p:cNvSpPr/>
          <p:nvPr/>
        </p:nvSpPr>
        <p:spPr>
          <a:xfrm>
            <a:off x="2779776" y="2761488"/>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7298420" y="2761488"/>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As the taxi drives - along the grid</a:t>
            </a:r>
          </a:p>
        </p:txBody>
      </p:sp>
      <p:sp>
        <p:nvSpPr>
          <p:cNvPr id="18" name="Rectangle 17"/>
          <p:cNvSpPr/>
          <p:nvPr/>
        </p:nvSpPr>
        <p:spPr>
          <a:xfrm>
            <a:off x="7298420" y="2761488"/>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502920" y="3171661"/>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Formula</a:t>
            </a:r>
          </a:p>
        </p:txBody>
      </p:sp>
      <p:sp>
        <p:nvSpPr>
          <p:cNvPr id="20" name="Rounded Rectangle 19"/>
          <p:cNvSpPr/>
          <p:nvPr/>
        </p:nvSpPr>
        <p:spPr>
          <a:xfrm>
            <a:off x="2779776" y="3171661"/>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√Σ(pᵢ − qᵢ)²</a:t>
            </a:r>
          </a:p>
        </p:txBody>
      </p:sp>
      <p:sp>
        <p:nvSpPr>
          <p:cNvPr id="21" name="Rectangle 20"/>
          <p:cNvSpPr/>
          <p:nvPr/>
        </p:nvSpPr>
        <p:spPr>
          <a:xfrm>
            <a:off x="2779776" y="3171661"/>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298420" y="3171661"/>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Σ|pᵢ − qᵢ|</a:t>
            </a:r>
          </a:p>
        </p:txBody>
      </p:sp>
      <p:sp>
        <p:nvSpPr>
          <p:cNvPr id="23" name="Rectangle 22"/>
          <p:cNvSpPr/>
          <p:nvPr/>
        </p:nvSpPr>
        <p:spPr>
          <a:xfrm>
            <a:off x="7298420" y="3171661"/>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502920" y="3581835"/>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p=(2,3), q=(6,6)</a:t>
            </a:r>
          </a:p>
        </p:txBody>
      </p:sp>
      <p:sp>
        <p:nvSpPr>
          <p:cNvPr id="25" name="Rounded Rectangle 24"/>
          <p:cNvSpPr/>
          <p:nvPr/>
        </p:nvSpPr>
        <p:spPr>
          <a:xfrm>
            <a:off x="2779776" y="3581835"/>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5</a:t>
            </a:r>
          </a:p>
        </p:txBody>
      </p:sp>
      <p:sp>
        <p:nvSpPr>
          <p:cNvPr id="26" name="Rectangle 25"/>
          <p:cNvSpPr/>
          <p:nvPr/>
        </p:nvSpPr>
        <p:spPr>
          <a:xfrm>
            <a:off x="2779776" y="3581835"/>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ounded Rectangle 26"/>
          <p:cNvSpPr/>
          <p:nvPr/>
        </p:nvSpPr>
        <p:spPr>
          <a:xfrm>
            <a:off x="7298420" y="3581835"/>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7</a:t>
            </a:r>
          </a:p>
        </p:txBody>
      </p:sp>
      <p:sp>
        <p:nvSpPr>
          <p:cNvPr id="28" name="Rectangle 27"/>
          <p:cNvSpPr/>
          <p:nvPr/>
        </p:nvSpPr>
        <p:spPr>
          <a:xfrm>
            <a:off x="7298420" y="3581835"/>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ounded Rectangle 28"/>
          <p:cNvSpPr/>
          <p:nvPr/>
        </p:nvSpPr>
        <p:spPr>
          <a:xfrm>
            <a:off x="502920" y="3992009"/>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Effect of one big gap</a:t>
            </a:r>
          </a:p>
        </p:txBody>
      </p:sp>
      <p:sp>
        <p:nvSpPr>
          <p:cNvPr id="30" name="Rounded Rectangle 29"/>
          <p:cNvSpPr/>
          <p:nvPr/>
        </p:nvSpPr>
        <p:spPr>
          <a:xfrm>
            <a:off x="2779776" y="3992009"/>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Dominates - squaring amplifies it</a:t>
            </a:r>
          </a:p>
        </p:txBody>
      </p:sp>
      <p:sp>
        <p:nvSpPr>
          <p:cNvPr id="31" name="Rectangle 30"/>
          <p:cNvSpPr/>
          <p:nvPr/>
        </p:nvSpPr>
        <p:spPr>
          <a:xfrm>
            <a:off x="2779776" y="3992009"/>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ounded Rectangle 31"/>
          <p:cNvSpPr/>
          <p:nvPr/>
        </p:nvSpPr>
        <p:spPr>
          <a:xfrm>
            <a:off x="7298420" y="3992009"/>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Contributes in proportion - no amplification</a:t>
            </a:r>
          </a:p>
        </p:txBody>
      </p:sp>
      <p:sp>
        <p:nvSpPr>
          <p:cNvPr id="33" name="Rectangle 32"/>
          <p:cNvSpPr/>
          <p:nvPr/>
        </p:nvSpPr>
        <p:spPr>
          <a:xfrm>
            <a:off x="7298420" y="3992009"/>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ounded Rectangle 33"/>
          <p:cNvSpPr/>
          <p:nvPr/>
        </p:nvSpPr>
        <p:spPr>
          <a:xfrm>
            <a:off x="502920" y="4402182"/>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Outlier sensitivity</a:t>
            </a:r>
          </a:p>
        </p:txBody>
      </p:sp>
      <p:sp>
        <p:nvSpPr>
          <p:cNvPr id="35" name="Rounded Rectangle 34"/>
          <p:cNvSpPr/>
          <p:nvPr/>
        </p:nvSpPr>
        <p:spPr>
          <a:xfrm>
            <a:off x="2779776" y="4402182"/>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High</a:t>
            </a:r>
          </a:p>
        </p:txBody>
      </p:sp>
      <p:sp>
        <p:nvSpPr>
          <p:cNvPr id="36" name="Rectangle 35"/>
          <p:cNvSpPr/>
          <p:nvPr/>
        </p:nvSpPr>
        <p:spPr>
          <a:xfrm>
            <a:off x="2779776" y="4402182"/>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ounded Rectangle 36"/>
          <p:cNvSpPr/>
          <p:nvPr/>
        </p:nvSpPr>
        <p:spPr>
          <a:xfrm>
            <a:off x="7298420" y="4402182"/>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Lower - more robust</a:t>
            </a:r>
          </a:p>
        </p:txBody>
      </p:sp>
      <p:sp>
        <p:nvSpPr>
          <p:cNvPr id="38" name="Rectangle 37"/>
          <p:cNvSpPr/>
          <p:nvPr/>
        </p:nvSpPr>
        <p:spPr>
          <a:xfrm>
            <a:off x="7298420" y="4402182"/>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ounded Rectangle 38"/>
          <p:cNvSpPr/>
          <p:nvPr/>
        </p:nvSpPr>
        <p:spPr>
          <a:xfrm>
            <a:off x="502920" y="4812356"/>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Shape of 'distance 1'</a:t>
            </a:r>
          </a:p>
        </p:txBody>
      </p:sp>
      <p:sp>
        <p:nvSpPr>
          <p:cNvPr id="40" name="Rounded Rectangle 39"/>
          <p:cNvSpPr/>
          <p:nvPr/>
        </p:nvSpPr>
        <p:spPr>
          <a:xfrm>
            <a:off x="2779776" y="4812356"/>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A circle</a:t>
            </a:r>
          </a:p>
        </p:txBody>
      </p:sp>
      <p:sp>
        <p:nvSpPr>
          <p:cNvPr id="41" name="Rectangle 40"/>
          <p:cNvSpPr/>
          <p:nvPr/>
        </p:nvSpPr>
        <p:spPr>
          <a:xfrm>
            <a:off x="2779776" y="4812356"/>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Rounded Rectangle 41"/>
          <p:cNvSpPr/>
          <p:nvPr/>
        </p:nvSpPr>
        <p:spPr>
          <a:xfrm>
            <a:off x="7298420" y="4812356"/>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869" b="0" i="0">
                <a:solidFill>
                  <a:srgbClr val="1C2330"/>
                </a:solidFill>
                <a:latin typeface="Segoe UI"/>
              </a:rPr>
              <a:t>A diamond</a:t>
            </a:r>
          </a:p>
        </p:txBody>
      </p:sp>
      <p:sp>
        <p:nvSpPr>
          <p:cNvPr id="43" name="Rectangle 42"/>
          <p:cNvSpPr/>
          <p:nvPr/>
        </p:nvSpPr>
        <p:spPr>
          <a:xfrm>
            <a:off x="7298420" y="4812356"/>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ounded Rectangle 43"/>
          <p:cNvSpPr/>
          <p:nvPr/>
        </p:nvSpPr>
        <p:spPr>
          <a:xfrm>
            <a:off x="502920" y="5222530"/>
            <a:ext cx="2148840" cy="282157"/>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Choose it when</a:t>
            </a:r>
          </a:p>
        </p:txBody>
      </p:sp>
      <p:sp>
        <p:nvSpPr>
          <p:cNvPr id="45" name="Rounded Rectangle 44"/>
          <p:cNvSpPr/>
          <p:nvPr/>
        </p:nvSpPr>
        <p:spPr>
          <a:xfrm>
            <a:off x="2779776" y="5222530"/>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750" b="0" i="0">
                <a:solidFill>
                  <a:srgbClr val="1C2330"/>
                </a:solidFill>
                <a:latin typeface="Segoe UI"/>
              </a:rPr>
              <a:t>Continuous, comparable features; straight-line closeness is meaningful</a:t>
            </a:r>
          </a:p>
        </p:txBody>
      </p:sp>
      <p:sp>
        <p:nvSpPr>
          <p:cNvPr id="46" name="Rectangle 45"/>
          <p:cNvSpPr/>
          <p:nvPr/>
        </p:nvSpPr>
        <p:spPr>
          <a:xfrm>
            <a:off x="2779776" y="5222530"/>
            <a:ext cx="54864" cy="28215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ounded Rectangle 46"/>
          <p:cNvSpPr/>
          <p:nvPr/>
        </p:nvSpPr>
        <p:spPr>
          <a:xfrm>
            <a:off x="7298420" y="5222530"/>
            <a:ext cx="4390628" cy="282157"/>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750" b="0" i="0">
                <a:solidFill>
                  <a:srgbClr val="1C2330"/>
                </a:solidFill>
                <a:latin typeface="Segoe UI"/>
              </a:rPr>
              <a:t>Axis-constrained movement; count features; outliers present; high dimensions</a:t>
            </a:r>
          </a:p>
        </p:txBody>
      </p:sp>
      <p:sp>
        <p:nvSpPr>
          <p:cNvPr id="48" name="Rectangle 47"/>
          <p:cNvSpPr/>
          <p:nvPr/>
        </p:nvSpPr>
        <p:spPr>
          <a:xfrm>
            <a:off x="7298420" y="5222530"/>
            <a:ext cx="54864" cy="28215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ounded Rectangle 48"/>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DECIDE   </a:t>
            </a:r>
            <a:r>
              <a:rPr sz="1350" b="0" i="0">
                <a:solidFill>
                  <a:srgbClr val="1C2330"/>
                </a:solidFill>
                <a:latin typeface="Segoe UI"/>
              </a:rPr>
              <a:t>A delivery robot moving along warehouse aisles. Which metric describes its real travel distance - and why?</a:t>
            </a:r>
          </a:p>
        </p:txBody>
      </p:sp>
      <p:sp>
        <p:nvSpPr>
          <p:cNvPr id="50" name="Rectangle 49"/>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HANDS-ON CALCULATION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Hands-On: Both Metrics on Three Customers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31</a:t>
            </a:r>
          </a:p>
        </p:txBody>
      </p:sp>
      <p:sp>
        <p:nvSpPr>
          <p:cNvPr id="11" name="Rounded Rectangle 10"/>
          <p:cNvSpPr/>
          <p:nvPr/>
        </p:nvSpPr>
        <p:spPr>
          <a:xfrm>
            <a:off x="502920" y="5303520"/>
            <a:ext cx="1778507" cy="731520"/>
          </a:xfrm>
          <a:prstGeom prst="roundRect">
            <a:avLst>
              <a:gd name="adj" fmla="val 9000"/>
            </a:avLst>
          </a:prstGeom>
          <a:solidFill>
            <a:srgbClr val="DBF0F7"/>
          </a:solidFill>
          <a:ln w="2413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229"/>
              </a:spcAft>
            </a:pPr>
            <a:r>
              <a:rPr sz="800" b="1" i="0">
                <a:solidFill>
                  <a:srgbClr val="0096C7"/>
                </a:solidFill>
                <a:latin typeface="Segoe UI Semibold"/>
              </a:rPr>
              <a:t>EUCLIDEAN</a:t>
            </a:r>
          </a:p>
          <a:p>
            <a:pPr algn="ctr">
              <a:lnSpc>
                <a:spcPct val="115000"/>
              </a:lnSpc>
              <a:spcBef>
                <a:spcPts val="0"/>
              </a:spcBef>
              <a:spcAft>
                <a:spcPts val="229"/>
              </a:spcAft>
            </a:pPr>
            <a:r>
              <a:rPr sz="1520" b="1" i="0">
                <a:solidFill>
                  <a:srgbClr val="182B49"/>
                </a:solidFill>
                <a:latin typeface="Segoe UI Semibold"/>
              </a:rPr>
              <a:t>B</a:t>
            </a:r>
          </a:p>
          <a:p>
            <a:pPr algn="ctr">
              <a:lnSpc>
                <a:spcPct val="110000"/>
              </a:lnSpc>
              <a:spcBef>
                <a:spcPts val="0"/>
              </a:spcBef>
              <a:spcAft>
                <a:spcPts val="0"/>
              </a:spcAft>
            </a:pPr>
            <a:r>
              <a:rPr sz="750" b="0" i="0">
                <a:solidFill>
                  <a:srgbClr val="586476"/>
                </a:solidFill>
                <a:latin typeface="Segoe UI"/>
              </a:rPr>
              <a:t>5.00 beats 6.00</a:t>
            </a:r>
          </a:p>
        </p:txBody>
      </p:sp>
      <p:sp>
        <p:nvSpPr>
          <p:cNvPr id="12" name="Rounded Rectangle 11"/>
          <p:cNvSpPr/>
          <p:nvPr/>
        </p:nvSpPr>
        <p:spPr>
          <a:xfrm>
            <a:off x="2427732" y="5303520"/>
            <a:ext cx="1778507" cy="731520"/>
          </a:xfrm>
          <a:prstGeom prst="roundRect">
            <a:avLst>
              <a:gd name="adj" fmla="val 9000"/>
            </a:avLst>
          </a:prstGeom>
          <a:solidFill>
            <a:srgbClr val="F9EBDC"/>
          </a:solidFill>
          <a:ln w="2413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229"/>
              </a:spcAft>
            </a:pPr>
            <a:r>
              <a:rPr sz="800" b="1" i="0">
                <a:solidFill>
                  <a:srgbClr val="D97706"/>
                </a:solidFill>
                <a:latin typeface="Segoe UI Semibold"/>
              </a:rPr>
              <a:t>MANHATTAN</a:t>
            </a:r>
          </a:p>
          <a:p>
            <a:pPr algn="ctr">
              <a:lnSpc>
                <a:spcPct val="115000"/>
              </a:lnSpc>
              <a:spcBef>
                <a:spcPts val="0"/>
              </a:spcBef>
              <a:spcAft>
                <a:spcPts val="229"/>
              </a:spcAft>
            </a:pPr>
            <a:r>
              <a:rPr sz="1520" b="1" i="0">
                <a:solidFill>
                  <a:srgbClr val="182B49"/>
                </a:solidFill>
                <a:latin typeface="Segoe UI Semibold"/>
              </a:rPr>
              <a:t>C</a:t>
            </a:r>
          </a:p>
          <a:p>
            <a:pPr algn="ctr">
              <a:lnSpc>
                <a:spcPct val="110000"/>
              </a:lnSpc>
              <a:spcBef>
                <a:spcPts val="0"/>
              </a:spcBef>
              <a:spcAft>
                <a:spcPts val="0"/>
              </a:spcAft>
            </a:pPr>
            <a:r>
              <a:rPr sz="750" b="0" i="0">
                <a:solidFill>
                  <a:srgbClr val="586476"/>
                </a:solidFill>
                <a:latin typeface="Segoe UI"/>
              </a:rPr>
              <a:t>6 beats 7</a:t>
            </a:r>
          </a:p>
        </p:txBody>
      </p:sp>
      <p:sp>
        <p:nvSpPr>
          <p:cNvPr id="13" name="TextBox 12"/>
          <p:cNvSpPr txBox="1"/>
          <p:nvPr/>
        </p:nvSpPr>
        <p:spPr>
          <a:xfrm>
            <a:off x="502920" y="6071616"/>
            <a:ext cx="37033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586476"/>
                </a:solidFill>
                <a:latin typeface="Segoe UI"/>
              </a:rPr>
              <a:t>same three customers, opposite answers</a:t>
            </a:r>
          </a:p>
        </p:txBody>
      </p:sp>
      <p:sp>
        <p:nvSpPr>
          <p:cNvPr id="14" name="Rounded Rectangle 13"/>
          <p:cNvSpPr/>
          <p:nvPr/>
        </p:nvSpPr>
        <p:spPr>
          <a:xfrm>
            <a:off x="502920" y="1792224"/>
            <a:ext cx="3703320" cy="1730776"/>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19456" tIns="219456" rIns="182880" bIns="0" rtlCol="0" anchor="t"/>
          <a:lstStyle/>
          <a:p>
            <a:pPr algn="l">
              <a:lnSpc>
                <a:spcPct val="115000"/>
              </a:lnSpc>
              <a:spcBef>
                <a:spcPts val="0"/>
              </a:spcBef>
              <a:spcAft>
                <a:spcPts val="700"/>
              </a:spcAft>
            </a:pPr>
            <a:r>
              <a:rPr sz="750" b="1" i="0">
                <a:solidFill>
                  <a:srgbClr val="0096C7"/>
                </a:solidFill>
                <a:latin typeface="Segoe UI Semibold"/>
              </a:rPr>
              <a:t>THE PROBLEM</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Customer A = (visits: 2, spend: 5)</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Customer B = (visits: 5, spend: 9)</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Customer C = (visits: 8, spend: 5)</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Question: which customer is A more similar to - B or C?</a:t>
            </a:r>
          </a:p>
        </p:txBody>
      </p:sp>
      <p:sp>
        <p:nvSpPr>
          <p:cNvPr id="15" name="Rounded Rectangle 14"/>
          <p:cNvSpPr/>
          <p:nvPr/>
        </p:nvSpPr>
        <p:spPr>
          <a:xfrm>
            <a:off x="502920" y="3705880"/>
            <a:ext cx="3703320" cy="1414759"/>
          </a:xfrm>
          <a:prstGeom prst="roundRect">
            <a:avLst>
              <a:gd name="adj" fmla="val 5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182880" bIns="0" rtlCol="0" anchor="t"/>
          <a:lstStyle/>
          <a:p>
            <a:pPr algn="l">
              <a:lnSpc>
                <a:spcPct val="115000"/>
              </a:lnSpc>
              <a:spcBef>
                <a:spcPts val="0"/>
              </a:spcBef>
              <a:spcAft>
                <a:spcPts val="480"/>
              </a:spcAft>
            </a:pPr>
            <a:r>
              <a:rPr sz="750" b="1" i="0">
                <a:solidFill>
                  <a:srgbClr val="D97706"/>
                </a:solidFill>
                <a:latin typeface="Segoe UI Semibold"/>
              </a:rPr>
              <a:t>WHY IT MATTERS</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Euclidean punishes the single large gap (6 in visits) more heavily</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Manhattan treats a gap of 6 in one feature the same as 3+3 across two</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If a nearest-neighbour answer flips, so will your clusters</a:t>
            </a:r>
          </a:p>
        </p:txBody>
      </p:sp>
      <p:sp>
        <p:nvSpPr>
          <p:cNvPr id="16" name="Rounded Rectangle 15"/>
          <p:cNvSpPr/>
          <p:nvPr/>
        </p:nvSpPr>
        <p:spPr>
          <a:xfrm>
            <a:off x="4443983" y="1792224"/>
            <a:ext cx="7245065" cy="3584447"/>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37744" tIns="219456" rIns="219456" bIns="0" rtlCol="0" anchor="t"/>
          <a:lstStyle/>
          <a:p>
            <a:pPr algn="l">
              <a:lnSpc>
                <a:spcPct val="115000"/>
              </a:lnSpc>
              <a:spcBef>
                <a:spcPts val="0"/>
              </a:spcBef>
              <a:spcAft>
                <a:spcPts val="1000"/>
              </a:spcAft>
            </a:pPr>
            <a:r>
              <a:rPr sz="1050" b="1" i="0">
                <a:solidFill>
                  <a:srgbClr val="0096C7"/>
                </a:solidFill>
                <a:latin typeface="Segoe UI Semibold"/>
              </a:rPr>
              <a:t>STEP-BY-STEP SOLUTION</a:t>
            </a:r>
          </a:p>
          <a:p>
            <a:pPr algn="l">
              <a:lnSpc>
                <a:spcPct val="120000"/>
              </a:lnSpc>
              <a:spcBef>
                <a:spcPts val="900"/>
              </a:spcBef>
              <a:spcAft>
                <a:spcPts val="0"/>
              </a:spcAft>
            </a:pPr>
            <a:r>
              <a:rPr sz="1350" b="1" i="0">
                <a:solidFill>
                  <a:srgbClr val="182B49"/>
                </a:solidFill>
                <a:latin typeface="Segoe UI Semibold"/>
              </a:rPr>
              <a:t>Euclidean A→B  </a:t>
            </a:r>
            <a:r>
              <a:rPr sz="1350" b="0" i="0">
                <a:solidFill>
                  <a:srgbClr val="1C2330"/>
                </a:solidFill>
                <a:latin typeface="Cambria Math"/>
              </a:rPr>
              <a:t>√[(2−5)² + (5−9)²] = √[9 + 16] = √25 = 5.00</a:t>
            </a:r>
          </a:p>
          <a:p>
            <a:pPr algn="l">
              <a:lnSpc>
                <a:spcPct val="120000"/>
              </a:lnSpc>
              <a:spcBef>
                <a:spcPts val="900"/>
              </a:spcBef>
              <a:spcAft>
                <a:spcPts val="0"/>
              </a:spcAft>
            </a:pPr>
            <a:r>
              <a:rPr sz="1350" b="1" i="0">
                <a:solidFill>
                  <a:srgbClr val="182B49"/>
                </a:solidFill>
                <a:latin typeface="Segoe UI Semibold"/>
              </a:rPr>
              <a:t>Euclidean A→C  </a:t>
            </a:r>
            <a:r>
              <a:rPr sz="1350" b="0" i="0">
                <a:solidFill>
                  <a:srgbClr val="1C2330"/>
                </a:solidFill>
                <a:latin typeface="Cambria Math"/>
              </a:rPr>
              <a:t>√[(2−8)² + (5−5)²] = √[36 + 0] = √36 = 6.00</a:t>
            </a:r>
          </a:p>
          <a:p>
            <a:pPr algn="l">
              <a:lnSpc>
                <a:spcPct val="120000"/>
              </a:lnSpc>
              <a:spcBef>
                <a:spcPts val="900"/>
              </a:spcBef>
              <a:spcAft>
                <a:spcPts val="0"/>
              </a:spcAft>
            </a:pPr>
            <a:r>
              <a:rPr sz="1350" b="1" i="0">
                <a:solidFill>
                  <a:srgbClr val="182B49"/>
                </a:solidFill>
                <a:latin typeface="Segoe UI Semibold"/>
              </a:rPr>
              <a:t>Euclidean verdict  </a:t>
            </a:r>
            <a:r>
              <a:rPr sz="1350" b="0" i="0">
                <a:solidFill>
                  <a:srgbClr val="1C2330"/>
                </a:solidFill>
                <a:latin typeface="Segoe UI"/>
              </a:rPr>
              <a:t>A is closer to B (5.00 &lt; 6.00). So B is more similar.</a:t>
            </a:r>
          </a:p>
          <a:p>
            <a:pPr algn="l">
              <a:lnSpc>
                <a:spcPct val="120000"/>
              </a:lnSpc>
              <a:spcBef>
                <a:spcPts val="900"/>
              </a:spcBef>
              <a:spcAft>
                <a:spcPts val="0"/>
              </a:spcAft>
            </a:pPr>
            <a:r>
              <a:rPr sz="1350" b="1" i="0">
                <a:solidFill>
                  <a:srgbClr val="182B49"/>
                </a:solidFill>
                <a:latin typeface="Segoe UI Semibold"/>
              </a:rPr>
              <a:t>Manhattan A→B  </a:t>
            </a:r>
            <a:r>
              <a:rPr sz="1350" b="0" i="0">
                <a:solidFill>
                  <a:srgbClr val="1C2330"/>
                </a:solidFill>
                <a:latin typeface="Segoe UI"/>
              </a:rPr>
              <a:t>|2−5| + |5−9| = 3 + 4 = 7</a:t>
            </a:r>
          </a:p>
          <a:p>
            <a:pPr algn="l">
              <a:lnSpc>
                <a:spcPct val="120000"/>
              </a:lnSpc>
              <a:spcBef>
                <a:spcPts val="900"/>
              </a:spcBef>
              <a:spcAft>
                <a:spcPts val="0"/>
              </a:spcAft>
            </a:pPr>
            <a:r>
              <a:rPr sz="1350" b="1" i="0">
                <a:solidFill>
                  <a:srgbClr val="182B49"/>
                </a:solidFill>
                <a:latin typeface="Segoe UI Semibold"/>
              </a:rPr>
              <a:t>Manhattan A→C  </a:t>
            </a:r>
            <a:r>
              <a:rPr sz="1350" b="0" i="0">
                <a:solidFill>
                  <a:srgbClr val="1C2330"/>
                </a:solidFill>
                <a:latin typeface="Segoe UI"/>
              </a:rPr>
              <a:t>|2−8| + |5−5| = 6 + 0 = 6</a:t>
            </a:r>
          </a:p>
          <a:p>
            <a:pPr algn="l">
              <a:lnSpc>
                <a:spcPct val="120000"/>
              </a:lnSpc>
              <a:spcBef>
                <a:spcPts val="900"/>
              </a:spcBef>
              <a:spcAft>
                <a:spcPts val="0"/>
              </a:spcAft>
            </a:pPr>
            <a:r>
              <a:rPr sz="1350" b="1" i="0">
                <a:solidFill>
                  <a:srgbClr val="182B49"/>
                </a:solidFill>
                <a:latin typeface="Segoe UI Semibold"/>
              </a:rPr>
              <a:t>Manhattan verdict  </a:t>
            </a:r>
            <a:r>
              <a:rPr sz="1350" b="0" i="0">
                <a:solidFill>
                  <a:srgbClr val="1C2330"/>
                </a:solidFill>
                <a:latin typeface="Segoe UI"/>
              </a:rPr>
              <a:t>A is closer to C (6 &lt; 7). So C is more similar.</a:t>
            </a:r>
          </a:p>
          <a:p>
            <a:pPr algn="l">
              <a:lnSpc>
                <a:spcPct val="120000"/>
              </a:lnSpc>
              <a:spcBef>
                <a:spcPts val="900"/>
              </a:spcBef>
              <a:spcAft>
                <a:spcPts val="0"/>
              </a:spcAft>
            </a:pPr>
            <a:r>
              <a:rPr sz="1350" b="1" i="0">
                <a:solidFill>
                  <a:srgbClr val="182B49"/>
                </a:solidFill>
                <a:latin typeface="Segoe UI Semibold"/>
              </a:rPr>
              <a:t>The point  </a:t>
            </a:r>
            <a:r>
              <a:rPr sz="1350" b="0" i="0">
                <a:solidFill>
                  <a:srgbClr val="1C2330"/>
                </a:solidFill>
                <a:latin typeface="Segoe UI"/>
              </a:rPr>
              <a:t>The two metrics DISAGREE about who A's nearest neighbour is. Same three customers, same numbers, opposite conclusions.</a:t>
            </a:r>
          </a:p>
        </p:txBody>
      </p:sp>
      <p:sp>
        <p:nvSpPr>
          <p:cNvPr id="17" name="Rounded Rectangle 16"/>
          <p:cNvSpPr/>
          <p:nvPr/>
        </p:nvSpPr>
        <p:spPr>
          <a:xfrm>
            <a:off x="4443983" y="5541264"/>
            <a:ext cx="7245065" cy="786384"/>
          </a:xfrm>
          <a:prstGeom prst="roundRect">
            <a:avLst>
              <a:gd name="adj" fmla="val 8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lstStyle/>
          <a:p>
            <a:pPr algn="l">
              <a:lnSpc>
                <a:spcPct val="114000"/>
              </a:lnSpc>
              <a:spcBef>
                <a:spcPts val="0"/>
              </a:spcBef>
              <a:spcAft>
                <a:spcPts val="0"/>
              </a:spcAft>
            </a:pPr>
            <a:r>
              <a:rPr sz="1150" b="1" i="0">
                <a:solidFill>
                  <a:srgbClr val="107C41"/>
                </a:solidFill>
                <a:latin typeface="Segoe UI Semibold"/>
              </a:rPr>
              <a:t>ANSWER   </a:t>
            </a:r>
            <a:r>
              <a:rPr sz="1500" b="1" i="0">
                <a:solidFill>
                  <a:srgbClr val="182B49"/>
                </a:solidFill>
                <a:latin typeface="Cambria Math"/>
              </a:rPr>
              <a:t>Euclidean says B.  Manhattan says C.  The metric changed the answer.</a:t>
            </a:r>
          </a:p>
        </p:txBody>
      </p:sp>
      <p:sp>
        <p:nvSpPr>
          <p:cNvPr id="18" name="Rectangle 17"/>
          <p:cNvSpPr/>
          <p:nvPr/>
        </p:nvSpPr>
        <p:spPr>
          <a:xfrm>
            <a:off x="4443983" y="5541264"/>
            <a:ext cx="73152" cy="786384"/>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Cosine Similarity - Direction, Not Magnitude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32</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Ignores how BIG the vectors are and asks only whether they point the same way.</a:t>
            </a:r>
          </a:p>
        </p:txBody>
      </p:sp>
      <p:sp>
        <p:nvSpPr>
          <p:cNvPr id="12" name="Rounded Rectangle 11"/>
          <p:cNvSpPr/>
          <p:nvPr/>
        </p:nvSpPr>
        <p:spPr>
          <a:xfrm>
            <a:off x="502920" y="2249424"/>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COSINE SIMILARITY</a:t>
            </a:r>
          </a:p>
          <a:p>
            <a:pPr algn="l">
              <a:lnSpc>
                <a:spcPct val="115000"/>
              </a:lnSpc>
              <a:spcBef>
                <a:spcPts val="0"/>
              </a:spcBef>
              <a:spcAft>
                <a:spcPts val="0"/>
              </a:spcAft>
            </a:pPr>
            <a:r>
              <a:rPr sz="1700" b="1" i="0">
                <a:solidFill>
                  <a:srgbClr val="182B49"/>
                </a:solidFill>
                <a:latin typeface="Cambria Math"/>
              </a:rPr>
              <a:t>cos(θ) = (A · B) / (‖A‖ ‖B‖) = Σ AᵢBᵢ / (√Σ Aᵢ² · √Σ Bᵢ²)</a:t>
            </a:r>
          </a:p>
          <a:p>
            <a:pPr algn="l">
              <a:lnSpc>
                <a:spcPct val="114000"/>
              </a:lnSpc>
              <a:spcBef>
                <a:spcPts val="540"/>
              </a:spcBef>
              <a:spcAft>
                <a:spcPts val="0"/>
              </a:spcAft>
            </a:pPr>
            <a:r>
              <a:rPr sz="1120" b="0" i="0">
                <a:solidFill>
                  <a:srgbClr val="586476"/>
                </a:solidFill>
                <a:latin typeface="Segoe UI"/>
              </a:rPr>
              <a:t>The cosine of the angle between two vectors. Range −1 to +1; for non-negative data, 0 to 1.</a:t>
            </a:r>
          </a:p>
        </p:txBody>
      </p:sp>
      <p:sp>
        <p:nvSpPr>
          <p:cNvPr id="13" name="Rectangle 12"/>
          <p:cNvSpPr/>
          <p:nvPr/>
        </p:nvSpPr>
        <p:spPr>
          <a:xfrm>
            <a:off x="502920" y="2249424"/>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3389376"/>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430"/>
              </a:spcAft>
            </a:pPr>
            <a:r>
              <a:rPr sz="750" b="1" i="0">
                <a:solidFill>
                  <a:srgbClr val="5C2D91"/>
                </a:solidFill>
                <a:latin typeface="Segoe UI Semibold"/>
              </a:rPr>
              <a:t>COSINE DISTANCE</a:t>
            </a:r>
          </a:p>
          <a:p>
            <a:pPr algn="l">
              <a:lnSpc>
                <a:spcPct val="115000"/>
              </a:lnSpc>
              <a:spcBef>
                <a:spcPts val="0"/>
              </a:spcBef>
              <a:spcAft>
                <a:spcPts val="0"/>
              </a:spcAft>
            </a:pPr>
            <a:r>
              <a:rPr sz="1360" b="1" i="0">
                <a:solidFill>
                  <a:srgbClr val="182B49"/>
                </a:solidFill>
                <a:latin typeface="Cambria Math"/>
              </a:rPr>
              <a:t>d(A, B) = 1 − cos(θ)</a:t>
            </a:r>
          </a:p>
          <a:p>
            <a:pPr algn="l">
              <a:lnSpc>
                <a:spcPct val="114000"/>
              </a:lnSpc>
              <a:spcBef>
                <a:spcPts val="430"/>
              </a:spcBef>
              <a:spcAft>
                <a:spcPts val="0"/>
              </a:spcAft>
            </a:pPr>
            <a:r>
              <a:rPr sz="900" b="0" i="0">
                <a:solidFill>
                  <a:srgbClr val="586476"/>
                </a:solidFill>
                <a:latin typeface="Segoe UI"/>
              </a:rPr>
              <a:t>Converts similarity to distance so it can be used where a distance is expected. 0 = identical direction.</a:t>
            </a:r>
          </a:p>
        </p:txBody>
      </p:sp>
      <p:sp>
        <p:nvSpPr>
          <p:cNvPr id="15" name="Rectangle 14"/>
          <p:cNvSpPr/>
          <p:nvPr/>
        </p:nvSpPr>
        <p:spPr>
          <a:xfrm>
            <a:off x="502920" y="3389376"/>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4529328"/>
            <a:ext cx="7702265" cy="975360"/>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40"/>
              </a:spcAft>
            </a:pPr>
            <a:r>
              <a:rPr sz="940" b="1" i="0">
                <a:solidFill>
                  <a:srgbClr val="5C2D91"/>
                </a:solidFill>
                <a:latin typeface="Segoe UI Semibold"/>
              </a:rPr>
              <a:t>WORKED: A = (1, 2), B = (3, 6)</a:t>
            </a:r>
          </a:p>
          <a:p>
            <a:pPr algn="l">
              <a:lnSpc>
                <a:spcPct val="115000"/>
              </a:lnSpc>
              <a:spcBef>
                <a:spcPts val="0"/>
              </a:spcBef>
              <a:spcAft>
                <a:spcPts val="0"/>
              </a:spcAft>
            </a:pPr>
            <a:r>
              <a:rPr sz="1700" b="1" i="0">
                <a:solidFill>
                  <a:srgbClr val="182B49"/>
                </a:solidFill>
                <a:latin typeface="Cambria Math"/>
              </a:rPr>
              <a:t>A·B = 3 + 12 = 15  ·  ‖A‖ = √5  ·  ‖B‖ = √45  →  15 / √225 = 1.0</a:t>
            </a:r>
          </a:p>
          <a:p>
            <a:pPr algn="l">
              <a:lnSpc>
                <a:spcPct val="114000"/>
              </a:lnSpc>
              <a:spcBef>
                <a:spcPts val="540"/>
              </a:spcBef>
              <a:spcAft>
                <a:spcPts val="0"/>
              </a:spcAft>
            </a:pPr>
            <a:r>
              <a:rPr sz="1120" b="0" i="0">
                <a:solidFill>
                  <a:srgbClr val="586476"/>
                </a:solidFill>
                <a:latin typeface="Segoe UI"/>
              </a:rPr>
              <a:t>Perfectly similar - B is exactly 3 × A. Same direction, different magnitude.</a:t>
            </a:r>
          </a:p>
        </p:txBody>
      </p:sp>
      <p:sp>
        <p:nvSpPr>
          <p:cNvPr id="17" name="Rectangle 16"/>
          <p:cNvSpPr/>
          <p:nvPr/>
        </p:nvSpPr>
        <p:spPr>
          <a:xfrm>
            <a:off x="502920" y="4529328"/>
            <a:ext cx="68580" cy="97536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8" name="Picture 17" descr="i396v_cosine.png"/>
          <p:cNvPicPr>
            <a:picLocks noChangeAspect="1"/>
          </p:cNvPicPr>
          <p:nvPr/>
        </p:nvPicPr>
        <p:blipFill>
          <a:blip r:embed="rId2"/>
          <a:stretch>
            <a:fillRect/>
          </a:stretch>
        </p:blipFill>
        <p:spPr>
          <a:xfrm>
            <a:off x="8694553" y="4532132"/>
            <a:ext cx="2742871" cy="935979"/>
          </a:xfrm>
          <a:prstGeom prst="rect">
            <a:avLst/>
          </a:prstGeom>
        </p:spPr>
      </p:pic>
      <p:sp>
        <p:nvSpPr>
          <p:cNvPr id="19" name="Rounded Rectangle 18"/>
          <p:cNvSpPr/>
          <p:nvPr/>
        </p:nvSpPr>
        <p:spPr>
          <a:xfrm>
            <a:off x="8442929" y="2249424"/>
            <a:ext cx="3246120" cy="2148474"/>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182880" bIns="0" rtlCol="0" anchor="t"/>
          <a:lstStyle/>
          <a:p>
            <a:pPr algn="l">
              <a:lnSpc>
                <a:spcPct val="115000"/>
              </a:lnSpc>
              <a:spcBef>
                <a:spcPts val="0"/>
              </a:spcBef>
              <a:spcAft>
                <a:spcPts val="540"/>
              </a:spcAft>
            </a:pPr>
            <a:r>
              <a:rPr sz="750" b="1" i="0">
                <a:solidFill>
                  <a:srgbClr val="0096C7"/>
                </a:solidFill>
                <a:latin typeface="Segoe UI Semibold"/>
              </a:rPr>
              <a:t>WHERE, AND WHEN TO USE IT</a:t>
            </a:r>
          </a:p>
          <a:p>
            <a:pPr algn="l">
              <a:lnSpc>
                <a:spcPct val="114000"/>
              </a:lnSpc>
              <a:spcBef>
                <a:spcPts val="480"/>
              </a:spcBef>
              <a:spcAft>
                <a:spcPts val="0"/>
              </a:spcAft>
            </a:pPr>
            <a:r>
              <a:rPr sz="750" b="1" i="0">
                <a:solidFill>
                  <a:srgbClr val="182B49"/>
                </a:solidFill>
                <a:latin typeface="Segoe UI Semibold"/>
              </a:rPr>
              <a:t>A · B  </a:t>
            </a:r>
            <a:r>
              <a:rPr sz="750" b="0" i="0">
                <a:solidFill>
                  <a:srgbClr val="1C2330"/>
                </a:solidFill>
                <a:latin typeface="Segoe UI"/>
              </a:rPr>
              <a:t>dot product - multiply matching components and sum them</a:t>
            </a:r>
          </a:p>
          <a:p>
            <a:pPr algn="l">
              <a:lnSpc>
                <a:spcPct val="114000"/>
              </a:lnSpc>
              <a:spcBef>
                <a:spcPts val="480"/>
              </a:spcBef>
              <a:spcAft>
                <a:spcPts val="0"/>
              </a:spcAft>
            </a:pPr>
            <a:r>
              <a:rPr sz="750" b="1" i="0">
                <a:solidFill>
                  <a:srgbClr val="182B49"/>
                </a:solidFill>
                <a:latin typeface="Segoe UI Semibold"/>
              </a:rPr>
              <a:t>‖A‖  </a:t>
            </a:r>
            <a:r>
              <a:rPr sz="750" b="0" i="0">
                <a:solidFill>
                  <a:srgbClr val="1C2330"/>
                </a:solidFill>
                <a:latin typeface="Segoe UI"/>
              </a:rPr>
              <a:t>the length (magnitude) of vector A = √Σ Aᵢ²</a:t>
            </a:r>
          </a:p>
          <a:p>
            <a:pPr algn="l">
              <a:lnSpc>
                <a:spcPct val="114000"/>
              </a:lnSpc>
              <a:spcBef>
                <a:spcPts val="480"/>
              </a:spcBef>
              <a:spcAft>
                <a:spcPts val="0"/>
              </a:spcAft>
            </a:pPr>
            <a:r>
              <a:rPr sz="750" b="1" i="0">
                <a:solidFill>
                  <a:srgbClr val="182B49"/>
                </a:solidFill>
                <a:latin typeface="Segoe UI Semibold"/>
              </a:rPr>
              <a:t>cos = 1  </a:t>
            </a:r>
            <a:r>
              <a:rPr sz="750" b="0" i="0">
                <a:solidFill>
                  <a:srgbClr val="1C2330"/>
                </a:solidFill>
                <a:latin typeface="Segoe UI"/>
              </a:rPr>
              <a:t>identical direction - as similar as possible</a:t>
            </a:r>
          </a:p>
          <a:p>
            <a:pPr algn="l">
              <a:lnSpc>
                <a:spcPct val="114000"/>
              </a:lnSpc>
              <a:spcBef>
                <a:spcPts val="480"/>
              </a:spcBef>
              <a:spcAft>
                <a:spcPts val="0"/>
              </a:spcAft>
            </a:pPr>
            <a:r>
              <a:rPr sz="750" b="1" i="0">
                <a:solidFill>
                  <a:srgbClr val="182B49"/>
                </a:solidFill>
                <a:latin typeface="Segoe UI Semibold"/>
              </a:rPr>
              <a:t>cos = 0  </a:t>
            </a:r>
            <a:r>
              <a:rPr sz="750" b="0" i="0">
                <a:solidFill>
                  <a:srgbClr val="1C2330"/>
                </a:solidFill>
                <a:latin typeface="Segoe UI"/>
              </a:rPr>
              <a:t>perpendicular - completely unrelated</a:t>
            </a:r>
          </a:p>
          <a:p>
            <a:pPr algn="l">
              <a:lnSpc>
                <a:spcPct val="114000"/>
              </a:lnSpc>
              <a:spcBef>
                <a:spcPts val="480"/>
              </a:spcBef>
              <a:spcAft>
                <a:spcPts val="0"/>
              </a:spcAft>
            </a:pPr>
            <a:r>
              <a:rPr sz="750" b="1" i="0">
                <a:solidFill>
                  <a:srgbClr val="182B49"/>
                </a:solidFill>
                <a:latin typeface="Segoe UI Semibold"/>
              </a:rPr>
              <a:t>cos = −1  </a:t>
            </a:r>
            <a:r>
              <a:rPr sz="750" b="0" i="0">
                <a:solidFill>
                  <a:srgbClr val="1C2330"/>
                </a:solidFill>
                <a:latin typeface="Segoe UI"/>
              </a:rPr>
              <a:t>opposite direction (impossible for count data, which is never negative)</a:t>
            </a:r>
          </a:p>
          <a:p>
            <a:pPr algn="l">
              <a:lnSpc>
                <a:spcPct val="114000"/>
              </a:lnSpc>
              <a:spcBef>
                <a:spcPts val="480"/>
              </a:spcBef>
              <a:spcAft>
                <a:spcPts val="0"/>
              </a:spcAft>
            </a:pPr>
            <a:r>
              <a:rPr sz="750" b="1" i="0">
                <a:solidFill>
                  <a:srgbClr val="182B49"/>
                </a:solidFill>
                <a:latin typeface="Segoe UI Semibold"/>
              </a:rPr>
              <a:t>Use it when  </a:t>
            </a:r>
            <a:r>
              <a:rPr sz="750" b="0" i="0">
                <a:solidFill>
                  <a:srgbClr val="1C2330"/>
                </a:solidFill>
                <a:latin typeface="Segoe UI"/>
              </a:rPr>
              <a:t>magnitude is irrelevant or misleading - text, ratings, sparse high-dimensional counts</a:t>
            </a:r>
          </a:p>
        </p:txBody>
      </p:sp>
      <p:sp>
        <p:nvSpPr>
          <p:cNvPr id="20" name="Rounded Rectangle 19"/>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PREDICT   </a:t>
            </a:r>
            <a:r>
              <a:rPr sz="1350" b="0" i="0">
                <a:solidFill>
                  <a:srgbClr val="1C2330"/>
                </a:solidFill>
                <a:latin typeface="Segoe UI"/>
              </a:rPr>
              <a:t>A 200-word and a 2,000-word report on the same match. Similar or not? Which metric agrees with you?</a:t>
            </a:r>
          </a:p>
        </p:txBody>
      </p:sp>
      <p:sp>
        <p:nvSpPr>
          <p:cNvPr id="21" name="Rectangle 20"/>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Euclidean and Manhattan Disagree - Drawn</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33</a:t>
            </a:r>
          </a:p>
        </p:txBody>
      </p:sp>
      <p:pic>
        <p:nvPicPr>
          <p:cNvPr id="11" name="Picture 10" descr="i396_metrics.png"/>
          <p:cNvPicPr>
            <a:picLocks noChangeAspect="1"/>
          </p:cNvPicPr>
          <p:nvPr/>
        </p:nvPicPr>
        <p:blipFill>
          <a:blip r:embed="rId2"/>
          <a:stretch>
            <a:fillRect/>
          </a:stretch>
        </p:blipFill>
        <p:spPr>
          <a:xfrm>
            <a:off x="1559457" y="1792224"/>
            <a:ext cx="5159422" cy="3822191"/>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900"/>
              </a:spcAft>
            </a:pPr>
            <a:r>
              <a:rPr sz="1050" b="1" i="0">
                <a:solidFill>
                  <a:srgbClr val="0096C7"/>
                </a:solidFill>
                <a:latin typeface="Segoe UI Semibold"/>
              </a:rPr>
              <a:t>HOW TO READ THIS FIGURE</a:t>
            </a:r>
          </a:p>
          <a:p>
            <a:pPr algn="l">
              <a:lnSpc>
                <a:spcPct val="114000"/>
              </a:lnSpc>
              <a:spcBef>
                <a:spcPts val="800"/>
              </a:spcBef>
              <a:spcAft>
                <a:spcPts val="0"/>
              </a:spcAft>
            </a:pPr>
            <a:r>
              <a:rPr sz="1250" b="1" i="0">
                <a:solidFill>
                  <a:srgbClr val="182B49"/>
                </a:solidFill>
                <a:latin typeface="Segoe UI Semibold"/>
              </a:rPr>
              <a:t>A → B  </a:t>
            </a:r>
            <a:r>
              <a:rPr sz="1250" b="0" i="0">
                <a:solidFill>
                  <a:srgbClr val="1C2330"/>
                </a:solidFill>
                <a:latin typeface="Segoe UI"/>
              </a:rPr>
              <a:t>differs by 3 in visits AND 4 in spend - spread across both features.</a:t>
            </a:r>
          </a:p>
          <a:p>
            <a:pPr algn="l">
              <a:lnSpc>
                <a:spcPct val="114000"/>
              </a:lnSpc>
              <a:spcBef>
                <a:spcPts val="800"/>
              </a:spcBef>
              <a:spcAft>
                <a:spcPts val="0"/>
              </a:spcAft>
            </a:pPr>
            <a:r>
              <a:rPr sz="1250" b="1" i="0">
                <a:solidFill>
                  <a:srgbClr val="182B49"/>
                </a:solidFill>
                <a:latin typeface="Segoe UI Semibold"/>
              </a:rPr>
              <a:t>A → C  </a:t>
            </a:r>
            <a:r>
              <a:rPr sz="1250" b="0" i="0">
                <a:solidFill>
                  <a:srgbClr val="1C2330"/>
                </a:solidFill>
                <a:latin typeface="Segoe UI"/>
              </a:rPr>
              <a:t>differs by 6 in visits and 0 in spend - one big gap, concentrated.</a:t>
            </a:r>
          </a:p>
          <a:p>
            <a:pPr algn="l">
              <a:lnSpc>
                <a:spcPct val="114000"/>
              </a:lnSpc>
              <a:spcBef>
                <a:spcPts val="800"/>
              </a:spcBef>
              <a:spcAft>
                <a:spcPts val="0"/>
              </a:spcAft>
            </a:pPr>
            <a:r>
              <a:rPr sz="1250" b="1" i="0">
                <a:solidFill>
                  <a:srgbClr val="182B49"/>
                </a:solidFill>
                <a:latin typeface="Segoe UI Semibold"/>
              </a:rPr>
              <a:t>Euclidean squares  </a:t>
            </a:r>
            <a:r>
              <a:rPr sz="1250" b="0" i="0">
                <a:solidFill>
                  <a:srgbClr val="1C2330"/>
                </a:solidFill>
                <a:latin typeface="Segoe UI"/>
              </a:rPr>
              <a:t>so 36 beats 25. The single big gap is punished harder. B wins.</a:t>
            </a:r>
          </a:p>
          <a:p>
            <a:pPr algn="l">
              <a:lnSpc>
                <a:spcPct val="114000"/>
              </a:lnSpc>
              <a:spcBef>
                <a:spcPts val="800"/>
              </a:spcBef>
              <a:spcAft>
                <a:spcPts val="0"/>
              </a:spcAft>
            </a:pPr>
            <a:r>
              <a:rPr sz="1250" b="1" i="0">
                <a:solidFill>
                  <a:srgbClr val="182B49"/>
                </a:solidFill>
                <a:latin typeface="Segoe UI Semibold"/>
              </a:rPr>
              <a:t>Manhattan adds  </a:t>
            </a:r>
            <a:r>
              <a:rPr sz="1250" b="0" i="0">
                <a:solidFill>
                  <a:srgbClr val="1C2330"/>
                </a:solidFill>
                <a:latin typeface="Segoe UI"/>
              </a:rPr>
              <a:t>so 6 beats 7. Spreading the difference costs more. C wins.</a:t>
            </a:r>
          </a:p>
          <a:p>
            <a:pPr algn="l">
              <a:lnSpc>
                <a:spcPct val="114000"/>
              </a:lnSpc>
              <a:spcBef>
                <a:spcPts val="800"/>
              </a:spcBef>
              <a:spcAft>
                <a:spcPts val="0"/>
              </a:spcAft>
            </a:pPr>
            <a:r>
              <a:rPr sz="1250" b="1" i="0">
                <a:solidFill>
                  <a:srgbClr val="182B49"/>
                </a:solidFill>
                <a:latin typeface="Segoe UI Semibold"/>
              </a:rPr>
              <a:t>Same points  </a:t>
            </a:r>
            <a:r>
              <a:rPr sz="1250" b="0" i="0">
                <a:solidFill>
                  <a:srgbClr val="1C2330"/>
                </a:solidFill>
                <a:latin typeface="Segoe UI"/>
              </a:rPr>
              <a:t>opposite answers to 'who is A's nearest neighbour?'</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If the metric can flip the nearest neighbour of three points, think what it does to 50,000.</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Cosine vs Euclidean - Which Question Are You Asking?</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34</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Clustering by (Age, Income) is a Euclidean question. Clustering by purchased-item lists is a Cosine question.</a:t>
            </a:r>
          </a:p>
        </p:txBody>
      </p:sp>
      <p:sp>
        <p:nvSpPr>
          <p:cNvPr id="12" name="Rounded Rectangle 11"/>
          <p:cNvSpPr/>
          <p:nvPr/>
        </p:nvSpPr>
        <p:spPr>
          <a:xfrm>
            <a:off x="502920" y="4544568"/>
            <a:ext cx="2453632" cy="960120"/>
          </a:xfrm>
          <a:prstGeom prst="roundRect">
            <a:avLst>
              <a:gd name="adj" fmla="val 10000"/>
            </a:avLst>
          </a:prstGeom>
          <a:solidFill>
            <a:srgbClr val="DBF0F7"/>
          </a:solidFill>
          <a:ln w="22225">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0096C7"/>
                </a:solidFill>
                <a:latin typeface="Segoe UI Semibold"/>
              </a:rPr>
              <a:t>(Age, Income)</a:t>
            </a:r>
          </a:p>
          <a:p>
            <a:pPr algn="ctr">
              <a:lnSpc>
                <a:spcPct val="110000"/>
              </a:lnSpc>
              <a:spcBef>
                <a:spcPts val="300"/>
              </a:spcBef>
              <a:spcAft>
                <a:spcPts val="0"/>
              </a:spcAft>
            </a:pPr>
            <a:r>
              <a:rPr sz="950" b="0" i="0">
                <a:solidFill>
                  <a:srgbClr val="586476"/>
                </a:solidFill>
                <a:latin typeface="Segoe UI"/>
              </a:rPr>
              <a:t>magnitude MEANS something
→ Euclidean</a:t>
            </a:r>
          </a:p>
        </p:txBody>
      </p:sp>
      <p:sp>
        <p:nvSpPr>
          <p:cNvPr id="13" name="Right Arrow 12"/>
          <p:cNvSpPr/>
          <p:nvPr/>
        </p:nvSpPr>
        <p:spPr>
          <a:xfrm>
            <a:off x="3047992"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3413752" y="4544568"/>
            <a:ext cx="2453632" cy="960120"/>
          </a:xfrm>
          <a:prstGeom prst="roundRect">
            <a:avLst>
              <a:gd name="adj" fmla="val 10000"/>
            </a:avLst>
          </a:prstGeom>
          <a:solidFill>
            <a:srgbClr val="F9EBDC"/>
          </a:solidFill>
          <a:ln w="2222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D97706"/>
                </a:solidFill>
                <a:latin typeface="Segoe UI Semibold"/>
              </a:rPr>
              <a:t>Ratings 1-10</a:t>
            </a:r>
          </a:p>
          <a:p>
            <a:pPr algn="ctr">
              <a:lnSpc>
                <a:spcPct val="110000"/>
              </a:lnSpc>
              <a:spcBef>
                <a:spcPts val="300"/>
              </a:spcBef>
              <a:spcAft>
                <a:spcPts val="0"/>
              </a:spcAft>
            </a:pPr>
            <a:r>
              <a:rPr sz="950" b="0" i="0">
                <a:solidFill>
                  <a:srgbClr val="586476"/>
                </a:solidFill>
                <a:latin typeface="Segoe UI"/>
              </a:rPr>
              <a:t>some raters are generous
→ Cosine</a:t>
            </a:r>
          </a:p>
        </p:txBody>
      </p:sp>
      <p:sp>
        <p:nvSpPr>
          <p:cNvPr id="15" name="Right Arrow 14"/>
          <p:cNvSpPr/>
          <p:nvPr/>
        </p:nvSpPr>
        <p:spPr>
          <a:xfrm>
            <a:off x="5958824"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6324584" y="4544568"/>
            <a:ext cx="2453632" cy="960120"/>
          </a:xfrm>
          <a:prstGeom prst="roundRect">
            <a:avLst>
              <a:gd name="adj" fmla="val 10000"/>
            </a:avLst>
          </a:prstGeom>
          <a:solidFill>
            <a:srgbClr val="DDECE4"/>
          </a:solidFill>
          <a:ln w="2222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107C41"/>
                </a:solidFill>
                <a:latin typeface="Segoe UI Semibold"/>
              </a:rPr>
              <a:t>Purchased items</a:t>
            </a:r>
          </a:p>
          <a:p>
            <a:pPr algn="ctr">
              <a:lnSpc>
                <a:spcPct val="110000"/>
              </a:lnSpc>
              <a:spcBef>
                <a:spcPts val="300"/>
              </a:spcBef>
              <a:spcAft>
                <a:spcPts val="0"/>
              </a:spcAft>
            </a:pPr>
            <a:r>
              <a:rPr sz="950" b="0" i="0">
                <a:solidFill>
                  <a:srgbClr val="586476"/>
                </a:solidFill>
                <a:latin typeface="Segoe UI"/>
              </a:rPr>
              <a:t>list length is noise
→ Cosine</a:t>
            </a:r>
          </a:p>
        </p:txBody>
      </p:sp>
      <p:sp>
        <p:nvSpPr>
          <p:cNvPr id="17" name="Right Arrow 16"/>
          <p:cNvSpPr/>
          <p:nvPr/>
        </p:nvSpPr>
        <p:spPr>
          <a:xfrm>
            <a:off x="8869657" y="4942332"/>
            <a:ext cx="274320" cy="164592"/>
          </a:xfrm>
          <a:prstGeom prst="rightArrow">
            <a:avLst>
              <a:gd name="adj1" fmla="val 45000"/>
              <a:gd name="adj2" fmla="val 42000"/>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9235417" y="4544568"/>
            <a:ext cx="2453632" cy="960120"/>
          </a:xfrm>
          <a:prstGeom prst="roundRect">
            <a:avLst>
              <a:gd name="adj" fmla="val 10000"/>
            </a:avLst>
          </a:prstGeom>
          <a:solidFill>
            <a:srgbClr val="E8E1EF"/>
          </a:solidFill>
          <a:ln w="22225">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lnSpc>
                <a:spcPct val="105000"/>
              </a:lnSpc>
              <a:spcBef>
                <a:spcPts val="0"/>
              </a:spcBef>
              <a:spcAft>
                <a:spcPts val="0"/>
              </a:spcAft>
            </a:pPr>
            <a:r>
              <a:rPr sz="1200" b="1" i="0">
                <a:solidFill>
                  <a:srgbClr val="5C2D91"/>
                </a:solidFill>
                <a:latin typeface="Segoe UI Semibold"/>
              </a:rPr>
              <a:t>Customer VALUE</a:t>
            </a:r>
          </a:p>
          <a:p>
            <a:pPr algn="ctr">
              <a:lnSpc>
                <a:spcPct val="110000"/>
              </a:lnSpc>
              <a:spcBef>
                <a:spcPts val="300"/>
              </a:spcBef>
              <a:spcAft>
                <a:spcPts val="0"/>
              </a:spcAft>
            </a:pPr>
            <a:r>
              <a:rPr sz="950" b="0" i="0">
                <a:solidFill>
                  <a:srgbClr val="586476"/>
                </a:solidFill>
                <a:latin typeface="Segoe UI"/>
              </a:rPr>
              <a:t>spend size is the point
→ Euclidean</a:t>
            </a:r>
          </a:p>
        </p:txBody>
      </p:sp>
      <p:sp>
        <p:nvSpPr>
          <p:cNvPr id="19" name="Rounded Rectangle 18"/>
          <p:cNvSpPr/>
          <p:nvPr/>
        </p:nvSpPr>
        <p:spPr>
          <a:xfrm>
            <a:off x="502920"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0096C7"/>
                </a:solidFill>
                <a:latin typeface="Segoe UI Semibold"/>
              </a:rPr>
              <a:t>Sensitive to  </a:t>
            </a:r>
            <a:r>
              <a:rPr sz="810" b="0" i="0">
                <a:solidFill>
                  <a:srgbClr val="1C2330"/>
                </a:solidFill>
                <a:latin typeface="Segoe UI"/>
              </a:rPr>
              <a:t>magnitude. Two documents with the same proportions but different lengths are far apart.</a:t>
            </a:r>
          </a:p>
          <a:p>
            <a:pPr algn="l">
              <a:lnSpc>
                <a:spcPct val="116000"/>
              </a:lnSpc>
              <a:spcBef>
                <a:spcPts val="540"/>
              </a:spcBef>
              <a:spcAft>
                <a:spcPts val="0"/>
              </a:spcAft>
            </a:pPr>
            <a:r>
              <a:rPr sz="810" b="1" i="0">
                <a:solidFill>
                  <a:srgbClr val="0096C7"/>
                </a:solidFill>
                <a:latin typeface="Segoe UI Semibold"/>
              </a:rPr>
              <a:t>Good for  </a:t>
            </a:r>
            <a:r>
              <a:rPr sz="810" b="0" i="0">
                <a:solidFill>
                  <a:srgbClr val="1C2330"/>
                </a:solidFill>
                <a:latin typeface="Segoe UI"/>
              </a:rPr>
              <a:t>physical measurements, coordinates, standardised continuous features where size genuinely matters.</a:t>
            </a:r>
          </a:p>
          <a:p>
            <a:pPr algn="l">
              <a:lnSpc>
                <a:spcPct val="116000"/>
              </a:lnSpc>
              <a:spcBef>
                <a:spcPts val="540"/>
              </a:spcBef>
              <a:spcAft>
                <a:spcPts val="0"/>
              </a:spcAft>
            </a:pPr>
            <a:r>
              <a:rPr sz="810" b="1" i="0">
                <a:solidFill>
                  <a:srgbClr val="0096C7"/>
                </a:solidFill>
                <a:latin typeface="Segoe UI Semibold"/>
              </a:rPr>
              <a:t>Example where it is right  </a:t>
            </a:r>
            <a:r>
              <a:rPr sz="810" b="0" i="0">
                <a:solidFill>
                  <a:srgbClr val="1C2330"/>
                </a:solidFill>
                <a:latin typeface="Segoe UI"/>
              </a:rPr>
              <a:t>two customers with similar visit counts and similar spend really ARE similar customers.</a:t>
            </a:r>
          </a:p>
          <a:p>
            <a:pPr algn="l">
              <a:lnSpc>
                <a:spcPct val="116000"/>
              </a:lnSpc>
              <a:spcBef>
                <a:spcPts val="540"/>
              </a:spcBef>
              <a:spcAft>
                <a:spcPts val="0"/>
              </a:spcAft>
            </a:pPr>
            <a:r>
              <a:rPr sz="810" b="1" i="0">
                <a:solidFill>
                  <a:srgbClr val="0096C7"/>
                </a:solidFill>
                <a:latin typeface="Segoe UI Semibold"/>
              </a:rPr>
              <a:t>Example where it fails  </a:t>
            </a:r>
            <a:r>
              <a:rPr sz="810" b="0" i="0">
                <a:solidFill>
                  <a:srgbClr val="1C2330"/>
                </a:solidFill>
                <a:latin typeface="Segoe UI"/>
              </a:rPr>
              <a:t>a 200-word and a 2,000-word article on the same match look completely different.</a:t>
            </a:r>
          </a:p>
          <a:p>
            <a:pPr algn="l">
              <a:lnSpc>
                <a:spcPct val="116000"/>
              </a:lnSpc>
              <a:spcBef>
                <a:spcPts val="540"/>
              </a:spcBef>
              <a:spcAft>
                <a:spcPts val="0"/>
              </a:spcAft>
            </a:pPr>
            <a:r>
              <a:rPr sz="810" b="1" i="0">
                <a:solidFill>
                  <a:srgbClr val="0096C7"/>
                </a:solidFill>
                <a:latin typeface="Segoe UI Semibold"/>
              </a:rPr>
              <a:t>Watch out for  </a:t>
            </a:r>
            <a:r>
              <a:rPr sz="810" b="0" i="0">
                <a:solidFill>
                  <a:srgbClr val="1C2330"/>
                </a:solidFill>
                <a:latin typeface="Segoe UI"/>
              </a:rPr>
              <a:t>unscaled features - the largest-range feature silently takes over.</a:t>
            </a:r>
          </a:p>
        </p:txBody>
      </p:sp>
      <p:sp>
        <p:nvSpPr>
          <p:cNvPr id="20" name="Rectangle 19"/>
          <p:cNvSpPr/>
          <p:nvPr/>
        </p:nvSpPr>
        <p:spPr>
          <a:xfrm>
            <a:off x="502920" y="2267712"/>
            <a:ext cx="5455904" cy="3840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85800"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Euclidean asks: how far apart?</a:t>
            </a:r>
          </a:p>
        </p:txBody>
      </p:sp>
      <p:sp>
        <p:nvSpPr>
          <p:cNvPr id="22" name="Rounded Rectangle 21"/>
          <p:cNvSpPr/>
          <p:nvPr/>
        </p:nvSpPr>
        <p:spPr>
          <a:xfrm>
            <a:off x="6233144" y="2267712"/>
            <a:ext cx="5455904" cy="209397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810" b="1" i="0">
                <a:solidFill>
                  <a:srgbClr val="5C2D91"/>
                </a:solidFill>
                <a:latin typeface="Segoe UI Semibold"/>
              </a:rPr>
              <a:t>Sensitive to  </a:t>
            </a:r>
            <a:r>
              <a:rPr sz="810" b="0" i="0">
                <a:solidFill>
                  <a:srgbClr val="1C2330"/>
                </a:solidFill>
                <a:latin typeface="Segoe UI"/>
              </a:rPr>
              <a:t>proportion only. Magnitude is divided out entirely.</a:t>
            </a:r>
          </a:p>
          <a:p>
            <a:pPr algn="l">
              <a:lnSpc>
                <a:spcPct val="116000"/>
              </a:lnSpc>
              <a:spcBef>
                <a:spcPts val="540"/>
              </a:spcBef>
              <a:spcAft>
                <a:spcPts val="0"/>
              </a:spcAft>
            </a:pPr>
            <a:r>
              <a:rPr sz="810" b="1" i="0">
                <a:solidFill>
                  <a:srgbClr val="5C2D91"/>
                </a:solidFill>
                <a:latin typeface="Segoe UI Semibold"/>
              </a:rPr>
              <a:t>Good for  </a:t>
            </a:r>
            <a:r>
              <a:rPr sz="810" b="0" i="0">
                <a:solidFill>
                  <a:srgbClr val="1C2330"/>
                </a:solidFill>
                <a:latin typeface="Segoe UI"/>
              </a:rPr>
              <a:t>text, ratings, sparse high-dimensional counts - anywhere 'how much' is not the point.</a:t>
            </a:r>
          </a:p>
          <a:p>
            <a:pPr algn="l">
              <a:lnSpc>
                <a:spcPct val="116000"/>
              </a:lnSpc>
              <a:spcBef>
                <a:spcPts val="540"/>
              </a:spcBef>
              <a:spcAft>
                <a:spcPts val="0"/>
              </a:spcAft>
            </a:pPr>
            <a:r>
              <a:rPr sz="810" b="1" i="0">
                <a:solidFill>
                  <a:srgbClr val="5C2D91"/>
                </a:solidFill>
                <a:latin typeface="Segoe UI Semibold"/>
              </a:rPr>
              <a:t>Example where it is right  </a:t>
            </a:r>
            <a:r>
              <a:rPr sz="810" b="0" i="0">
                <a:solidFill>
                  <a:srgbClr val="1C2330"/>
                </a:solidFill>
                <a:latin typeface="Segoe UI"/>
              </a:rPr>
              <a:t>recommending news articles on the same topic regardless of article length.</a:t>
            </a:r>
          </a:p>
          <a:p>
            <a:pPr algn="l">
              <a:lnSpc>
                <a:spcPct val="116000"/>
              </a:lnSpc>
              <a:spcBef>
                <a:spcPts val="540"/>
              </a:spcBef>
              <a:spcAft>
                <a:spcPts val="0"/>
              </a:spcAft>
            </a:pPr>
            <a:r>
              <a:rPr sz="810" b="1" i="0">
                <a:solidFill>
                  <a:srgbClr val="5C2D91"/>
                </a:solidFill>
                <a:latin typeface="Segoe UI Semibold"/>
              </a:rPr>
              <a:t>Example where it fails  </a:t>
            </a:r>
            <a:r>
              <a:rPr sz="810" b="0" i="0">
                <a:solidFill>
                  <a:srgbClr val="1C2330"/>
                </a:solidFill>
                <a:latin typeface="Segoe UI"/>
              </a:rPr>
              <a:t>if magnitude genuinely matters. A customer spending Rs. 100 and one spending Rs. 100,000 in the same proportions look IDENTICAL to cosine.</a:t>
            </a:r>
          </a:p>
          <a:p>
            <a:pPr algn="l">
              <a:lnSpc>
                <a:spcPct val="116000"/>
              </a:lnSpc>
              <a:spcBef>
                <a:spcPts val="540"/>
              </a:spcBef>
              <a:spcAft>
                <a:spcPts val="0"/>
              </a:spcAft>
            </a:pPr>
            <a:r>
              <a:rPr sz="810" b="1" i="0">
                <a:solidFill>
                  <a:srgbClr val="5C2D91"/>
                </a:solidFill>
                <a:latin typeface="Segoe UI Semibold"/>
              </a:rPr>
              <a:t>Watch out for  </a:t>
            </a:r>
            <a:r>
              <a:rPr sz="810" b="0" i="0">
                <a:solidFill>
                  <a:srgbClr val="1C2330"/>
                </a:solidFill>
                <a:latin typeface="Segoe UI"/>
              </a:rPr>
              <a:t>using it when 'how much' is exactly what the business cares about.</a:t>
            </a:r>
          </a:p>
        </p:txBody>
      </p:sp>
      <p:sp>
        <p:nvSpPr>
          <p:cNvPr id="23" name="Rectangle 22"/>
          <p:cNvSpPr/>
          <p:nvPr/>
        </p:nvSpPr>
        <p:spPr>
          <a:xfrm>
            <a:off x="6233144" y="2267712"/>
            <a:ext cx="5455904" cy="3840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416024"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Cosine asks: same direction?</a:t>
            </a:r>
          </a:p>
        </p:txBody>
      </p:sp>
      <p:sp>
        <p:nvSpPr>
          <p:cNvPr id="25" name="Rounded Rectangle 24"/>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CHOOSE   </a:t>
            </a:r>
            <a:r>
              <a:rPr sz="1350" b="0" i="0">
                <a:solidFill>
                  <a:srgbClr val="1C2330"/>
                </a:solidFill>
                <a:latin typeface="Segoe UI"/>
              </a:rPr>
              <a:t>Recommending films from ratings out of 10, where some users rate everything high and some rate everything low. Which metric - and why?</a:t>
            </a:r>
          </a:p>
        </p:txBody>
      </p:sp>
      <p:sp>
        <p:nvSpPr>
          <p:cNvPr id="26" name="Rectangle 25"/>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 DISTANCE AND SIMILARITY</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'Nearby' Is a Different Shape in Each Metric</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35</a:t>
            </a:r>
          </a:p>
        </p:txBody>
      </p:sp>
      <p:pic>
        <p:nvPicPr>
          <p:cNvPr id="11" name="Picture 10" descr="i396_balls.png"/>
          <p:cNvPicPr>
            <a:picLocks noChangeAspect="1"/>
          </p:cNvPicPr>
          <p:nvPr/>
        </p:nvPicPr>
        <p:blipFill>
          <a:blip r:embed="rId2"/>
          <a:stretch>
            <a:fillRect/>
          </a:stretch>
        </p:blipFill>
        <p:spPr>
          <a:xfrm>
            <a:off x="502920" y="1842683"/>
            <a:ext cx="7272497" cy="3721272"/>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900"/>
              </a:spcAft>
            </a:pPr>
            <a:r>
              <a:rPr sz="1050" b="1" i="0">
                <a:solidFill>
                  <a:srgbClr val="0096C7"/>
                </a:solidFill>
                <a:latin typeface="Segoe UI Semibold"/>
              </a:rPr>
              <a:t>HOW TO READ THIS FIGURE</a:t>
            </a:r>
          </a:p>
          <a:p>
            <a:pPr algn="l">
              <a:lnSpc>
                <a:spcPct val="114000"/>
              </a:lnSpc>
              <a:spcBef>
                <a:spcPts val="800"/>
              </a:spcBef>
              <a:spcAft>
                <a:spcPts val="0"/>
              </a:spcAft>
            </a:pPr>
            <a:r>
              <a:rPr sz="1250" b="1" i="0">
                <a:solidFill>
                  <a:srgbClr val="182B49"/>
                </a:solidFill>
                <a:latin typeface="Segoe UI Semibold"/>
              </a:rPr>
              <a:t>Both shapes  </a:t>
            </a:r>
            <a:r>
              <a:rPr sz="1250" b="0" i="0">
                <a:solidFill>
                  <a:srgbClr val="1C2330"/>
                </a:solidFill>
                <a:latin typeface="Segoe UI"/>
              </a:rPr>
              <a:t>contain every point at distance exactly 1 from the centre.</a:t>
            </a:r>
          </a:p>
          <a:p>
            <a:pPr algn="l">
              <a:lnSpc>
                <a:spcPct val="114000"/>
              </a:lnSpc>
              <a:spcBef>
                <a:spcPts val="800"/>
              </a:spcBef>
              <a:spcAft>
                <a:spcPts val="0"/>
              </a:spcAft>
            </a:pPr>
            <a:r>
              <a:rPr sz="1250" b="1" i="0">
                <a:solidFill>
                  <a:srgbClr val="182B49"/>
                </a:solidFill>
                <a:latin typeface="Segoe UI Semibold"/>
              </a:rPr>
              <a:t>Euclidean  </a:t>
            </a:r>
            <a:r>
              <a:rPr sz="1250" b="0" i="0">
                <a:solidFill>
                  <a:srgbClr val="1C2330"/>
                </a:solidFill>
                <a:latin typeface="Segoe UI"/>
              </a:rPr>
              <a:t>gives a CIRCLE - the same in every direction.</a:t>
            </a:r>
          </a:p>
          <a:p>
            <a:pPr algn="l">
              <a:lnSpc>
                <a:spcPct val="114000"/>
              </a:lnSpc>
              <a:spcBef>
                <a:spcPts val="800"/>
              </a:spcBef>
              <a:spcAft>
                <a:spcPts val="0"/>
              </a:spcAft>
            </a:pPr>
            <a:r>
              <a:rPr sz="1250" b="1" i="0">
                <a:solidFill>
                  <a:srgbClr val="182B49"/>
                </a:solidFill>
                <a:latin typeface="Segoe UI Semibold"/>
              </a:rPr>
              <a:t>Manhattan  </a:t>
            </a:r>
            <a:r>
              <a:rPr sz="1250" b="0" i="0">
                <a:solidFill>
                  <a:srgbClr val="1C2330"/>
                </a:solidFill>
                <a:latin typeface="Segoe UI"/>
              </a:rPr>
              <a:t>gives a DIAMOND - reaching further along the axes than diagonally.</a:t>
            </a:r>
          </a:p>
          <a:p>
            <a:pPr algn="l">
              <a:lnSpc>
                <a:spcPct val="114000"/>
              </a:lnSpc>
              <a:spcBef>
                <a:spcPts val="800"/>
              </a:spcBef>
              <a:spcAft>
                <a:spcPts val="0"/>
              </a:spcAft>
            </a:pPr>
            <a:r>
              <a:rPr sz="1250" b="1" i="0">
                <a:solidFill>
                  <a:srgbClr val="182B49"/>
                </a:solidFill>
                <a:latin typeface="Segoe UI Semibold"/>
              </a:rPr>
              <a:t>Why the diamond  </a:t>
            </a:r>
            <a:r>
              <a:rPr sz="1250" b="0" i="0">
                <a:solidFill>
                  <a:srgbClr val="1C2330"/>
                </a:solidFill>
                <a:latin typeface="Segoe UI"/>
              </a:rPr>
              <a:t>moving diagonally costs you in BOTH coordinates, and Manhattan adds them.</a:t>
            </a:r>
          </a:p>
          <a:p>
            <a:pPr algn="l">
              <a:lnSpc>
                <a:spcPct val="114000"/>
              </a:lnSpc>
              <a:spcBef>
                <a:spcPts val="800"/>
              </a:spcBef>
              <a:spcAft>
                <a:spcPts val="0"/>
              </a:spcAft>
            </a:pPr>
            <a:r>
              <a:rPr sz="1250" b="1" i="0">
                <a:solidFill>
                  <a:srgbClr val="182B49"/>
                </a:solidFill>
                <a:latin typeface="Segoe UI Semibold"/>
              </a:rPr>
              <a:t>The consequence  </a:t>
            </a:r>
            <a:r>
              <a:rPr sz="1250" b="0" i="0">
                <a:solidFill>
                  <a:srgbClr val="1C2330"/>
                </a:solidFill>
                <a:latin typeface="Segoe UI"/>
              </a:rPr>
              <a:t>clusters inherit these shapes - which is why the same algorithm gives different groups.</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Choosing a metric is choosing what shape 'nearby' has.</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05</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When and Why the
Choice of Distance
Matters</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B42318"/>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The scaling pitfall - and how to fix it</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A worked demonstration: same data, opposite answers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The curse of dimensionality</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A decision guide for choosing a metric</a:t>
            </a:r>
          </a:p>
        </p:txBody>
      </p:sp>
      <p:sp>
        <p:nvSpPr>
          <p:cNvPr id="9" name="Rounded Rectangle 8"/>
          <p:cNvSpPr/>
          <p:nvPr/>
        </p:nvSpPr>
        <p:spPr>
          <a:xfrm>
            <a:off x="914400"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1 · Paradigms</a:t>
            </a:r>
          </a:p>
        </p:txBody>
      </p:sp>
      <p:sp>
        <p:nvSpPr>
          <p:cNvPr id="10" name="Rounded Rectangle 9"/>
          <p:cNvSpPr/>
          <p:nvPr/>
        </p:nvSpPr>
        <p:spPr>
          <a:xfrm>
            <a:off x="2999232"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2 · Formulation</a:t>
            </a:r>
          </a:p>
        </p:txBody>
      </p:sp>
      <p:sp>
        <p:nvSpPr>
          <p:cNvPr id="11" name="Rounded Rectangle 10"/>
          <p:cNvSpPr/>
          <p:nvPr/>
        </p:nvSpPr>
        <p:spPr>
          <a:xfrm>
            <a:off x="5084064"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3 · Use cases</a:t>
            </a:r>
          </a:p>
        </p:txBody>
      </p:sp>
      <p:sp>
        <p:nvSpPr>
          <p:cNvPr id="12" name="Rounded Rectangle 11"/>
          <p:cNvSpPr/>
          <p:nvPr/>
        </p:nvSpPr>
        <p:spPr>
          <a:xfrm>
            <a:off x="7168896" y="5998464"/>
            <a:ext cx="1993392" cy="408188"/>
          </a:xfrm>
          <a:prstGeom prst="roundRect">
            <a:avLst>
              <a:gd name="adj" fmla="val 14000"/>
            </a:avLst>
          </a:prstGeom>
          <a:solidFill>
            <a:srgbClr val="183C60"/>
          </a:solidFill>
          <a:ln w="2032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0" i="0">
                <a:solidFill>
                  <a:srgbClr val="AAC3DC"/>
                </a:solidFill>
                <a:latin typeface="Segoe UI"/>
              </a:rPr>
              <a:t>4 · Metrics</a:t>
            </a:r>
          </a:p>
        </p:txBody>
      </p:sp>
      <p:sp>
        <p:nvSpPr>
          <p:cNvPr id="13" name="Rounded Rectangle 12"/>
          <p:cNvSpPr/>
          <p:nvPr/>
        </p:nvSpPr>
        <p:spPr>
          <a:xfrm>
            <a:off x="9253728" y="5998464"/>
            <a:ext cx="1993392" cy="408188"/>
          </a:xfrm>
          <a:prstGeom prst="roundRect">
            <a:avLst>
              <a:gd name="adj" fmla="val 14000"/>
            </a:avLst>
          </a:prstGeom>
          <a:solidFill>
            <a:srgbClr val="ED771F"/>
          </a:solidFill>
          <a:ln w="20320">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5000"/>
              </a:lnSpc>
              <a:spcBef>
                <a:spcPts val="0"/>
              </a:spcBef>
              <a:spcAft>
                <a:spcPts val="0"/>
              </a:spcAft>
            </a:pPr>
            <a:r>
              <a:rPr sz="1000" b="1" i="0">
                <a:solidFill>
                  <a:srgbClr val="FFFFFF"/>
                </a:solidFill>
                <a:latin typeface="Segoe UI Semibold"/>
              </a:rPr>
              <a:t>5 · Why it matters</a:t>
            </a:r>
          </a:p>
        </p:txBody>
      </p:sp>
      <p:sp>
        <p:nvSpPr>
          <p:cNvPr id="14" name="TextBox 13"/>
          <p:cNvSpPr txBox="1"/>
          <p:nvPr/>
        </p:nvSpPr>
        <p:spPr>
          <a:xfrm>
            <a:off x="914400" y="6446154"/>
            <a:ext cx="103327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96B2D0"/>
                </a:solidFill>
                <a:latin typeface="Segoe UI"/>
              </a:rPr>
              <a:t>you are here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1.5 WHY DISTANCE CHOICE MATTERS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200" b="1" i="0">
                <a:solidFill>
                  <a:srgbClr val="FFFFFF"/>
                </a:solidFill>
                <a:latin typeface="Segoe UI Semibold"/>
              </a:rPr>
              <a:t>The Scaling Pitfall - The Most Common Error in This Subject</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37</a:t>
            </a:r>
          </a:p>
        </p:txBody>
      </p:sp>
      <p:sp>
        <p:nvSpPr>
          <p:cNvPr id="11" name="TextBox 10"/>
          <p:cNvSpPr txBox="1"/>
          <p:nvPr/>
        </p:nvSpPr>
        <p:spPr>
          <a:xfrm>
            <a:off x="7757129" y="1792224"/>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RANGE OF EACH FEATURE</a:t>
            </a:r>
          </a:p>
        </p:txBody>
      </p:sp>
      <p:sp>
        <p:nvSpPr>
          <p:cNvPr id="12" name="TextBox 11"/>
          <p:cNvSpPr txBox="1"/>
          <p:nvPr/>
        </p:nvSpPr>
        <p:spPr>
          <a:xfrm>
            <a:off x="7757129" y="2176272"/>
            <a:ext cx="1234440" cy="219456"/>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C2330"/>
                </a:solidFill>
                <a:latin typeface="Segoe UI"/>
              </a:rPr>
              <a:t>age</a:t>
            </a:r>
          </a:p>
        </p:txBody>
      </p:sp>
      <p:sp>
        <p:nvSpPr>
          <p:cNvPr id="13" name="Rounded Rectangle 12"/>
          <p:cNvSpPr/>
          <p:nvPr/>
        </p:nvSpPr>
        <p:spPr>
          <a:xfrm>
            <a:off x="8991569" y="2153960"/>
            <a:ext cx="45720" cy="245790"/>
          </a:xfrm>
          <a:prstGeom prst="roundRect">
            <a:avLst>
              <a:gd name="adj" fmla="val 30000"/>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092153" y="2185415"/>
            <a:ext cx="1371600" cy="201168"/>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586476"/>
                </a:solidFill>
                <a:latin typeface="Segoe UI"/>
              </a:rPr>
              <a:t>52</a:t>
            </a:r>
          </a:p>
        </p:txBody>
      </p:sp>
      <p:sp>
        <p:nvSpPr>
          <p:cNvPr id="15" name="TextBox 14"/>
          <p:cNvSpPr txBox="1"/>
          <p:nvPr/>
        </p:nvSpPr>
        <p:spPr>
          <a:xfrm>
            <a:off x="7757129" y="2633472"/>
            <a:ext cx="1234440" cy="219456"/>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C2330"/>
                </a:solidFill>
                <a:latin typeface="Segoe UI"/>
              </a:rPr>
              <a:t>income</a:t>
            </a:r>
          </a:p>
        </p:txBody>
      </p:sp>
      <p:sp>
        <p:nvSpPr>
          <p:cNvPr id="16" name="Rounded Rectangle 15"/>
          <p:cNvSpPr/>
          <p:nvPr/>
        </p:nvSpPr>
        <p:spPr>
          <a:xfrm>
            <a:off x="8991569" y="2611160"/>
            <a:ext cx="2651760" cy="245790"/>
          </a:xfrm>
          <a:prstGeom prst="roundRect">
            <a:avLst>
              <a:gd name="adj" fmla="val 3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1698193" y="2642615"/>
            <a:ext cx="1371600" cy="201168"/>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586476"/>
                </a:solidFill>
                <a:latin typeface="Segoe UI"/>
              </a:rPr>
              <a:t>2.0M</a:t>
            </a:r>
          </a:p>
        </p:txBody>
      </p:sp>
      <p:sp>
        <p:nvSpPr>
          <p:cNvPr id="18" name="TextBox 17"/>
          <p:cNvSpPr txBox="1"/>
          <p:nvPr/>
        </p:nvSpPr>
        <p:spPr>
          <a:xfrm>
            <a:off x="7757129" y="5248655"/>
            <a:ext cx="393192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B42318"/>
                </a:solidFill>
                <a:latin typeface="Segoe UI"/>
              </a:rPr>
              <a:t>squared: 2,700 vs 4,000,000,000,000</a:t>
            </a:r>
          </a:p>
        </p:txBody>
      </p:sp>
      <p:sp>
        <p:nvSpPr>
          <p:cNvPr id="19" name="Rounded Rectangle 18"/>
          <p:cNvSpPr/>
          <p:nvPr/>
        </p:nvSpPr>
        <p:spPr>
          <a:xfrm>
            <a:off x="502920" y="1792224"/>
            <a:ext cx="6998177" cy="3712463"/>
          </a:xfrm>
          <a:prstGeom prst="roundRect">
            <a:avLst>
              <a:gd name="adj" fmla="val 3500"/>
            </a:avLst>
          </a:prstGeom>
          <a:solidFill>
            <a:srgbClr val="FDE9E7"/>
          </a:solidFill>
          <a:ln w="15875">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010" b="1" i="0">
                <a:solidFill>
                  <a:srgbClr val="B42318"/>
                </a:solidFill>
                <a:latin typeface="Segoe UI Semibold"/>
              </a:rPr>
              <a:t>The setup  </a:t>
            </a:r>
            <a:r>
              <a:rPr sz="1010" b="0" i="0">
                <a:solidFill>
                  <a:srgbClr val="1C2330"/>
                </a:solidFill>
                <a:latin typeface="Segoe UI"/>
              </a:rPr>
              <a:t>you cluster people using two features: HEIGHT in centimetres (range roughly 150-190) and WEIGHT in kilograms (range roughly 45-100).</a:t>
            </a:r>
          </a:p>
          <a:p>
            <a:pPr algn="l">
              <a:lnSpc>
                <a:spcPct val="120000"/>
              </a:lnSpc>
              <a:spcBef>
                <a:spcPts val="670"/>
              </a:spcBef>
              <a:spcAft>
                <a:spcPts val="0"/>
              </a:spcAft>
            </a:pPr>
            <a:r>
              <a:rPr sz="1010" b="1" i="0">
                <a:solidFill>
                  <a:srgbClr val="B42318"/>
                </a:solidFill>
                <a:latin typeface="Segoe UI Semibold"/>
              </a:rPr>
              <a:t>What you assume  </a:t>
            </a:r>
            <a:r>
              <a:rPr sz="1010" b="0" i="0">
                <a:solidFill>
                  <a:srgbClr val="1C2330"/>
                </a:solidFill>
                <a:latin typeface="Segoe UI"/>
              </a:rPr>
              <a:t>both features contribute equally to the distance. It feels fair - one feature each.</a:t>
            </a:r>
          </a:p>
          <a:p>
            <a:pPr algn="l">
              <a:lnSpc>
                <a:spcPct val="120000"/>
              </a:lnSpc>
              <a:spcBef>
                <a:spcPts val="670"/>
              </a:spcBef>
              <a:spcAft>
                <a:spcPts val="0"/>
              </a:spcAft>
            </a:pPr>
            <a:r>
              <a:rPr sz="1010" b="1" i="0">
                <a:solidFill>
                  <a:srgbClr val="B42318"/>
                </a:solidFill>
                <a:latin typeface="Segoe UI Semibold"/>
              </a:rPr>
              <a:t>What actually happens  </a:t>
            </a:r>
            <a:r>
              <a:rPr sz="1010" b="0" i="0">
                <a:solidFill>
                  <a:srgbClr val="1C2330"/>
                </a:solidFill>
                <a:latin typeface="Segoe UI"/>
              </a:rPr>
              <a:t>height varies over ~40 units, weight over ~55. Both contribute, but not equally - and if one were in MILLIMETRES the imbalance becomes enormous.</a:t>
            </a:r>
          </a:p>
          <a:p>
            <a:pPr algn="l">
              <a:lnSpc>
                <a:spcPct val="120000"/>
              </a:lnSpc>
              <a:spcBef>
                <a:spcPts val="670"/>
              </a:spcBef>
              <a:spcAft>
                <a:spcPts val="0"/>
              </a:spcAft>
            </a:pPr>
            <a:r>
              <a:rPr sz="1010" b="1" i="0">
                <a:solidFill>
                  <a:srgbClr val="B42318"/>
                </a:solidFill>
                <a:latin typeface="Segoe UI Semibold"/>
              </a:rPr>
              <a:t>The extreme version  </a:t>
            </a:r>
            <a:r>
              <a:rPr sz="1010" b="0" i="0">
                <a:solidFill>
                  <a:srgbClr val="1C2330"/>
                </a:solidFill>
                <a:latin typeface="Segoe UI"/>
              </a:rPr>
              <a:t>cluster customers by AGE (18-70) and INCOME (20,000-2,000,000). Income spans a range 30,000 times larger. Age contributes essentially nothing to the distance.</a:t>
            </a:r>
          </a:p>
          <a:p>
            <a:pPr algn="l">
              <a:lnSpc>
                <a:spcPct val="120000"/>
              </a:lnSpc>
              <a:spcBef>
                <a:spcPts val="670"/>
              </a:spcBef>
              <a:spcAft>
                <a:spcPts val="0"/>
              </a:spcAft>
            </a:pPr>
            <a:r>
              <a:rPr sz="1010" b="1" i="0">
                <a:solidFill>
                  <a:srgbClr val="B42318"/>
                </a:solidFill>
                <a:latin typeface="Segoe UI Semibold"/>
              </a:rPr>
              <a:t>The consequence  </a:t>
            </a:r>
            <a:r>
              <a:rPr sz="1010" b="0" i="0">
                <a:solidFill>
                  <a:srgbClr val="1C2330"/>
                </a:solidFill>
                <a:latin typeface="Segoe UI"/>
              </a:rPr>
              <a:t>your 'customer segments' are income bands wearing a disguise. Age is in the model and has no influence whatsoever.</a:t>
            </a:r>
          </a:p>
          <a:p>
            <a:pPr algn="l">
              <a:lnSpc>
                <a:spcPct val="120000"/>
              </a:lnSpc>
              <a:spcBef>
                <a:spcPts val="670"/>
              </a:spcBef>
              <a:spcAft>
                <a:spcPts val="0"/>
              </a:spcAft>
            </a:pPr>
            <a:r>
              <a:rPr sz="1010" b="1" i="0">
                <a:solidFill>
                  <a:srgbClr val="B42318"/>
                </a:solidFill>
                <a:latin typeface="Segoe UI Semibold"/>
              </a:rPr>
              <a:t>Why it is dangerous  </a:t>
            </a:r>
            <a:r>
              <a:rPr sz="1010" b="0" i="0">
                <a:solidFill>
                  <a:srgbClr val="1C2330"/>
                </a:solidFill>
                <a:latin typeface="Segoe UI"/>
              </a:rPr>
              <a:t>nothing errors. Nothing warns you. The code runs, the clusters look plausible, and the conclusion is wrong.</a:t>
            </a:r>
          </a:p>
        </p:txBody>
      </p:sp>
      <p:sp>
        <p:nvSpPr>
          <p:cNvPr id="20" name="Rectangle 19"/>
          <p:cNvSpPr/>
          <p:nvPr/>
        </p:nvSpPr>
        <p:spPr>
          <a:xfrm>
            <a:off x="502920" y="1792224"/>
            <a:ext cx="6998177" cy="420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04088" y="1883664"/>
            <a:ext cx="6540977"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COMMON PITFALL   ·   </a:t>
            </a:r>
            <a:r>
              <a:rPr sz="1400" b="1" i="0">
                <a:solidFill>
                  <a:srgbClr val="FFFFFF"/>
                </a:solidFill>
                <a:latin typeface="Segoe UI Semibold"/>
              </a:rPr>
              <a:t>Unequal ranges mean unequal influence - silently</a:t>
            </a:r>
          </a:p>
        </p:txBody>
      </p:sp>
      <p:sp>
        <p:nvSpPr>
          <p:cNvPr id="22" name="Rounded Rectangle 21"/>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PREDICT   </a:t>
            </a:r>
            <a:r>
              <a:rPr sz="1350" b="0" i="0">
                <a:solidFill>
                  <a:srgbClr val="1C2330"/>
                </a:solidFill>
                <a:latin typeface="Segoe UI"/>
              </a:rPr>
              <a:t>Unscaled, what percentage of the distance does age contribute? Write a number.</a:t>
            </a:r>
          </a:p>
        </p:txBody>
      </p:sp>
      <p:sp>
        <p:nvSpPr>
          <p:cNvPr id="23" name="Rectangle 22"/>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1.5 WHY DISTANCE CHOICE MATTERS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Fix: Put Every Feature on the Same Scale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38</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Standardise before you compute distances. This is not optional polish - it decides your answer.</a:t>
            </a:r>
          </a:p>
        </p:txBody>
      </p:sp>
      <p:sp>
        <p:nvSpPr>
          <p:cNvPr id="12" name="Rounded Rectangle 11"/>
          <p:cNvSpPr/>
          <p:nvPr/>
        </p:nvSpPr>
        <p:spPr>
          <a:xfrm>
            <a:off x="502920" y="2249424"/>
            <a:ext cx="7702265" cy="1249679"/>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80"/>
              </a:spcAft>
            </a:pPr>
            <a:r>
              <a:rPr sz="1010" b="1" i="0">
                <a:solidFill>
                  <a:srgbClr val="5C2D91"/>
                </a:solidFill>
                <a:latin typeface="Segoe UI Semibold"/>
              </a:rPr>
              <a:t>STANDARDISATION (Z-SCORE) - THE USUAL DEFAULT</a:t>
            </a:r>
          </a:p>
          <a:p>
            <a:pPr algn="l">
              <a:lnSpc>
                <a:spcPct val="115000"/>
              </a:lnSpc>
              <a:spcBef>
                <a:spcPts val="0"/>
              </a:spcBef>
              <a:spcAft>
                <a:spcPts val="0"/>
              </a:spcAft>
            </a:pPr>
            <a:r>
              <a:rPr sz="1839" b="1" i="0">
                <a:solidFill>
                  <a:srgbClr val="182B49"/>
                </a:solidFill>
                <a:latin typeface="Cambria Math"/>
              </a:rPr>
              <a:t>z = (x − μ) / σ</a:t>
            </a:r>
          </a:p>
          <a:p>
            <a:pPr algn="l">
              <a:lnSpc>
                <a:spcPct val="114000"/>
              </a:lnSpc>
              <a:spcBef>
                <a:spcPts val="580"/>
              </a:spcBef>
              <a:spcAft>
                <a:spcPts val="0"/>
              </a:spcAft>
            </a:pPr>
            <a:r>
              <a:rPr sz="1210" b="0" i="0">
                <a:solidFill>
                  <a:srgbClr val="586476"/>
                </a:solidFill>
                <a:latin typeface="Segoe UI"/>
              </a:rPr>
              <a:t>Each feature ends with mean 0 and standard deviation 1. Keeps outliers visible. Use unless you have a reason not to.</a:t>
            </a:r>
          </a:p>
        </p:txBody>
      </p:sp>
      <p:sp>
        <p:nvSpPr>
          <p:cNvPr id="13" name="Rectangle 12"/>
          <p:cNvSpPr/>
          <p:nvPr/>
        </p:nvSpPr>
        <p:spPr>
          <a:xfrm>
            <a:off x="502920" y="2249424"/>
            <a:ext cx="68580" cy="1249679"/>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502920" y="3663695"/>
            <a:ext cx="7702265" cy="1249679"/>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580"/>
              </a:spcAft>
            </a:pPr>
            <a:r>
              <a:rPr sz="1010" b="1" i="0">
                <a:solidFill>
                  <a:srgbClr val="5C2D91"/>
                </a:solidFill>
                <a:latin typeface="Segoe UI Semibold"/>
              </a:rPr>
              <a:t>MIN-MAX NORMALISATION</a:t>
            </a:r>
          </a:p>
          <a:p>
            <a:pPr algn="l">
              <a:lnSpc>
                <a:spcPct val="115000"/>
              </a:lnSpc>
              <a:spcBef>
                <a:spcPts val="0"/>
              </a:spcBef>
              <a:spcAft>
                <a:spcPts val="0"/>
              </a:spcAft>
            </a:pPr>
            <a:r>
              <a:rPr sz="1839" b="1" i="0">
                <a:solidFill>
                  <a:srgbClr val="182B49"/>
                </a:solidFill>
                <a:latin typeface="Cambria Math"/>
              </a:rPr>
              <a:t>x′ = (x − xₘᵢₙ) / (xₘₐₓ − xₘᵢₙ)</a:t>
            </a:r>
          </a:p>
          <a:p>
            <a:pPr algn="l">
              <a:lnSpc>
                <a:spcPct val="114000"/>
              </a:lnSpc>
              <a:spcBef>
                <a:spcPts val="580"/>
              </a:spcBef>
              <a:spcAft>
                <a:spcPts val="0"/>
              </a:spcAft>
            </a:pPr>
            <a:r>
              <a:rPr sz="1210" b="0" i="0">
                <a:solidFill>
                  <a:srgbClr val="586476"/>
                </a:solidFill>
                <a:latin typeface="Segoe UI"/>
              </a:rPr>
              <a:t>Squeezes every feature into [0, 1]. Bounded and intuitive - but one extreme outlier compresses everything else.</a:t>
            </a:r>
          </a:p>
        </p:txBody>
      </p:sp>
      <p:sp>
        <p:nvSpPr>
          <p:cNvPr id="15" name="Rectangle 14"/>
          <p:cNvSpPr/>
          <p:nvPr/>
        </p:nvSpPr>
        <p:spPr>
          <a:xfrm>
            <a:off x="502920" y="3663695"/>
            <a:ext cx="68580" cy="1249679"/>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5077967"/>
            <a:ext cx="7702265" cy="1249679"/>
          </a:xfrm>
          <a:prstGeom prst="roundRect">
            <a:avLst>
              <a:gd name="adj" fmla="val 5000"/>
            </a:avLst>
          </a:prstGeom>
          <a:solidFill>
            <a:srgbClr val="F0EAFA"/>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237744" tIns="146304" rIns="201168" bIns="0" rtlCol="0" anchor="ctr"/>
          <a:lstStyle/>
          <a:p>
            <a:pPr algn="l">
              <a:lnSpc>
                <a:spcPct val="115000"/>
              </a:lnSpc>
              <a:spcBef>
                <a:spcPts val="0"/>
              </a:spcBef>
              <a:spcAft>
                <a:spcPts val="600"/>
              </a:spcAft>
            </a:pPr>
            <a:r>
              <a:rPr sz="1050" b="1" i="0">
                <a:solidFill>
                  <a:srgbClr val="5C2D91"/>
                </a:solidFill>
                <a:latin typeface="Segoe UI Semibold"/>
              </a:rPr>
              <a:t>WORKED: INCOME 2,00,000 IN A SET WITH Μ = 5,00,000, Σ = 3,00,000</a:t>
            </a:r>
          </a:p>
          <a:p>
            <a:pPr algn="l">
              <a:lnSpc>
                <a:spcPct val="115000"/>
              </a:lnSpc>
              <a:spcBef>
                <a:spcPts val="0"/>
              </a:spcBef>
              <a:spcAft>
                <a:spcPts val="0"/>
              </a:spcAft>
            </a:pPr>
            <a:r>
              <a:rPr sz="1900" b="1" i="0">
                <a:solidFill>
                  <a:srgbClr val="182B49"/>
                </a:solidFill>
                <a:latin typeface="Cambria Math"/>
              </a:rPr>
              <a:t>z = (200000 − 500000) / 300000 = −1.0</a:t>
            </a:r>
          </a:p>
          <a:p>
            <a:pPr algn="l">
              <a:lnSpc>
                <a:spcPct val="114000"/>
              </a:lnSpc>
              <a:spcBef>
                <a:spcPts val="600"/>
              </a:spcBef>
              <a:spcAft>
                <a:spcPts val="0"/>
              </a:spcAft>
            </a:pPr>
            <a:r>
              <a:rPr sz="1250" b="0" i="0">
                <a:solidFill>
                  <a:srgbClr val="586476"/>
                </a:solidFill>
                <a:latin typeface="Segoe UI"/>
              </a:rPr>
              <a:t>One standard deviation below the mean - now directly comparable with a z-score for age.</a:t>
            </a:r>
          </a:p>
        </p:txBody>
      </p:sp>
      <p:sp>
        <p:nvSpPr>
          <p:cNvPr id="17" name="Rectangle 16"/>
          <p:cNvSpPr/>
          <p:nvPr/>
        </p:nvSpPr>
        <p:spPr>
          <a:xfrm>
            <a:off x="502920" y="5077967"/>
            <a:ext cx="68580" cy="1249679"/>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8442929" y="5063398"/>
            <a:ext cx="3246120" cy="1264249"/>
          </a:xfrm>
          <a:prstGeom prst="roundRect">
            <a:avLst>
              <a:gd name="adj" fmla="val 8000"/>
            </a:avLst>
          </a:prstGeom>
          <a:solidFill>
            <a:srgbClr val="F0ECF5"/>
          </a:solidFill>
          <a:ln w="2413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lnSpc>
                <a:spcPct val="115000"/>
              </a:lnSpc>
              <a:spcBef>
                <a:spcPts val="0"/>
              </a:spcBef>
              <a:spcAft>
                <a:spcPts val="600"/>
              </a:spcAft>
            </a:pPr>
            <a:r>
              <a:rPr sz="1000" b="1" i="0">
                <a:solidFill>
                  <a:srgbClr val="5C2D91"/>
                </a:solidFill>
                <a:latin typeface="Segoe UI Semibold"/>
              </a:rPr>
              <a:t>STANDARDISATION</a:t>
            </a:r>
          </a:p>
          <a:p>
            <a:pPr algn="ctr">
              <a:lnSpc>
                <a:spcPct val="115000"/>
              </a:lnSpc>
              <a:spcBef>
                <a:spcPts val="0"/>
              </a:spcBef>
              <a:spcAft>
                <a:spcPts val="0"/>
              </a:spcAft>
            </a:pPr>
            <a:r>
              <a:rPr sz="1600" b="1" i="0">
                <a:solidFill>
                  <a:srgbClr val="182B49"/>
                </a:solidFill>
                <a:latin typeface="Cambria Math"/>
              </a:rPr>
              <a:t>z = (x − μ) / σ</a:t>
            </a:r>
          </a:p>
          <a:p>
            <a:pPr algn="ctr">
              <a:lnSpc>
                <a:spcPct val="112000"/>
              </a:lnSpc>
              <a:spcBef>
                <a:spcPts val="600"/>
              </a:spcBef>
              <a:spcAft>
                <a:spcPts val="0"/>
              </a:spcAft>
            </a:pPr>
            <a:r>
              <a:rPr sz="950" b="0" i="0">
                <a:solidFill>
                  <a:srgbClr val="586476"/>
                </a:solidFill>
                <a:latin typeface="Segoe UI"/>
              </a:rPr>
              <a:t>how many standard deviations from normal —
and that is DIMENSIONLESS</a:t>
            </a:r>
          </a:p>
        </p:txBody>
      </p:sp>
      <p:sp>
        <p:nvSpPr>
          <p:cNvPr id="19" name="Rounded Rectangle 18"/>
          <p:cNvSpPr/>
          <p:nvPr/>
        </p:nvSpPr>
        <p:spPr>
          <a:xfrm>
            <a:off x="8442929" y="2249424"/>
            <a:ext cx="3246120" cy="2691627"/>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182880" bIns="0" rtlCol="0" anchor="t"/>
          <a:lstStyle/>
          <a:p>
            <a:pPr algn="l">
              <a:lnSpc>
                <a:spcPct val="115000"/>
              </a:lnSpc>
              <a:spcBef>
                <a:spcPts val="0"/>
              </a:spcBef>
              <a:spcAft>
                <a:spcPts val="540"/>
              </a:spcAft>
            </a:pPr>
            <a:r>
              <a:rPr sz="750" b="1" i="0">
                <a:solidFill>
                  <a:srgbClr val="0096C7"/>
                </a:solidFill>
                <a:latin typeface="Segoe UI Semibold"/>
              </a:rPr>
              <a:t>WHERE, AND WHEN TO USE IT</a:t>
            </a:r>
          </a:p>
          <a:p>
            <a:pPr algn="l">
              <a:lnSpc>
                <a:spcPct val="114000"/>
              </a:lnSpc>
              <a:spcBef>
                <a:spcPts val="480"/>
              </a:spcBef>
              <a:spcAft>
                <a:spcPts val="0"/>
              </a:spcAft>
            </a:pPr>
            <a:r>
              <a:rPr sz="750" b="1" i="0">
                <a:solidFill>
                  <a:srgbClr val="182B49"/>
                </a:solidFill>
                <a:latin typeface="Segoe UI Semibold"/>
              </a:rPr>
              <a:t>μ  </a:t>
            </a:r>
            <a:r>
              <a:rPr sz="750" b="0" i="0">
                <a:solidFill>
                  <a:srgbClr val="1C2330"/>
                </a:solidFill>
                <a:latin typeface="Segoe UI"/>
              </a:rPr>
              <a:t>the mean of that feature across all objects</a:t>
            </a:r>
          </a:p>
          <a:p>
            <a:pPr algn="l">
              <a:lnSpc>
                <a:spcPct val="114000"/>
              </a:lnSpc>
              <a:spcBef>
                <a:spcPts val="480"/>
              </a:spcBef>
              <a:spcAft>
                <a:spcPts val="0"/>
              </a:spcAft>
            </a:pPr>
            <a:r>
              <a:rPr sz="750" b="1" i="0">
                <a:solidFill>
                  <a:srgbClr val="182B49"/>
                </a:solidFill>
                <a:latin typeface="Segoe UI Semibold"/>
              </a:rPr>
              <a:t>σ  </a:t>
            </a:r>
            <a:r>
              <a:rPr sz="750" b="0" i="0">
                <a:solidFill>
                  <a:srgbClr val="1C2330"/>
                </a:solidFill>
                <a:latin typeface="Segoe UI"/>
              </a:rPr>
              <a:t>the standard deviation of that feature</a:t>
            </a:r>
          </a:p>
          <a:p>
            <a:pPr algn="l">
              <a:lnSpc>
                <a:spcPct val="114000"/>
              </a:lnSpc>
              <a:spcBef>
                <a:spcPts val="480"/>
              </a:spcBef>
              <a:spcAft>
                <a:spcPts val="0"/>
              </a:spcAft>
            </a:pPr>
            <a:r>
              <a:rPr sz="750" b="1" i="0">
                <a:solidFill>
                  <a:srgbClr val="182B49"/>
                </a:solidFill>
                <a:latin typeface="Segoe UI Semibold"/>
              </a:rPr>
              <a:t>After z-scoring  </a:t>
            </a:r>
            <a:r>
              <a:rPr sz="750" b="0" i="0">
                <a:solidFill>
                  <a:srgbClr val="1C2330"/>
                </a:solidFill>
                <a:latin typeface="Segoe UI"/>
              </a:rPr>
              <a:t>every feature has mean 0, std 1 - so all features get equal say</a:t>
            </a:r>
          </a:p>
          <a:p>
            <a:pPr algn="l">
              <a:lnSpc>
                <a:spcPct val="114000"/>
              </a:lnSpc>
              <a:spcBef>
                <a:spcPts val="480"/>
              </a:spcBef>
              <a:spcAft>
                <a:spcPts val="0"/>
              </a:spcAft>
            </a:pPr>
            <a:r>
              <a:rPr sz="750" b="1" i="0">
                <a:solidFill>
                  <a:srgbClr val="182B49"/>
                </a:solidFill>
                <a:latin typeface="Segoe UI Semibold"/>
              </a:rPr>
              <a:t>Z-score vs min-max  </a:t>
            </a:r>
            <a:r>
              <a:rPr sz="750" b="0" i="0">
                <a:solidFill>
                  <a:srgbClr val="1C2330"/>
                </a:solidFill>
                <a:latin typeface="Segoe UI"/>
              </a:rPr>
              <a:t>z-score keeps outliers visible; min-max lets one outlier squash everything else</a:t>
            </a:r>
          </a:p>
          <a:p>
            <a:pPr algn="l">
              <a:lnSpc>
                <a:spcPct val="114000"/>
              </a:lnSpc>
              <a:spcBef>
                <a:spcPts val="480"/>
              </a:spcBef>
              <a:spcAft>
                <a:spcPts val="0"/>
              </a:spcAft>
            </a:pPr>
            <a:r>
              <a:rPr sz="750" b="1" i="0">
                <a:solidFill>
                  <a:srgbClr val="182B49"/>
                </a:solidFill>
                <a:latin typeface="Segoe UI Semibold"/>
              </a:rPr>
              <a:t>Do NOT scale  </a:t>
            </a:r>
            <a:r>
              <a:rPr sz="750" b="0" i="0">
                <a:solidFill>
                  <a:srgbClr val="1C2330"/>
                </a:solidFill>
                <a:latin typeface="Segoe UI"/>
              </a:rPr>
              <a:t>when features are already comparable (all counts of the same kind) or when relative magnitude IS the signal</a:t>
            </a:r>
          </a:p>
          <a:p>
            <a:pPr algn="l">
              <a:lnSpc>
                <a:spcPct val="114000"/>
              </a:lnSpc>
              <a:spcBef>
                <a:spcPts val="480"/>
              </a:spcBef>
              <a:spcAft>
                <a:spcPts val="0"/>
              </a:spcAft>
            </a:pPr>
            <a:r>
              <a:rPr sz="750" b="1" i="0">
                <a:solidFill>
                  <a:srgbClr val="182B49"/>
                </a:solidFill>
                <a:latin typeface="Segoe UI Semibold"/>
              </a:rPr>
              <a:t>Order matters  </a:t>
            </a:r>
            <a:r>
              <a:rPr sz="750" b="0" i="0">
                <a:solidFill>
                  <a:srgbClr val="1C2330"/>
                </a:solidFill>
                <a:latin typeface="Segoe UI"/>
              </a:rPr>
              <a:t>fit the scaler, then compute distances. Never scale after clustering.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HANDS-ON DEMONSTRATION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Demonstration: Same Data, Unscaled vs Scaled</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39</a:t>
            </a:r>
          </a:p>
        </p:txBody>
      </p:sp>
      <p:sp>
        <p:nvSpPr>
          <p:cNvPr id="11" name="Rounded Rectangle 10"/>
          <p:cNvSpPr/>
          <p:nvPr/>
        </p:nvSpPr>
        <p:spPr>
          <a:xfrm>
            <a:off x="502920" y="5303520"/>
            <a:ext cx="1778507" cy="731520"/>
          </a:xfrm>
          <a:prstGeom prst="roundRect">
            <a:avLst>
              <a:gd name="adj" fmla="val 9000"/>
            </a:avLst>
          </a:prstGeom>
          <a:solidFill>
            <a:srgbClr val="F4E0DE"/>
          </a:solidFill>
          <a:ln w="2413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229"/>
              </a:spcAft>
            </a:pPr>
            <a:r>
              <a:rPr sz="800" b="1" i="0">
                <a:solidFill>
                  <a:srgbClr val="B42318"/>
                </a:solidFill>
                <a:latin typeface="Segoe UI Semibold"/>
              </a:rPr>
              <a:t>UNSCALED</a:t>
            </a:r>
          </a:p>
          <a:p>
            <a:pPr algn="ctr">
              <a:lnSpc>
                <a:spcPct val="115000"/>
              </a:lnSpc>
              <a:spcBef>
                <a:spcPts val="0"/>
              </a:spcBef>
              <a:spcAft>
                <a:spcPts val="229"/>
              </a:spcAft>
            </a:pPr>
            <a:r>
              <a:rPr sz="1520" b="1" i="0">
                <a:solidFill>
                  <a:srgbClr val="182B49"/>
                </a:solidFill>
                <a:latin typeface="Segoe UI Semibold"/>
              </a:rPr>
              <a:t>R wins</a:t>
            </a:r>
          </a:p>
          <a:p>
            <a:pPr algn="ctr">
              <a:lnSpc>
                <a:spcPct val="110000"/>
              </a:lnSpc>
              <a:spcBef>
                <a:spcPts val="0"/>
              </a:spcBef>
              <a:spcAft>
                <a:spcPts val="0"/>
              </a:spcAft>
            </a:pPr>
            <a:r>
              <a:rPr sz="750" b="0" i="0">
                <a:solidFill>
                  <a:srgbClr val="586476"/>
                </a:solidFill>
                <a:latin typeface="Segoe UI"/>
              </a:rPr>
              <a:t>by a factor of about 30</a:t>
            </a:r>
          </a:p>
        </p:txBody>
      </p:sp>
      <p:sp>
        <p:nvSpPr>
          <p:cNvPr id="12" name="Rounded Rectangle 11"/>
          <p:cNvSpPr/>
          <p:nvPr/>
        </p:nvSpPr>
        <p:spPr>
          <a:xfrm>
            <a:off x="2427732" y="5303520"/>
            <a:ext cx="1778507" cy="731520"/>
          </a:xfrm>
          <a:prstGeom prst="roundRect">
            <a:avLst>
              <a:gd name="adj" fmla="val 9000"/>
            </a:avLst>
          </a:prstGeom>
          <a:solidFill>
            <a:srgbClr val="DDECE4"/>
          </a:solidFill>
          <a:ln w="2413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lnSpc>
                <a:spcPct val="115000"/>
              </a:lnSpc>
              <a:spcBef>
                <a:spcPts val="0"/>
              </a:spcBef>
              <a:spcAft>
                <a:spcPts val="229"/>
              </a:spcAft>
            </a:pPr>
            <a:r>
              <a:rPr sz="800" b="1" i="0">
                <a:solidFill>
                  <a:srgbClr val="107C41"/>
                </a:solidFill>
                <a:latin typeface="Segoe UI Semibold"/>
              </a:rPr>
              <a:t>STANDARDISED</a:t>
            </a:r>
          </a:p>
          <a:p>
            <a:pPr algn="ctr">
              <a:lnSpc>
                <a:spcPct val="115000"/>
              </a:lnSpc>
              <a:spcBef>
                <a:spcPts val="0"/>
              </a:spcBef>
              <a:spcAft>
                <a:spcPts val="229"/>
              </a:spcAft>
            </a:pPr>
            <a:r>
              <a:rPr sz="1520" b="1" i="0">
                <a:solidFill>
                  <a:srgbClr val="182B49"/>
                </a:solidFill>
                <a:latin typeface="Segoe UI Semibold"/>
              </a:rPr>
              <a:t>a tie</a:t>
            </a:r>
          </a:p>
          <a:p>
            <a:pPr algn="ctr">
              <a:lnSpc>
                <a:spcPct val="110000"/>
              </a:lnSpc>
              <a:spcBef>
                <a:spcPts val="0"/>
              </a:spcBef>
              <a:spcAft>
                <a:spcPts val="0"/>
              </a:spcAft>
            </a:pPr>
            <a:r>
              <a:rPr sz="750" b="0" i="0">
                <a:solidFill>
                  <a:srgbClr val="586476"/>
                </a:solidFill>
                <a:latin typeface="Segoe UI"/>
              </a:rPr>
              <a:t>both ≈ 2.00</a:t>
            </a:r>
          </a:p>
        </p:txBody>
      </p:sp>
      <p:sp>
        <p:nvSpPr>
          <p:cNvPr id="13" name="TextBox 12"/>
          <p:cNvSpPr txBox="1"/>
          <p:nvPr/>
        </p:nvSpPr>
        <p:spPr>
          <a:xfrm>
            <a:off x="502920" y="6071616"/>
            <a:ext cx="3703320" cy="237744"/>
          </a:xfrm>
          <a:prstGeom prst="rect">
            <a:avLst/>
          </a:prstGeom>
          <a:noFill/>
        </p:spPr>
        <p:txBody>
          <a:bodyPr wrap="square" lIns="0" tIns="0" rIns="0" bIns="0" anchor="t">
            <a:spAutoFit/>
          </a:bodyPr>
          <a:lstStyle/>
          <a:p>
            <a:pPr algn="ctr">
              <a:lnSpc>
                <a:spcPct val="115000"/>
              </a:lnSpc>
              <a:spcBef>
                <a:spcPts val="0"/>
              </a:spcBef>
              <a:spcAft>
                <a:spcPts val="0"/>
              </a:spcAft>
            </a:pPr>
            <a:r>
              <a:rPr sz="950" b="0" i="1">
                <a:solidFill>
                  <a:srgbClr val="586476"/>
                </a:solidFill>
                <a:latin typeface="Segoe UI"/>
              </a:rPr>
              <a:t>only the units changed</a:t>
            </a:r>
          </a:p>
        </p:txBody>
      </p:sp>
      <p:sp>
        <p:nvSpPr>
          <p:cNvPr id="14" name="Rounded Rectangle 13"/>
          <p:cNvSpPr/>
          <p:nvPr/>
        </p:nvSpPr>
        <p:spPr>
          <a:xfrm>
            <a:off x="502920" y="1792224"/>
            <a:ext cx="3703320" cy="1730776"/>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19456" tIns="219456" rIns="182880" bIns="0" rtlCol="0" anchor="t"/>
          <a:lstStyle/>
          <a:p>
            <a:pPr algn="l">
              <a:lnSpc>
                <a:spcPct val="115000"/>
              </a:lnSpc>
              <a:spcBef>
                <a:spcPts val="0"/>
              </a:spcBef>
              <a:spcAft>
                <a:spcPts val="700"/>
              </a:spcAft>
            </a:pPr>
            <a:r>
              <a:rPr sz="750" b="1" i="0">
                <a:solidFill>
                  <a:srgbClr val="0096C7"/>
                </a:solidFill>
                <a:latin typeface="Segoe UI Semibold"/>
              </a:rPr>
              <a:t>THE PROBLEM</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Customer P = (age 25, income 3,00,000)</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Customer Q = (age 26, income 9,00,000)</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Customer R = (age 55, income 3,20,000)</a:t>
            </a:r>
          </a:p>
          <a:p>
            <a:pPr marL="237744" indent="-237744" algn="l">
              <a:lnSpc>
                <a:spcPct val="120000"/>
              </a:lnSpc>
              <a:spcBef>
                <a:spcPts val="560"/>
              </a:spcBef>
              <a:spcAft>
                <a:spcPts val="0"/>
              </a:spcAft>
              <a:buClr>
                <a:srgbClr val="F47D35"/>
              </a:buClr>
              <a:buSzPct val="86000"/>
              <a:buFont typeface="Arial"/>
              <a:buChar char="▪"/>
            </a:pPr>
            <a:r>
              <a:rPr sz="910" b="0" i="0">
                <a:solidFill>
                  <a:srgbClr val="DEE8F4"/>
                </a:solidFill>
                <a:latin typeface="Segoe UI"/>
              </a:rPr>
              <a:t>Question: which customer is P more similar to - Q or R?</a:t>
            </a:r>
          </a:p>
        </p:txBody>
      </p:sp>
      <p:sp>
        <p:nvSpPr>
          <p:cNvPr id="15" name="Rounded Rectangle 14"/>
          <p:cNvSpPr/>
          <p:nvPr/>
        </p:nvSpPr>
        <p:spPr>
          <a:xfrm>
            <a:off x="502920" y="3705880"/>
            <a:ext cx="3703320" cy="1414759"/>
          </a:xfrm>
          <a:prstGeom prst="roundRect">
            <a:avLst>
              <a:gd name="adj" fmla="val 5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182880" bIns="0" rtlCol="0" anchor="t"/>
          <a:lstStyle/>
          <a:p>
            <a:pPr algn="l">
              <a:lnSpc>
                <a:spcPct val="115000"/>
              </a:lnSpc>
              <a:spcBef>
                <a:spcPts val="0"/>
              </a:spcBef>
              <a:spcAft>
                <a:spcPts val="480"/>
              </a:spcAft>
            </a:pPr>
            <a:r>
              <a:rPr sz="750" b="1" i="0">
                <a:solidFill>
                  <a:srgbClr val="D97706"/>
                </a:solidFill>
                <a:latin typeface="Segoe UI Semibold"/>
              </a:rPr>
              <a:t>WHY IT MATTERS</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Unscaled, a 30-year age gap counted for less than a 20,000 income gap</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After scaling, a 2σ difference in either feature carries equal weight</a:t>
            </a:r>
          </a:p>
          <a:p>
            <a:pPr marL="237744" indent="-237744" algn="l">
              <a:lnSpc>
                <a:spcPct val="116000"/>
              </a:lnSpc>
              <a:spcBef>
                <a:spcPts val="360"/>
              </a:spcBef>
              <a:spcAft>
                <a:spcPts val="0"/>
              </a:spcAft>
              <a:buClr>
                <a:srgbClr val="D97706"/>
              </a:buClr>
              <a:buSzPct val="86000"/>
              <a:buFont typeface="Arial"/>
              <a:buChar char="▪"/>
            </a:pPr>
            <a:r>
              <a:rPr sz="750" b="0" i="0">
                <a:solidFill>
                  <a:srgbClr val="1C2330"/>
                </a:solidFill>
                <a:latin typeface="Segoe UI"/>
              </a:rPr>
              <a:t>Nothing in the code changed - only the units the data was expressed in</a:t>
            </a:r>
          </a:p>
        </p:txBody>
      </p:sp>
      <p:sp>
        <p:nvSpPr>
          <p:cNvPr id="16" name="Rounded Rectangle 15"/>
          <p:cNvSpPr/>
          <p:nvPr/>
        </p:nvSpPr>
        <p:spPr>
          <a:xfrm>
            <a:off x="4443983" y="1792224"/>
            <a:ext cx="7245065" cy="3584447"/>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37744" tIns="219456" rIns="219456" bIns="0" rtlCol="0" anchor="t"/>
          <a:lstStyle/>
          <a:p>
            <a:pPr algn="l">
              <a:lnSpc>
                <a:spcPct val="115000"/>
              </a:lnSpc>
              <a:spcBef>
                <a:spcPts val="0"/>
              </a:spcBef>
              <a:spcAft>
                <a:spcPts val="869"/>
              </a:spcAft>
            </a:pPr>
            <a:r>
              <a:rPr sz="910" b="1" i="0">
                <a:solidFill>
                  <a:srgbClr val="0096C7"/>
                </a:solidFill>
                <a:latin typeface="Segoe UI Semibold"/>
              </a:rPr>
              <a:t>STEP-BY-STEP SOLUTION</a:t>
            </a:r>
          </a:p>
          <a:p>
            <a:pPr algn="l">
              <a:lnSpc>
                <a:spcPct val="120000"/>
              </a:lnSpc>
              <a:spcBef>
                <a:spcPts val="780"/>
              </a:spcBef>
              <a:spcAft>
                <a:spcPts val="0"/>
              </a:spcAft>
            </a:pPr>
            <a:r>
              <a:rPr sz="1170" b="1" i="0">
                <a:solidFill>
                  <a:srgbClr val="182B49"/>
                </a:solidFill>
                <a:latin typeface="Segoe UI Semibold"/>
              </a:rPr>
              <a:t>UNSCALED, Euclidean P→Q  </a:t>
            </a:r>
            <a:r>
              <a:rPr sz="1170" b="0" i="0">
                <a:solidFill>
                  <a:srgbClr val="1C2330"/>
                </a:solidFill>
                <a:latin typeface="Cambria Math"/>
              </a:rPr>
              <a:t>√[(25−26)² + (300000−900000)²] = √[1 + 3.6×10¹¹] ≈ 600,000</a:t>
            </a:r>
          </a:p>
          <a:p>
            <a:pPr algn="l">
              <a:lnSpc>
                <a:spcPct val="120000"/>
              </a:lnSpc>
              <a:spcBef>
                <a:spcPts val="780"/>
              </a:spcBef>
              <a:spcAft>
                <a:spcPts val="0"/>
              </a:spcAft>
            </a:pPr>
            <a:r>
              <a:rPr sz="1170" b="1" i="0">
                <a:solidFill>
                  <a:srgbClr val="182B49"/>
                </a:solidFill>
                <a:latin typeface="Segoe UI Semibold"/>
              </a:rPr>
              <a:t>UNSCALED, Euclidean P→R  </a:t>
            </a:r>
            <a:r>
              <a:rPr sz="1170" b="0" i="0">
                <a:solidFill>
                  <a:srgbClr val="1C2330"/>
                </a:solidFill>
                <a:latin typeface="Cambria Math"/>
              </a:rPr>
              <a:t>√[(25−55)² + (300000−320000)²] = √[900 + 4×10⁸] ≈ 20,000</a:t>
            </a:r>
          </a:p>
          <a:p>
            <a:pPr algn="l">
              <a:lnSpc>
                <a:spcPct val="120000"/>
              </a:lnSpc>
              <a:spcBef>
                <a:spcPts val="780"/>
              </a:spcBef>
              <a:spcAft>
                <a:spcPts val="0"/>
              </a:spcAft>
            </a:pPr>
            <a:r>
              <a:rPr sz="1170" b="1" i="0">
                <a:solidFill>
                  <a:srgbClr val="182B49"/>
                </a:solidFill>
                <a:latin typeface="Segoe UI Semibold"/>
              </a:rPr>
              <a:t>Unscaled verdict  </a:t>
            </a:r>
            <a:r>
              <a:rPr sz="1170" b="0" i="0">
                <a:solidFill>
                  <a:srgbClr val="1C2330"/>
                </a:solidFill>
                <a:latin typeface="Segoe UI"/>
              </a:rPr>
              <a:t>P is far closer to R. Age contributed 900 against hundreds of millions - it was invisible.</a:t>
            </a:r>
          </a:p>
          <a:p>
            <a:pPr algn="l">
              <a:lnSpc>
                <a:spcPct val="120000"/>
              </a:lnSpc>
              <a:spcBef>
                <a:spcPts val="780"/>
              </a:spcBef>
              <a:spcAft>
                <a:spcPts val="0"/>
              </a:spcAft>
            </a:pPr>
            <a:r>
              <a:rPr sz="1170" b="1" i="0">
                <a:solidFill>
                  <a:srgbClr val="182B49"/>
                </a:solidFill>
                <a:latin typeface="Segoe UI Semibold"/>
              </a:rPr>
              <a:t>Now standardise  </a:t>
            </a:r>
            <a:r>
              <a:rPr sz="1170" b="0" i="0">
                <a:solidFill>
                  <a:srgbClr val="1C2330"/>
                </a:solidFill>
                <a:latin typeface="Cambria Math"/>
              </a:rPr>
              <a:t>suppose age has μ=40, σ=15 and income has μ=5,00,000, σ=3,00,000.</a:t>
            </a:r>
          </a:p>
          <a:p>
            <a:pPr algn="l">
              <a:lnSpc>
                <a:spcPct val="120000"/>
              </a:lnSpc>
              <a:spcBef>
                <a:spcPts val="780"/>
              </a:spcBef>
              <a:spcAft>
                <a:spcPts val="0"/>
              </a:spcAft>
            </a:pPr>
            <a:r>
              <a:rPr sz="1170" b="1" i="0">
                <a:solidFill>
                  <a:srgbClr val="182B49"/>
                </a:solidFill>
                <a:latin typeface="Segoe UI Semibold"/>
              </a:rPr>
              <a:t>SCALED P = (−1.00, −0.67)  </a:t>
            </a:r>
            <a:r>
              <a:rPr sz="1170" b="0" i="0">
                <a:solidFill>
                  <a:srgbClr val="1C2330"/>
                </a:solidFill>
                <a:latin typeface="Segoe UI"/>
              </a:rPr>
              <a:t>SCALED Q = (−0.93, 1.33), SCALED R = (1.00, −0.60)</a:t>
            </a:r>
          </a:p>
          <a:p>
            <a:pPr algn="l">
              <a:lnSpc>
                <a:spcPct val="120000"/>
              </a:lnSpc>
              <a:spcBef>
                <a:spcPts val="780"/>
              </a:spcBef>
              <a:spcAft>
                <a:spcPts val="0"/>
              </a:spcAft>
            </a:pPr>
            <a:r>
              <a:rPr sz="1170" b="1" i="0">
                <a:solidFill>
                  <a:srgbClr val="182B49"/>
                </a:solidFill>
                <a:latin typeface="Segoe UI Semibold"/>
              </a:rPr>
              <a:t>SCALED Euclidean P→Q  </a:t>
            </a:r>
            <a:r>
              <a:rPr sz="1170" b="0" i="0">
                <a:solidFill>
                  <a:srgbClr val="1C2330"/>
                </a:solidFill>
                <a:latin typeface="Cambria Math"/>
              </a:rPr>
              <a:t>√[(−1.00+0.93)² + (−0.67−1.33)²] = √[0.005 + 4.00] ≈ 2.00</a:t>
            </a:r>
          </a:p>
          <a:p>
            <a:pPr algn="l">
              <a:lnSpc>
                <a:spcPct val="120000"/>
              </a:lnSpc>
              <a:spcBef>
                <a:spcPts val="780"/>
              </a:spcBef>
              <a:spcAft>
                <a:spcPts val="0"/>
              </a:spcAft>
            </a:pPr>
            <a:r>
              <a:rPr sz="1170" b="1" i="0">
                <a:solidFill>
                  <a:srgbClr val="182B49"/>
                </a:solidFill>
                <a:latin typeface="Segoe UI Semibold"/>
              </a:rPr>
              <a:t>SCALED Euclidean P→R  </a:t>
            </a:r>
            <a:r>
              <a:rPr sz="1170" b="0" i="0">
                <a:solidFill>
                  <a:srgbClr val="1C2330"/>
                </a:solidFill>
                <a:latin typeface="Cambria Math"/>
              </a:rPr>
              <a:t>√[(−1.00−1.00)² + (−0.67+0.60)²] = √[4.00 + 0.005] ≈ 2.00</a:t>
            </a:r>
          </a:p>
          <a:p>
            <a:pPr algn="l">
              <a:lnSpc>
                <a:spcPct val="120000"/>
              </a:lnSpc>
              <a:spcBef>
                <a:spcPts val="780"/>
              </a:spcBef>
              <a:spcAft>
                <a:spcPts val="0"/>
              </a:spcAft>
            </a:pPr>
            <a:r>
              <a:rPr sz="1170" b="1" i="0">
                <a:solidFill>
                  <a:srgbClr val="182B49"/>
                </a:solidFill>
                <a:latin typeface="Segoe UI Semibold"/>
              </a:rPr>
              <a:t>Scaled verdict  </a:t>
            </a:r>
            <a:r>
              <a:rPr sz="1170" b="0" i="0">
                <a:solidFill>
                  <a:srgbClr val="1C2330"/>
                </a:solidFill>
                <a:latin typeface="Cambria Math"/>
              </a:rPr>
              <a:t>Now essentially TIED - because P differs from Q by 2σ of income, and from R by 2σ of age. Both features finally count.</a:t>
            </a:r>
          </a:p>
        </p:txBody>
      </p:sp>
      <p:sp>
        <p:nvSpPr>
          <p:cNvPr id="17" name="Rounded Rectangle 16"/>
          <p:cNvSpPr/>
          <p:nvPr/>
        </p:nvSpPr>
        <p:spPr>
          <a:xfrm>
            <a:off x="4443983" y="5541264"/>
            <a:ext cx="7245065" cy="786384"/>
          </a:xfrm>
          <a:prstGeom prst="roundRect">
            <a:avLst>
              <a:gd name="adj" fmla="val 8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lstStyle/>
          <a:p>
            <a:pPr algn="l">
              <a:lnSpc>
                <a:spcPct val="114000"/>
              </a:lnSpc>
              <a:spcBef>
                <a:spcPts val="0"/>
              </a:spcBef>
              <a:spcAft>
                <a:spcPts val="0"/>
              </a:spcAft>
            </a:pPr>
            <a:r>
              <a:rPr sz="1150" b="1" i="0">
                <a:solidFill>
                  <a:srgbClr val="107C41"/>
                </a:solidFill>
                <a:latin typeface="Segoe UI Semibold"/>
              </a:rPr>
              <a:t>ANSWER   </a:t>
            </a:r>
            <a:r>
              <a:rPr sz="1500" b="1" i="0">
                <a:solidFill>
                  <a:srgbClr val="182B49"/>
                </a:solidFill>
                <a:latin typeface="Cambria Math"/>
              </a:rPr>
              <a:t>Unscaled: R wins easily.  Scaled: it is a tie.  Scaling changed the answer.</a:t>
            </a:r>
          </a:p>
        </p:txBody>
      </p:sp>
      <p:sp>
        <p:nvSpPr>
          <p:cNvPr id="18" name="Rectangle 17"/>
          <p:cNvSpPr/>
          <p:nvPr/>
        </p:nvSpPr>
        <p:spPr>
          <a:xfrm>
            <a:off x="4443983" y="5541264"/>
            <a:ext cx="73152" cy="786384"/>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1.5 WHY DISTANCE CHOICE MATTERS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1950" b="1" i="0">
                <a:solidFill>
                  <a:srgbClr val="FFFFFF"/>
                </a:solidFill>
                <a:latin typeface="Segoe UI Semibold"/>
              </a:rPr>
              <a:t>The Curse of Dimensionality - Distance Gets Less Useful as Features Grow</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40</a:t>
            </a:r>
          </a:p>
        </p:txBody>
      </p:sp>
      <p:sp>
        <p:nvSpPr>
          <p:cNvPr id="11" name="TextBox 10"/>
          <p:cNvSpPr txBox="1"/>
          <p:nvPr/>
        </p:nvSpPr>
        <p:spPr>
          <a:xfrm>
            <a:off x="7757129" y="1792224"/>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THREE SYMPTOMS IN THE LAB</a:t>
            </a:r>
          </a:p>
        </p:txBody>
      </p:sp>
      <p:sp>
        <p:nvSpPr>
          <p:cNvPr id="12" name="Rounded Rectangle 11"/>
          <p:cNvSpPr/>
          <p:nvPr/>
        </p:nvSpPr>
        <p:spPr>
          <a:xfrm>
            <a:off x="7757129" y="2084831"/>
            <a:ext cx="3931920" cy="786383"/>
          </a:xfrm>
          <a:prstGeom prst="roundRect">
            <a:avLst>
              <a:gd name="adj" fmla="val 8000"/>
            </a:avLst>
          </a:prstGeom>
          <a:solidFill>
            <a:srgbClr val="F9EDEC"/>
          </a:solidFill>
          <a:ln w="1778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7848569" y="2340864"/>
            <a:ext cx="402336" cy="274320"/>
          </a:xfrm>
          <a:prstGeom prst="round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1</a:t>
            </a:r>
          </a:p>
        </p:txBody>
      </p:sp>
      <p:sp>
        <p:nvSpPr>
          <p:cNvPr id="14" name="TextBox 13"/>
          <p:cNvSpPr txBox="1"/>
          <p:nvPr/>
        </p:nvSpPr>
        <p:spPr>
          <a:xfrm>
            <a:off x="8324057" y="2139696"/>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clusters look arbitrary</a:t>
            </a:r>
          </a:p>
        </p:txBody>
      </p:sp>
      <p:sp>
        <p:nvSpPr>
          <p:cNvPr id="15" name="Rounded Rectangle 14"/>
          <p:cNvSpPr/>
          <p:nvPr/>
        </p:nvSpPr>
        <p:spPr>
          <a:xfrm>
            <a:off x="7757129" y="2962656"/>
            <a:ext cx="3931920" cy="786383"/>
          </a:xfrm>
          <a:prstGeom prst="roundRect">
            <a:avLst>
              <a:gd name="adj" fmla="val 8000"/>
            </a:avLst>
          </a:prstGeom>
          <a:solidFill>
            <a:srgbClr val="F9EDEC"/>
          </a:solidFill>
          <a:ln w="1778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7848569" y="3218688"/>
            <a:ext cx="402336" cy="274320"/>
          </a:xfrm>
          <a:prstGeom prst="round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2</a:t>
            </a:r>
          </a:p>
        </p:txBody>
      </p:sp>
      <p:sp>
        <p:nvSpPr>
          <p:cNvPr id="17" name="TextBox 16"/>
          <p:cNvSpPr txBox="1"/>
          <p:nvPr/>
        </p:nvSpPr>
        <p:spPr>
          <a:xfrm>
            <a:off x="8324057" y="3017520"/>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results flip on a re-run</a:t>
            </a:r>
          </a:p>
        </p:txBody>
      </p:sp>
      <p:sp>
        <p:nvSpPr>
          <p:cNvPr id="18" name="Rounded Rectangle 17"/>
          <p:cNvSpPr/>
          <p:nvPr/>
        </p:nvSpPr>
        <p:spPr>
          <a:xfrm>
            <a:off x="7757129" y="3840479"/>
            <a:ext cx="3931920" cy="786383"/>
          </a:xfrm>
          <a:prstGeom prst="roundRect">
            <a:avLst>
              <a:gd name="adj" fmla="val 8000"/>
            </a:avLst>
          </a:prstGeom>
          <a:solidFill>
            <a:srgbClr val="F9EDEC"/>
          </a:solidFill>
          <a:ln w="1778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7848569" y="4096511"/>
            <a:ext cx="402336" cy="274320"/>
          </a:xfrm>
          <a:prstGeom prst="round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3</a:t>
            </a:r>
          </a:p>
        </p:txBody>
      </p:sp>
      <p:sp>
        <p:nvSpPr>
          <p:cNvPr id="20" name="TextBox 19"/>
          <p:cNvSpPr txBox="1"/>
          <p:nvPr/>
        </p:nvSpPr>
        <p:spPr>
          <a:xfrm>
            <a:off x="8324057" y="3895343"/>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silhouette hovers near zero</a:t>
            </a:r>
          </a:p>
        </p:txBody>
      </p:sp>
      <p:sp>
        <p:nvSpPr>
          <p:cNvPr id="21" name="Rounded Rectangle 20"/>
          <p:cNvSpPr/>
          <p:nvPr/>
        </p:nvSpPr>
        <p:spPr>
          <a:xfrm>
            <a:off x="7757129" y="4718303"/>
            <a:ext cx="3931920" cy="786383"/>
          </a:xfrm>
          <a:prstGeom prst="roundRect">
            <a:avLst>
              <a:gd name="adj" fmla="val 8000"/>
            </a:avLst>
          </a:prstGeom>
          <a:solidFill>
            <a:srgbClr val="EBF4EF"/>
          </a:solidFill>
          <a:ln w="1778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848569" y="4974335"/>
            <a:ext cx="402336" cy="274320"/>
          </a:xfrm>
          <a:prstGeom prst="round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a:t>
            </a:r>
          </a:p>
        </p:txBody>
      </p:sp>
      <p:sp>
        <p:nvSpPr>
          <p:cNvPr id="23" name="TextBox 22"/>
          <p:cNvSpPr txBox="1"/>
          <p:nvPr/>
        </p:nvSpPr>
        <p:spPr>
          <a:xfrm>
            <a:off x="8324057" y="4773167"/>
            <a:ext cx="3273552" cy="676655"/>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suspect dimensions, not the algorithm</a:t>
            </a:r>
          </a:p>
        </p:txBody>
      </p:sp>
      <p:sp>
        <p:nvSpPr>
          <p:cNvPr id="24" name="Rounded Rectangle 23"/>
          <p:cNvSpPr/>
          <p:nvPr/>
        </p:nvSpPr>
        <p:spPr>
          <a:xfrm>
            <a:off x="502920" y="1792224"/>
            <a:ext cx="6998177" cy="3712463"/>
          </a:xfrm>
          <a:prstGeom prst="roundRect">
            <a:avLst>
              <a:gd name="adj" fmla="val 3500"/>
            </a:avLst>
          </a:prstGeom>
          <a:solidFill>
            <a:srgbClr val="FDE9E7"/>
          </a:solidFill>
          <a:ln w="15875">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900" b="1" i="0">
                <a:solidFill>
                  <a:srgbClr val="B42318"/>
                </a:solidFill>
                <a:latin typeface="Segoe UI Semibold"/>
              </a:rPr>
              <a:t>The phenomenon  </a:t>
            </a:r>
            <a:r>
              <a:rPr sz="900" b="0" i="0">
                <a:solidFill>
                  <a:srgbClr val="1C2330"/>
                </a:solidFill>
                <a:latin typeface="Segoe UI"/>
              </a:rPr>
              <a:t>as you add features, the distance between the nearest and the farthest point shrinks towards zero RELATIVE to the distances themselves.</a:t>
            </a:r>
          </a:p>
          <a:p>
            <a:pPr algn="l">
              <a:lnSpc>
                <a:spcPct val="120000"/>
              </a:lnSpc>
              <a:spcBef>
                <a:spcPts val="600"/>
              </a:spcBef>
              <a:spcAft>
                <a:spcPts val="0"/>
              </a:spcAft>
            </a:pPr>
            <a:r>
              <a:rPr sz="900" b="1" i="0">
                <a:solidFill>
                  <a:srgbClr val="B42318"/>
                </a:solidFill>
                <a:latin typeface="Segoe UI Semibold"/>
              </a:rPr>
              <a:t>Why it happens  </a:t>
            </a:r>
            <a:r>
              <a:rPr sz="900" b="0" i="0">
                <a:solidFill>
                  <a:srgbClr val="1C2330"/>
                </a:solidFill>
                <a:latin typeface="Segoe UI"/>
              </a:rPr>
              <a:t>every extra dimension adds another squared difference to the sum. With enough dimensions, every pair accumulates a similar total - so all distances converge.</a:t>
            </a:r>
          </a:p>
          <a:p>
            <a:pPr algn="l">
              <a:lnSpc>
                <a:spcPct val="120000"/>
              </a:lnSpc>
              <a:spcBef>
                <a:spcPts val="600"/>
              </a:spcBef>
              <a:spcAft>
                <a:spcPts val="0"/>
              </a:spcAft>
            </a:pPr>
            <a:r>
              <a:rPr sz="900" b="1" i="0">
                <a:solidFill>
                  <a:srgbClr val="B42318"/>
                </a:solidFill>
                <a:latin typeface="Segoe UI Semibold"/>
              </a:rPr>
              <a:t>The consequence  </a:t>
            </a:r>
            <a:r>
              <a:rPr sz="900" b="0" i="0">
                <a:solidFill>
                  <a:srgbClr val="1C2330"/>
                </a:solidFill>
                <a:latin typeface="Segoe UI"/>
              </a:rPr>
              <a:t>'nearest neighbour' stops being meaningful. If everything is equally far, clustering has nothing to grip on.</a:t>
            </a:r>
          </a:p>
          <a:p>
            <a:pPr algn="l">
              <a:lnSpc>
                <a:spcPct val="120000"/>
              </a:lnSpc>
              <a:spcBef>
                <a:spcPts val="600"/>
              </a:spcBef>
              <a:spcAft>
                <a:spcPts val="0"/>
              </a:spcAft>
            </a:pPr>
            <a:r>
              <a:rPr sz="900" b="1" i="0">
                <a:solidFill>
                  <a:srgbClr val="B42318"/>
                </a:solidFill>
                <a:latin typeface="Segoe UI Semibold"/>
              </a:rPr>
              <a:t>Symptoms you will see  </a:t>
            </a:r>
            <a:r>
              <a:rPr sz="900" b="0" i="0">
                <a:solidFill>
                  <a:srgbClr val="1C2330"/>
                </a:solidFill>
                <a:latin typeface="Segoe UI"/>
              </a:rPr>
              <a:t>clusters that look arbitrary; results that change completely on a small data change; silhouette scores hovering near zero.</a:t>
            </a:r>
          </a:p>
          <a:p>
            <a:pPr algn="l">
              <a:lnSpc>
                <a:spcPct val="120000"/>
              </a:lnSpc>
              <a:spcBef>
                <a:spcPts val="600"/>
              </a:spcBef>
              <a:spcAft>
                <a:spcPts val="0"/>
              </a:spcAft>
            </a:pPr>
            <a:r>
              <a:rPr sz="900" b="1" i="0">
                <a:solidFill>
                  <a:srgbClr val="B42318"/>
                </a:solidFill>
                <a:latin typeface="Segoe UI Semibold"/>
              </a:rPr>
              <a:t>What to do about it  </a:t>
            </a:r>
            <a:r>
              <a:rPr sz="900" b="0" i="0">
                <a:solidFill>
                  <a:srgbClr val="1C2330"/>
                </a:solidFill>
                <a:latin typeface="Segoe UI"/>
              </a:rPr>
              <a:t>select fewer, better features; reduce dimensions (PCA, t-SNE - your Unit III); or use cosine similarity, which is more robust in sparse high-dimensional spaces.</a:t>
            </a:r>
          </a:p>
          <a:p>
            <a:pPr algn="l">
              <a:lnSpc>
                <a:spcPct val="120000"/>
              </a:lnSpc>
              <a:spcBef>
                <a:spcPts val="600"/>
              </a:spcBef>
              <a:spcAft>
                <a:spcPts val="0"/>
              </a:spcAft>
            </a:pPr>
            <a:r>
              <a:rPr sz="900" b="1" i="0">
                <a:solidFill>
                  <a:srgbClr val="B42318"/>
                </a:solidFill>
                <a:latin typeface="Segoe UI Semibold"/>
              </a:rPr>
              <a:t>The counter-intuitive lesson  </a:t>
            </a:r>
            <a:r>
              <a:rPr sz="900" b="0" i="0">
                <a:solidFill>
                  <a:srgbClr val="1C2330"/>
                </a:solidFill>
                <a:latin typeface="Segoe UI"/>
              </a:rPr>
              <a:t>adding a feature is not free. An irrelevant feature does not just fail to help - it actively dilutes every distance you compute.</a:t>
            </a:r>
          </a:p>
        </p:txBody>
      </p:sp>
      <p:sp>
        <p:nvSpPr>
          <p:cNvPr id="25" name="Rectangle 24"/>
          <p:cNvSpPr/>
          <p:nvPr/>
        </p:nvSpPr>
        <p:spPr>
          <a:xfrm>
            <a:off x="502920" y="1792224"/>
            <a:ext cx="6998177" cy="420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04088" y="1883664"/>
            <a:ext cx="6540977"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COMMON PITFALL   ·   </a:t>
            </a:r>
            <a:r>
              <a:rPr sz="1400" b="1" i="0">
                <a:solidFill>
                  <a:srgbClr val="FFFFFF"/>
                </a:solidFill>
                <a:latin typeface="Segoe UI Semibold"/>
              </a:rPr>
              <a:t>In high dimensions, everything is roughly equally far apart</a:t>
            </a:r>
          </a:p>
        </p:txBody>
      </p:sp>
      <p:sp>
        <p:nvSpPr>
          <p:cNvPr id="27" name="Rounded Rectangle 26"/>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PREDICT   </a:t>
            </a:r>
            <a:r>
              <a:rPr sz="1350" b="0" i="0">
                <a:solidFill>
                  <a:srgbClr val="1C2330"/>
                </a:solidFill>
                <a:latin typeface="Segoe UI"/>
              </a:rPr>
              <a:t>You have 50 customers and 300 features. What do you expect your clustering to look like - and why?</a:t>
            </a:r>
          </a:p>
        </p:txBody>
      </p:sp>
      <p:sp>
        <p:nvSpPr>
          <p:cNvPr id="28" name="Rectangle 27"/>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1.5 WHY DISTANCE CHOICE MATTERS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Same Three Customers, Unscaled and Scaled</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41</a:t>
            </a:r>
          </a:p>
        </p:txBody>
      </p:sp>
      <p:pic>
        <p:nvPicPr>
          <p:cNvPr id="11" name="Picture 10" descr="i396_scaling.png"/>
          <p:cNvPicPr>
            <a:picLocks noChangeAspect="1"/>
          </p:cNvPicPr>
          <p:nvPr/>
        </p:nvPicPr>
        <p:blipFill>
          <a:blip r:embed="rId2"/>
          <a:stretch>
            <a:fillRect/>
          </a:stretch>
        </p:blipFill>
        <p:spPr>
          <a:xfrm>
            <a:off x="502920" y="2054101"/>
            <a:ext cx="7272497" cy="3298436"/>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900"/>
              </a:spcAft>
            </a:pPr>
            <a:r>
              <a:rPr sz="1050" b="1" i="0">
                <a:solidFill>
                  <a:srgbClr val="0096C7"/>
                </a:solidFill>
                <a:latin typeface="Segoe UI Semibold"/>
              </a:rPr>
              <a:t>HOW TO READ THIS FIGURE</a:t>
            </a:r>
          </a:p>
          <a:p>
            <a:pPr algn="l">
              <a:lnSpc>
                <a:spcPct val="114000"/>
              </a:lnSpc>
              <a:spcBef>
                <a:spcPts val="800"/>
              </a:spcBef>
              <a:spcAft>
                <a:spcPts val="0"/>
              </a:spcAft>
            </a:pPr>
            <a:r>
              <a:rPr sz="1250" b="1" i="0">
                <a:solidFill>
                  <a:srgbClr val="182B49"/>
                </a:solidFill>
                <a:latin typeface="Segoe UI Semibold"/>
              </a:rPr>
              <a:t>Left - unscaled  </a:t>
            </a:r>
            <a:r>
              <a:rPr sz="1250" b="0" i="0">
                <a:solidFill>
                  <a:srgbClr val="1C2330"/>
                </a:solidFill>
                <a:latin typeface="Segoe UI"/>
              </a:rPr>
              <a:t>the axes are age (0-60) and income (up to 10 lakh). Age is invisible.</a:t>
            </a:r>
          </a:p>
          <a:p>
            <a:pPr algn="l">
              <a:lnSpc>
                <a:spcPct val="114000"/>
              </a:lnSpc>
              <a:spcBef>
                <a:spcPts val="800"/>
              </a:spcBef>
              <a:spcAft>
                <a:spcPts val="0"/>
              </a:spcAft>
            </a:pPr>
            <a:r>
              <a:rPr sz="1250" b="1" i="0">
                <a:solidFill>
                  <a:srgbClr val="182B49"/>
                </a:solidFill>
                <a:latin typeface="Segoe UI Semibold"/>
              </a:rPr>
              <a:t>The green line  </a:t>
            </a:r>
            <a:r>
              <a:rPr sz="1250" b="0" i="0">
                <a:solidFill>
                  <a:srgbClr val="1C2330"/>
                </a:solidFill>
                <a:latin typeface="Segoe UI"/>
              </a:rPr>
              <a:t>P's nearest neighbour is R, by a factor of about 30.</a:t>
            </a:r>
          </a:p>
          <a:p>
            <a:pPr algn="l">
              <a:lnSpc>
                <a:spcPct val="114000"/>
              </a:lnSpc>
              <a:spcBef>
                <a:spcPts val="800"/>
              </a:spcBef>
              <a:spcAft>
                <a:spcPts val="0"/>
              </a:spcAft>
            </a:pPr>
            <a:r>
              <a:rPr sz="1250" b="1" i="0">
                <a:solidFill>
                  <a:srgbClr val="182B49"/>
                </a:solidFill>
                <a:latin typeface="Segoe UI Semibold"/>
              </a:rPr>
              <a:t>Right - standardised  </a:t>
            </a:r>
            <a:r>
              <a:rPr sz="1250" b="0" i="0">
                <a:solidFill>
                  <a:srgbClr val="1C2330"/>
                </a:solidFill>
                <a:latin typeface="Segoe UI"/>
              </a:rPr>
              <a:t>both axes are now z-scores, so both span roughly −2 to +2.</a:t>
            </a:r>
          </a:p>
          <a:p>
            <a:pPr algn="l">
              <a:lnSpc>
                <a:spcPct val="114000"/>
              </a:lnSpc>
              <a:spcBef>
                <a:spcPts val="800"/>
              </a:spcBef>
              <a:spcAft>
                <a:spcPts val="0"/>
              </a:spcAft>
            </a:pPr>
            <a:r>
              <a:rPr sz="1250" b="1" i="0">
                <a:solidFill>
                  <a:srgbClr val="182B49"/>
                </a:solidFill>
                <a:latin typeface="Segoe UI Semibold"/>
              </a:rPr>
              <a:t>The two dashed lines  </a:t>
            </a:r>
            <a:r>
              <a:rPr sz="1250" b="0" i="0">
                <a:solidFill>
                  <a:srgbClr val="1C2330"/>
                </a:solidFill>
                <a:latin typeface="Segoe UI"/>
              </a:rPr>
              <a:t>P→Q and P→R are now the same length. A dead tie.</a:t>
            </a:r>
          </a:p>
          <a:p>
            <a:pPr algn="l">
              <a:lnSpc>
                <a:spcPct val="114000"/>
              </a:lnSpc>
              <a:spcBef>
                <a:spcPts val="800"/>
              </a:spcBef>
              <a:spcAft>
                <a:spcPts val="0"/>
              </a:spcAft>
            </a:pPr>
            <a:r>
              <a:rPr sz="1250" b="1" i="0">
                <a:solidFill>
                  <a:srgbClr val="182B49"/>
                </a:solidFill>
                <a:latin typeface="Segoe UI Semibold"/>
              </a:rPr>
              <a:t>Nothing changed  </a:t>
            </a:r>
            <a:r>
              <a:rPr sz="1250" b="0" i="0">
                <a:solidFill>
                  <a:srgbClr val="1C2330"/>
                </a:solidFill>
                <a:latin typeface="Segoe UI"/>
              </a:rPr>
              <a:t>except the units. Same data, same algorithm, reversed answer.</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A 30-year age gap counted for less than a 20,000 income gap - until you standardised.</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1.5 WHY DISTANCE CHOICE MATTERS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Choosing a Metric - A Decision Guide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42</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Not a ranking - a mapping from the shape of your data to the right question to ask of it.</a:t>
            </a:r>
          </a:p>
        </p:txBody>
      </p:sp>
      <p:graphicFrame>
        <p:nvGraphicFramePr>
          <p:cNvPr id="12" name="Table 11"/>
          <p:cNvGraphicFramePr>
            <a:graphicFrameLocks noGrp="1"/>
          </p:cNvGraphicFramePr>
          <p:nvPr/>
        </p:nvGraphicFramePr>
        <p:xfrm>
          <a:off x="502920" y="2267712"/>
          <a:ext cx="11186128" cy="3446797"/>
        </p:xfrm>
        <a:graphic>
          <a:graphicData uri="http://schemas.openxmlformats.org/drawingml/2006/table">
            <a:tbl>
              <a:tblPr>
                <a:tableStyleId>{5C22544A-7EE6-4342-B048-85BDC9FD1C3A}</a:tableStyleId>
              </a:tblPr>
              <a:tblGrid>
                <a:gridCol w="4386717">
                  <a:extLst>
                    <a:ext uri="{9D8B030D-6E8A-4147-A177-3AD203B41FA5}">
                      <a16:colId xmlns:a16="http://schemas.microsoft.com/office/drawing/2014/main" val="20000"/>
                    </a:ext>
                  </a:extLst>
                </a:gridCol>
                <a:gridCol w="2193358">
                  <a:extLst>
                    <a:ext uri="{9D8B030D-6E8A-4147-A177-3AD203B41FA5}">
                      <a16:colId xmlns:a16="http://schemas.microsoft.com/office/drawing/2014/main" val="20001"/>
                    </a:ext>
                  </a:extLst>
                </a:gridCol>
                <a:gridCol w="4606053">
                  <a:extLst>
                    <a:ext uri="{9D8B030D-6E8A-4147-A177-3AD203B41FA5}">
                      <a16:colId xmlns:a16="http://schemas.microsoft.com/office/drawing/2014/main" val="20002"/>
                    </a:ext>
                  </a:extLst>
                </a:gridCol>
              </a:tblGrid>
              <a:tr h="438912">
                <a:tc>
                  <a:txBody>
                    <a:bodyPr/>
                    <a:lstStyle/>
                    <a:p>
                      <a:pPr>
                        <a:lnSpc>
                          <a:spcPct val="112000"/>
                        </a:lnSpc>
                        <a:spcAft>
                          <a:spcPts val="0"/>
                        </a:spcAft>
                      </a:pPr>
                      <a:r>
                        <a:rPr sz="1200" b="1">
                          <a:solidFill>
                            <a:srgbClr val="FFFFFF"/>
                          </a:solidFill>
                          <a:latin typeface="Segoe UI Semibold"/>
                        </a:rPr>
                        <a:t>If your data is...</a:t>
                      </a:r>
                    </a:p>
                  </a:txBody>
                  <a:tcPr marL="118872" marR="100584" marT="64008" marB="64008" anchor="ctr">
                    <a:solidFill>
                      <a:srgbClr val="182B49"/>
                    </a:solidFill>
                  </a:tcPr>
                </a:tc>
                <a:tc>
                  <a:txBody>
                    <a:bodyPr/>
                    <a:lstStyle/>
                    <a:p>
                      <a:pPr>
                        <a:lnSpc>
                          <a:spcPct val="112000"/>
                        </a:lnSpc>
                        <a:spcAft>
                          <a:spcPts val="0"/>
                        </a:spcAft>
                      </a:pPr>
                      <a:r>
                        <a:rPr sz="1200" b="1">
                          <a:solidFill>
                            <a:srgbClr val="FFFFFF"/>
                          </a:solidFill>
                          <a:latin typeface="Segoe UI Semibold"/>
                        </a:rPr>
                        <a:t>Use</a:t>
                      </a:r>
                    </a:p>
                  </a:txBody>
                  <a:tcPr marL="118872" marR="100584" marT="64008" marB="64008" anchor="ctr">
                    <a:solidFill>
                      <a:srgbClr val="182B49"/>
                    </a:solidFill>
                  </a:tcPr>
                </a:tc>
                <a:tc>
                  <a:txBody>
                    <a:bodyPr/>
                    <a:lstStyle/>
                    <a:p>
                      <a:pPr>
                        <a:lnSpc>
                          <a:spcPct val="112000"/>
                        </a:lnSpc>
                        <a:spcAft>
                          <a:spcPts val="0"/>
                        </a:spcAft>
                      </a:pPr>
                      <a:r>
                        <a:rPr sz="1200" b="1">
                          <a:solidFill>
                            <a:srgbClr val="FFFFFF"/>
                          </a:solidFill>
                          <a:latin typeface="Segoe UI Semibold"/>
                        </a:rPr>
                        <a:t>Because</a:t>
                      </a:r>
                    </a:p>
                  </a:txBody>
                  <a:tcPr marL="118872" marR="100584" marT="64008" marB="64008" anchor="ctr">
                    <a:solidFill>
                      <a:srgbClr val="182B49"/>
                    </a:solidFill>
                  </a:tcPr>
                </a:tc>
                <a:extLst>
                  <a:ext uri="{0D108BD9-81ED-4DB2-BD59-A6C34878D82A}">
                    <a16:rowId xmlns:a16="http://schemas.microsoft.com/office/drawing/2014/main" val="10000"/>
                  </a:ext>
                </a:extLst>
              </a:tr>
              <a:tr h="399723">
                <a:tc>
                  <a:txBody>
                    <a:bodyPr/>
                    <a:lstStyle/>
                    <a:p>
                      <a:pPr>
                        <a:lnSpc>
                          <a:spcPct val="112000"/>
                        </a:lnSpc>
                        <a:spcAft>
                          <a:spcPts val="0"/>
                        </a:spcAft>
                      </a:pPr>
                      <a:r>
                        <a:rPr sz="1150" b="1">
                          <a:solidFill>
                            <a:srgbClr val="182B49"/>
                          </a:solidFill>
                          <a:latin typeface="Segoe UI Semibold"/>
                        </a:rPr>
                        <a:t>Continuous features on comparable scales (after standardising)</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Euclidean</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Straight-line closeness is meaningful and magnitude matters</a:t>
                      </a:r>
                    </a:p>
                  </a:txBody>
                  <a:tcPr marL="118872" marR="100584" marT="64008" marB="64008" anchor="ctr">
                    <a:solidFill>
                      <a:srgbClr val="FFFFFF"/>
                    </a:solidFill>
                  </a:tcPr>
                </a:tc>
                <a:extLst>
                  <a:ext uri="{0D108BD9-81ED-4DB2-BD59-A6C34878D82A}">
                    <a16:rowId xmlns:a16="http://schemas.microsoft.com/office/drawing/2014/main" val="10001"/>
                  </a:ext>
                </a:extLst>
              </a:tr>
              <a:tr h="399723">
                <a:tc>
                  <a:txBody>
                    <a:bodyPr/>
                    <a:lstStyle/>
                    <a:p>
                      <a:pPr>
                        <a:lnSpc>
                          <a:spcPct val="112000"/>
                        </a:lnSpc>
                        <a:spcAft>
                          <a:spcPts val="0"/>
                        </a:spcAft>
                      </a:pPr>
                      <a:r>
                        <a:rPr sz="1150" b="1">
                          <a:solidFill>
                            <a:srgbClr val="182B49"/>
                          </a:solidFill>
                          <a:latin typeface="Segoe UI Semibold"/>
                        </a:rPr>
                        <a:t>Movement constrained to axes - grids, aisles, city blocks</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Manhattan</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It measures the distance actually travelled, not the impossible shortcut</a:t>
                      </a:r>
                    </a:p>
                  </a:txBody>
                  <a:tcPr marL="118872" marR="100584" marT="64008" marB="64008" anchor="ctr">
                    <a:solidFill>
                      <a:srgbClr val="F8FAFC"/>
                    </a:solidFill>
                  </a:tcPr>
                </a:tc>
                <a:extLst>
                  <a:ext uri="{0D108BD9-81ED-4DB2-BD59-A6C34878D82A}">
                    <a16:rowId xmlns:a16="http://schemas.microsoft.com/office/drawing/2014/main" val="10002"/>
                  </a:ext>
                </a:extLst>
              </a:tr>
              <a:tr h="399723">
                <a:tc>
                  <a:txBody>
                    <a:bodyPr/>
                    <a:lstStyle/>
                    <a:p>
                      <a:pPr>
                        <a:lnSpc>
                          <a:spcPct val="112000"/>
                        </a:lnSpc>
                        <a:spcAft>
                          <a:spcPts val="0"/>
                        </a:spcAft>
                      </a:pPr>
                      <a:r>
                        <a:rPr sz="1150" b="1">
                          <a:solidFill>
                            <a:srgbClr val="182B49"/>
                          </a:solidFill>
                          <a:latin typeface="Segoe UI Semibold"/>
                        </a:rPr>
                        <a:t>Contains outliers you do not want dominating</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Manhattan</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No squaring, so one huge gap does not swamp the sum</a:t>
                      </a:r>
                    </a:p>
                  </a:txBody>
                  <a:tcPr marL="118872" marR="100584" marT="64008" marB="64008" anchor="ctr">
                    <a:solidFill>
                      <a:srgbClr val="FFFFFF"/>
                    </a:solidFill>
                  </a:tcPr>
                </a:tc>
                <a:extLst>
                  <a:ext uri="{0D108BD9-81ED-4DB2-BD59-A6C34878D82A}">
                    <a16:rowId xmlns:a16="http://schemas.microsoft.com/office/drawing/2014/main" val="10003"/>
                  </a:ext>
                </a:extLst>
              </a:tr>
              <a:tr h="399723">
                <a:tc>
                  <a:txBody>
                    <a:bodyPr/>
                    <a:lstStyle/>
                    <a:p>
                      <a:pPr>
                        <a:lnSpc>
                          <a:spcPct val="112000"/>
                        </a:lnSpc>
                        <a:spcAft>
                          <a:spcPts val="0"/>
                        </a:spcAft>
                      </a:pPr>
                      <a:r>
                        <a:rPr sz="1150" b="1">
                          <a:solidFill>
                            <a:srgbClr val="182B49"/>
                          </a:solidFill>
                          <a:latin typeface="Segoe UI Semibold"/>
                        </a:rPr>
                        <a:t>Text, documents, or word counts</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Cosine</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Length is noise; the proportion of topics is the signal</a:t>
                      </a:r>
                    </a:p>
                  </a:txBody>
                  <a:tcPr marL="118872" marR="100584" marT="64008" marB="64008" anchor="ctr">
                    <a:solidFill>
                      <a:srgbClr val="F8FAFC"/>
                    </a:solidFill>
                  </a:tcPr>
                </a:tc>
                <a:extLst>
                  <a:ext uri="{0D108BD9-81ED-4DB2-BD59-A6C34878D82A}">
                    <a16:rowId xmlns:a16="http://schemas.microsoft.com/office/drawing/2014/main" val="10004"/>
                  </a:ext>
                </a:extLst>
              </a:tr>
              <a:tr h="399723">
                <a:tc>
                  <a:txBody>
                    <a:bodyPr/>
                    <a:lstStyle/>
                    <a:p>
                      <a:pPr>
                        <a:lnSpc>
                          <a:spcPct val="112000"/>
                        </a:lnSpc>
                        <a:spcAft>
                          <a:spcPts val="0"/>
                        </a:spcAft>
                      </a:pPr>
                      <a:r>
                        <a:rPr sz="1150" b="1">
                          <a:solidFill>
                            <a:srgbClr val="182B49"/>
                          </a:solidFill>
                          <a:latin typeface="Segoe UI Semibold"/>
                        </a:rPr>
                        <a:t>Ratings where users differ in generosity</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Cosine</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Removes the overall level and keeps the pattern of preference</a:t>
                      </a:r>
                    </a:p>
                  </a:txBody>
                  <a:tcPr marL="118872" marR="100584" marT="64008" marB="64008" anchor="ctr">
                    <a:solidFill>
                      <a:srgbClr val="FFFFFF"/>
                    </a:solidFill>
                  </a:tcPr>
                </a:tc>
                <a:extLst>
                  <a:ext uri="{0D108BD9-81ED-4DB2-BD59-A6C34878D82A}">
                    <a16:rowId xmlns:a16="http://schemas.microsoft.com/office/drawing/2014/main" val="10005"/>
                  </a:ext>
                </a:extLst>
              </a:tr>
              <a:tr h="399723">
                <a:tc>
                  <a:txBody>
                    <a:bodyPr/>
                    <a:lstStyle/>
                    <a:p>
                      <a:pPr>
                        <a:lnSpc>
                          <a:spcPct val="112000"/>
                        </a:lnSpc>
                        <a:spcAft>
                          <a:spcPts val="0"/>
                        </a:spcAft>
                      </a:pPr>
                      <a:r>
                        <a:rPr sz="1150" b="1">
                          <a:solidFill>
                            <a:srgbClr val="182B49"/>
                          </a:solidFill>
                          <a:latin typeface="Segoe UI Semibold"/>
                        </a:rPr>
                        <a:t>Sparse and very high-dimensional</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Cosine</a:t>
                      </a:r>
                    </a:p>
                  </a:txBody>
                  <a:tcPr marL="118872" marR="100584" marT="64008" marB="64008" anchor="ctr">
                    <a:solidFill>
                      <a:srgbClr val="F8FAFC"/>
                    </a:solidFill>
                  </a:tcPr>
                </a:tc>
                <a:tc>
                  <a:txBody>
                    <a:bodyPr/>
                    <a:lstStyle/>
                    <a:p>
                      <a:pPr>
                        <a:lnSpc>
                          <a:spcPct val="112000"/>
                        </a:lnSpc>
                        <a:spcAft>
                          <a:spcPts val="0"/>
                        </a:spcAft>
                      </a:pPr>
                      <a:r>
                        <a:rPr sz="1150" b="0">
                          <a:solidFill>
                            <a:srgbClr val="1C2330"/>
                          </a:solidFill>
                          <a:latin typeface="Segoe UI"/>
                        </a:rPr>
                        <a:t>More robust than Euclidean when distances start to concentrate</a:t>
                      </a:r>
                    </a:p>
                  </a:txBody>
                  <a:tcPr marL="118872" marR="100584" marT="64008" marB="64008" anchor="ctr">
                    <a:solidFill>
                      <a:srgbClr val="F8FAFC"/>
                    </a:solidFill>
                  </a:tcPr>
                </a:tc>
                <a:extLst>
                  <a:ext uri="{0D108BD9-81ED-4DB2-BD59-A6C34878D82A}">
                    <a16:rowId xmlns:a16="http://schemas.microsoft.com/office/drawing/2014/main" val="10006"/>
                  </a:ext>
                </a:extLst>
              </a:tr>
              <a:tr h="399723">
                <a:tc>
                  <a:txBody>
                    <a:bodyPr/>
                    <a:lstStyle/>
                    <a:p>
                      <a:pPr>
                        <a:lnSpc>
                          <a:spcPct val="112000"/>
                        </a:lnSpc>
                        <a:spcAft>
                          <a:spcPts val="0"/>
                        </a:spcAft>
                      </a:pPr>
                      <a:r>
                        <a:rPr sz="1150" b="1">
                          <a:solidFill>
                            <a:srgbClr val="182B49"/>
                          </a:solidFill>
                          <a:latin typeface="Segoe UI Semibold"/>
                        </a:rPr>
                        <a:t>Features on wildly different ranges</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STANDARDISE FIRST</a:t>
                      </a:r>
                    </a:p>
                  </a:txBody>
                  <a:tcPr marL="118872" marR="100584" marT="64008" marB="64008" anchor="ctr">
                    <a:solidFill>
                      <a:srgbClr val="FFFFFF"/>
                    </a:solidFill>
                  </a:tcPr>
                </a:tc>
                <a:tc>
                  <a:txBody>
                    <a:bodyPr/>
                    <a:lstStyle/>
                    <a:p>
                      <a:pPr>
                        <a:lnSpc>
                          <a:spcPct val="112000"/>
                        </a:lnSpc>
                        <a:spcAft>
                          <a:spcPts val="0"/>
                        </a:spcAft>
                      </a:pPr>
                      <a:r>
                        <a:rPr sz="1150" b="0">
                          <a:solidFill>
                            <a:srgbClr val="1C2330"/>
                          </a:solidFill>
                          <a:latin typeface="Segoe UI"/>
                        </a:rPr>
                        <a:t>Then choose. No metric survives unscaled features.</a:t>
                      </a:r>
                    </a:p>
                  </a:txBody>
                  <a:tcPr marL="118872" marR="100584" marT="64008" marB="64008" anchor="ctr">
                    <a:solidFill>
                      <a:srgbClr val="FFFFFF"/>
                    </a:solidFill>
                  </a:tcPr>
                </a:tc>
                <a:extLst>
                  <a:ext uri="{0D108BD9-81ED-4DB2-BD59-A6C34878D82A}">
                    <a16:rowId xmlns:a16="http://schemas.microsoft.com/office/drawing/2014/main" val="10007"/>
                  </a:ext>
                </a:extLst>
              </a:tr>
            </a:tbl>
          </a:graphicData>
        </a:graphic>
      </p:graphicFrame>
      <p:sp>
        <p:nvSpPr>
          <p:cNvPr id="13" name="Rounded Rectangle 12"/>
          <p:cNvSpPr/>
          <p:nvPr/>
        </p:nvSpPr>
        <p:spPr>
          <a:xfrm>
            <a:off x="502920" y="5674591"/>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USE IT NOW   </a:t>
            </a:r>
            <a:r>
              <a:rPr sz="1350" b="0" i="0">
                <a:solidFill>
                  <a:srgbClr val="1C2330"/>
                </a:solidFill>
                <a:latin typeface="Segoe UI"/>
              </a:rPr>
              <a:t>Take the dataset from your practical. Walk the table and pick a row.</a:t>
            </a:r>
          </a:p>
        </p:txBody>
      </p:sp>
      <p:sp>
        <p:nvSpPr>
          <p:cNvPr id="14" name="Rectangle 13"/>
          <p:cNvSpPr/>
          <p:nvPr/>
        </p:nvSpPr>
        <p:spPr>
          <a:xfrm>
            <a:off x="502919" y="5674591"/>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1.5 WHY DISTANCE CHOICE MATTERS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The Curse of Dimensionality, Measured</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43</a:t>
            </a:r>
          </a:p>
        </p:txBody>
      </p:sp>
      <p:pic>
        <p:nvPicPr>
          <p:cNvPr id="11" name="Picture 10" descr="i396_curse.png"/>
          <p:cNvPicPr>
            <a:picLocks noChangeAspect="1"/>
          </p:cNvPicPr>
          <p:nvPr/>
        </p:nvPicPr>
        <p:blipFill>
          <a:blip r:embed="rId2"/>
          <a:stretch>
            <a:fillRect/>
          </a:stretch>
        </p:blipFill>
        <p:spPr>
          <a:xfrm>
            <a:off x="992595" y="1792224"/>
            <a:ext cx="6293146" cy="3822191"/>
          </a:xfrm>
          <a:prstGeom prst="rect">
            <a:avLst/>
          </a:prstGeom>
        </p:spPr>
      </p:pic>
      <p:sp>
        <p:nvSpPr>
          <p:cNvPr id="12" name="Rounded Rectangle 11"/>
          <p:cNvSpPr/>
          <p:nvPr/>
        </p:nvSpPr>
        <p:spPr>
          <a:xfrm>
            <a:off x="8013161" y="1792224"/>
            <a:ext cx="3675887" cy="3822191"/>
          </a:xfrm>
          <a:prstGeom prst="roundRect">
            <a:avLst>
              <a:gd name="adj" fmla="val 5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201168" rIns="182880" bIns="0" rtlCol="0" anchor="t"/>
          <a:lstStyle/>
          <a:p>
            <a:pPr algn="l">
              <a:lnSpc>
                <a:spcPct val="115000"/>
              </a:lnSpc>
              <a:spcBef>
                <a:spcPts val="0"/>
              </a:spcBef>
              <a:spcAft>
                <a:spcPts val="860"/>
              </a:spcAft>
            </a:pPr>
            <a:r>
              <a:rPr sz="1000" b="1" i="0">
                <a:solidFill>
                  <a:srgbClr val="0096C7"/>
                </a:solidFill>
                <a:latin typeface="Segoe UI Semibold"/>
              </a:rPr>
              <a:t>HOW TO READ THIS FIGURE</a:t>
            </a:r>
          </a:p>
          <a:p>
            <a:pPr algn="l">
              <a:lnSpc>
                <a:spcPct val="114000"/>
              </a:lnSpc>
              <a:spcBef>
                <a:spcPts val="760"/>
              </a:spcBef>
              <a:spcAft>
                <a:spcPts val="0"/>
              </a:spcAft>
            </a:pPr>
            <a:r>
              <a:rPr sz="1190" b="1" i="0">
                <a:solidFill>
                  <a:srgbClr val="182B49"/>
                </a:solidFill>
                <a:latin typeface="Segoe UI Semibold"/>
              </a:rPr>
              <a:t>The measurement  </a:t>
            </a:r>
            <a:r>
              <a:rPr sz="1190" b="0" i="0">
                <a:solidFill>
                  <a:srgbClr val="1C2330"/>
                </a:solidFill>
                <a:latin typeface="Segoe UI"/>
              </a:rPr>
              <a:t>pick a point; compare its nearest and its farthest neighbour.</a:t>
            </a:r>
          </a:p>
          <a:p>
            <a:pPr algn="l">
              <a:lnSpc>
                <a:spcPct val="114000"/>
              </a:lnSpc>
              <a:spcBef>
                <a:spcPts val="760"/>
              </a:spcBef>
              <a:spcAft>
                <a:spcPts val="0"/>
              </a:spcAft>
            </a:pPr>
            <a:r>
              <a:rPr sz="1190" b="1" i="0">
                <a:solidFill>
                  <a:srgbClr val="182B49"/>
                </a:solidFill>
                <a:latin typeface="Segoe UI Semibold"/>
              </a:rPr>
              <a:t>Low dimensions  </a:t>
            </a:r>
            <a:r>
              <a:rPr sz="1190" b="0" i="0">
                <a:solidFill>
                  <a:srgbClr val="1C2330"/>
                </a:solidFill>
                <a:latin typeface="Segoe UI"/>
              </a:rPr>
              <a:t>the farthest is many times farther. Real contrast between near and far.</a:t>
            </a:r>
          </a:p>
          <a:p>
            <a:pPr algn="l">
              <a:lnSpc>
                <a:spcPct val="114000"/>
              </a:lnSpc>
              <a:spcBef>
                <a:spcPts val="760"/>
              </a:spcBef>
              <a:spcAft>
                <a:spcPts val="0"/>
              </a:spcAft>
            </a:pPr>
            <a:r>
              <a:rPr sz="1190" b="1" i="0">
                <a:solidFill>
                  <a:srgbClr val="182B49"/>
                </a:solidFill>
                <a:latin typeface="Segoe UI Semibold"/>
              </a:rPr>
              <a:t>High dimensions  </a:t>
            </a:r>
            <a:r>
              <a:rPr sz="1190" b="0" i="0">
                <a:solidFill>
                  <a:srgbClr val="1C2330"/>
                </a:solidFill>
                <a:latin typeface="Segoe UI"/>
              </a:rPr>
              <a:t>the ratio collapses - everything is roughly equidistant.</a:t>
            </a:r>
          </a:p>
          <a:p>
            <a:pPr algn="l">
              <a:lnSpc>
                <a:spcPct val="114000"/>
              </a:lnSpc>
              <a:spcBef>
                <a:spcPts val="760"/>
              </a:spcBef>
              <a:spcAft>
                <a:spcPts val="0"/>
              </a:spcAft>
            </a:pPr>
            <a:r>
              <a:rPr sz="1190" b="1" i="0">
                <a:solidFill>
                  <a:srgbClr val="182B49"/>
                </a:solidFill>
                <a:latin typeface="Segoe UI Semibold"/>
              </a:rPr>
              <a:t>Consequence  </a:t>
            </a:r>
            <a:r>
              <a:rPr sz="1190" b="0" i="0">
                <a:solidFill>
                  <a:srgbClr val="1C2330"/>
                </a:solidFill>
                <a:latin typeface="Segoe UI"/>
              </a:rPr>
              <a:t>'nearest neighbour' stops meaning anything, so clustering has nothing to grip on.</a:t>
            </a:r>
          </a:p>
          <a:p>
            <a:pPr algn="l">
              <a:lnSpc>
                <a:spcPct val="114000"/>
              </a:lnSpc>
              <a:spcBef>
                <a:spcPts val="760"/>
              </a:spcBef>
              <a:spcAft>
                <a:spcPts val="0"/>
              </a:spcAft>
            </a:pPr>
            <a:r>
              <a:rPr sz="1190" b="1" i="0">
                <a:solidFill>
                  <a:srgbClr val="182B49"/>
                </a:solidFill>
                <a:latin typeface="Segoe UI Semibold"/>
              </a:rPr>
              <a:t>Responses  </a:t>
            </a:r>
            <a:r>
              <a:rPr sz="1190" b="0" i="0">
                <a:solidFill>
                  <a:srgbClr val="1C2330"/>
                </a:solidFill>
                <a:latin typeface="Segoe UI"/>
              </a:rPr>
              <a:t>fewer, better features; dimensionality reduction; or cosine, which holds up better when data is sparse.</a:t>
            </a:r>
          </a:p>
        </p:txBody>
      </p:sp>
      <p:sp>
        <p:nvSpPr>
          <p:cNvPr id="13" name="Rounded Rectangle 12"/>
          <p:cNvSpPr/>
          <p:nvPr/>
        </p:nvSpPr>
        <p:spPr>
          <a:xfrm>
            <a:off x="502920" y="5705856"/>
            <a:ext cx="11186129" cy="621792"/>
          </a:xfrm>
          <a:prstGeom prst="roundRect">
            <a:avLst>
              <a:gd name="adj" fmla="val 5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37744" tIns="0" rIns="201168" bIns="0" rtlCol="0" anchor="ctr"/>
          <a:lstStyle/>
          <a:p>
            <a:pPr algn="l">
              <a:lnSpc>
                <a:spcPct val="116000"/>
              </a:lnSpc>
              <a:spcBef>
                <a:spcPts val="0"/>
              </a:spcBef>
              <a:spcAft>
                <a:spcPts val="0"/>
              </a:spcAft>
            </a:pPr>
            <a:r>
              <a:rPr sz="1100" b="1" i="0">
                <a:solidFill>
                  <a:srgbClr val="107C41"/>
                </a:solidFill>
                <a:latin typeface="Segoe UI Semibold"/>
              </a:rPr>
              <a:t>TAKEAWAY   </a:t>
            </a:r>
            <a:r>
              <a:rPr sz="1350" b="1" i="0">
                <a:solidFill>
                  <a:srgbClr val="182B49"/>
                </a:solidFill>
                <a:latin typeface="Segoe UI Semibold"/>
              </a:rPr>
              <a:t>Adding an irrelevant feature does not merely fail to help - it dilutes every distance you compute.</a:t>
            </a:r>
          </a:p>
        </p:txBody>
      </p:sp>
      <p:sp>
        <p:nvSpPr>
          <p:cNvPr id="14" name="Rectangle 13"/>
          <p:cNvSpPr/>
          <p:nvPr/>
        </p:nvSpPr>
        <p:spPr>
          <a:xfrm>
            <a:off x="502920" y="5705856"/>
            <a:ext cx="68580" cy="621792"/>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CHECK YOUR UNDERSTANDING</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Which Metric? - Rapid Fire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44</a:t>
            </a:r>
          </a:p>
        </p:txBody>
      </p:sp>
      <p:sp>
        <p:nvSpPr>
          <p:cNvPr id="11" name="TextBox 10"/>
          <p:cNvSpPr txBox="1"/>
          <p:nvPr/>
        </p:nvSpPr>
        <p:spPr>
          <a:xfrm>
            <a:off x="7757129" y="1792224"/>
            <a:ext cx="3931920" cy="256032"/>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586476"/>
                </a:solidFill>
                <a:latin typeface="Segoe UI Semibold"/>
              </a:rPr>
              <a:t>THE ONE-LINE GUIDE</a:t>
            </a:r>
          </a:p>
        </p:txBody>
      </p:sp>
      <p:sp>
        <p:nvSpPr>
          <p:cNvPr id="12" name="Rounded Rectangle 11"/>
          <p:cNvSpPr/>
          <p:nvPr/>
        </p:nvSpPr>
        <p:spPr>
          <a:xfrm>
            <a:off x="7757129" y="2084831"/>
            <a:ext cx="3931920" cy="786384"/>
          </a:xfrm>
          <a:prstGeom prst="roundRect">
            <a:avLst>
              <a:gd name="adj" fmla="val 8000"/>
            </a:avLst>
          </a:prstGeom>
          <a:solidFill>
            <a:srgbClr val="EAF6FA"/>
          </a:solidFill>
          <a:ln w="1778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7848569" y="2340864"/>
            <a:ext cx="402336" cy="27432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E</a:t>
            </a:r>
          </a:p>
        </p:txBody>
      </p:sp>
      <p:sp>
        <p:nvSpPr>
          <p:cNvPr id="14" name="TextBox 13"/>
          <p:cNvSpPr txBox="1"/>
          <p:nvPr/>
        </p:nvSpPr>
        <p:spPr>
          <a:xfrm>
            <a:off x="8324057" y="2139696"/>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continuous, comparable, size matters</a:t>
            </a:r>
          </a:p>
        </p:txBody>
      </p:sp>
      <p:sp>
        <p:nvSpPr>
          <p:cNvPr id="15" name="Rounded Rectangle 14"/>
          <p:cNvSpPr/>
          <p:nvPr/>
        </p:nvSpPr>
        <p:spPr>
          <a:xfrm>
            <a:off x="7757129" y="2962656"/>
            <a:ext cx="3931920" cy="786384"/>
          </a:xfrm>
          <a:prstGeom prst="roundRect">
            <a:avLst>
              <a:gd name="adj" fmla="val 8000"/>
            </a:avLst>
          </a:prstGeom>
          <a:solidFill>
            <a:srgbClr val="FBF4EB"/>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7848569" y="3218688"/>
            <a:ext cx="402336" cy="2743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M</a:t>
            </a:r>
          </a:p>
        </p:txBody>
      </p:sp>
      <p:sp>
        <p:nvSpPr>
          <p:cNvPr id="17" name="TextBox 16"/>
          <p:cNvSpPr txBox="1"/>
          <p:nvPr/>
        </p:nvSpPr>
        <p:spPr>
          <a:xfrm>
            <a:off x="8324057" y="3017520"/>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grid movement, counts, outliers</a:t>
            </a:r>
          </a:p>
        </p:txBody>
      </p:sp>
      <p:sp>
        <p:nvSpPr>
          <p:cNvPr id="18" name="Rounded Rectangle 17"/>
          <p:cNvSpPr/>
          <p:nvPr/>
        </p:nvSpPr>
        <p:spPr>
          <a:xfrm>
            <a:off x="7757129" y="3840479"/>
            <a:ext cx="3931920" cy="786384"/>
          </a:xfrm>
          <a:prstGeom prst="roundRect">
            <a:avLst>
              <a:gd name="adj" fmla="val 8000"/>
            </a:avLst>
          </a:prstGeom>
          <a:solidFill>
            <a:srgbClr val="F1EEF6"/>
          </a:solidFill>
          <a:ln w="1778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7848569" y="4096511"/>
            <a:ext cx="402336" cy="274320"/>
          </a:xfrm>
          <a:prstGeom prst="round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C</a:t>
            </a:r>
          </a:p>
        </p:txBody>
      </p:sp>
      <p:sp>
        <p:nvSpPr>
          <p:cNvPr id="20" name="TextBox 19"/>
          <p:cNvSpPr txBox="1"/>
          <p:nvPr/>
        </p:nvSpPr>
        <p:spPr>
          <a:xfrm>
            <a:off x="8324057" y="3895343"/>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text, ratings, sparse - size is noise</a:t>
            </a:r>
          </a:p>
        </p:txBody>
      </p:sp>
      <p:sp>
        <p:nvSpPr>
          <p:cNvPr id="21" name="Rounded Rectangle 20"/>
          <p:cNvSpPr/>
          <p:nvPr/>
        </p:nvSpPr>
        <p:spPr>
          <a:xfrm>
            <a:off x="7757129" y="4718304"/>
            <a:ext cx="3931920" cy="786384"/>
          </a:xfrm>
          <a:prstGeom prst="roundRect">
            <a:avLst>
              <a:gd name="adj" fmla="val 8000"/>
            </a:avLst>
          </a:prstGeom>
          <a:solidFill>
            <a:srgbClr val="F9EDEC"/>
          </a:solidFill>
          <a:ln w="1778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848569" y="4974336"/>
            <a:ext cx="402336" cy="274320"/>
          </a:xfrm>
          <a:prstGeom prst="round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15000"/>
              </a:lnSpc>
              <a:spcBef>
                <a:spcPts val="0"/>
              </a:spcBef>
              <a:spcAft>
                <a:spcPts val="0"/>
              </a:spcAft>
            </a:pPr>
            <a:r>
              <a:rPr sz="1100" b="1" i="0">
                <a:solidFill>
                  <a:srgbClr val="FFFFFF"/>
                </a:solidFill>
                <a:latin typeface="Segoe UI Semibold"/>
              </a:rPr>
              <a:t>!</a:t>
            </a:r>
          </a:p>
        </p:txBody>
      </p:sp>
      <p:sp>
        <p:nvSpPr>
          <p:cNvPr id="23" name="TextBox 22"/>
          <p:cNvSpPr txBox="1"/>
          <p:nvPr/>
        </p:nvSpPr>
        <p:spPr>
          <a:xfrm>
            <a:off x="8324057" y="4773168"/>
            <a:ext cx="3273552" cy="676656"/>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different ranges? SCALE FIRST</a:t>
            </a:r>
          </a:p>
        </p:txBody>
      </p:sp>
      <p:sp>
        <p:nvSpPr>
          <p:cNvPr id="24" name="Rounded Rectangle 23"/>
          <p:cNvSpPr/>
          <p:nvPr/>
        </p:nvSpPr>
        <p:spPr>
          <a:xfrm>
            <a:off x="502920" y="1792224"/>
            <a:ext cx="6998177" cy="932688"/>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5000"/>
              </a:lnSpc>
              <a:spcBef>
                <a:spcPts val="0"/>
              </a:spcBef>
              <a:spcAft>
                <a:spcPts val="360"/>
              </a:spcAft>
            </a:pPr>
            <a:r>
              <a:rPr sz="760" b="1" i="0">
                <a:solidFill>
                  <a:srgbClr val="F5A623"/>
                </a:solidFill>
                <a:latin typeface="Segoe UI Semibold"/>
              </a:rPr>
              <a:t>QUICK CHECK</a:t>
            </a:r>
          </a:p>
          <a:p>
            <a:pPr algn="l">
              <a:lnSpc>
                <a:spcPct val="115000"/>
              </a:lnSpc>
              <a:spcBef>
                <a:spcPts val="0"/>
              </a:spcBef>
              <a:spcAft>
                <a:spcPts val="0"/>
              </a:spcAft>
            </a:pPr>
            <a:r>
              <a:rPr sz="1160" b="1" i="0">
                <a:solidFill>
                  <a:srgbClr val="FFFFFF"/>
                </a:solidFill>
                <a:latin typeface="Segoe UI Semibold"/>
              </a:rPr>
              <a:t>You are clustering research papers using word-frequency vectors. Papers range from 4-page letters to 60-page reviews. Which metric, and why?</a:t>
            </a:r>
          </a:p>
        </p:txBody>
      </p:sp>
      <p:sp>
        <p:nvSpPr>
          <p:cNvPr id="25" name="Rectangle 24"/>
          <p:cNvSpPr/>
          <p:nvPr/>
        </p:nvSpPr>
        <p:spPr>
          <a:xfrm>
            <a:off x="502920" y="1792224"/>
            <a:ext cx="77724" cy="93268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a:off x="502920" y="3259835"/>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Oval 26"/>
          <p:cNvSpPr/>
          <p:nvPr/>
        </p:nvSpPr>
        <p:spPr>
          <a:xfrm>
            <a:off x="676656"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A</a:t>
            </a:r>
          </a:p>
        </p:txBody>
      </p:sp>
      <p:sp>
        <p:nvSpPr>
          <p:cNvPr id="28" name="TextBox 27"/>
          <p:cNvSpPr txBox="1"/>
          <p:nvPr/>
        </p:nvSpPr>
        <p:spPr>
          <a:xfrm>
            <a:off x="1106424" y="3351275"/>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Euclidean, because word counts are continuous numbers</a:t>
            </a:r>
          </a:p>
        </p:txBody>
      </p:sp>
      <p:sp>
        <p:nvSpPr>
          <p:cNvPr id="29" name="Rounded Rectangle 28"/>
          <p:cNvSpPr/>
          <p:nvPr/>
        </p:nvSpPr>
        <p:spPr>
          <a:xfrm>
            <a:off x="4066016" y="3259835"/>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4239752"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B</a:t>
            </a:r>
          </a:p>
        </p:txBody>
      </p:sp>
      <p:sp>
        <p:nvSpPr>
          <p:cNvPr id="31" name="TextBox 30"/>
          <p:cNvSpPr txBox="1"/>
          <p:nvPr/>
        </p:nvSpPr>
        <p:spPr>
          <a:xfrm>
            <a:off x="4669520" y="3351275"/>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Manhattan, because it is robust to the outlier long papers</a:t>
            </a:r>
          </a:p>
        </p:txBody>
      </p:sp>
      <p:sp>
        <p:nvSpPr>
          <p:cNvPr id="32" name="Rounded Rectangle 31"/>
          <p:cNvSpPr/>
          <p:nvPr/>
        </p:nvSpPr>
        <p:spPr>
          <a:xfrm>
            <a:off x="502920" y="4101083"/>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Oval 32"/>
          <p:cNvSpPr/>
          <p:nvPr/>
        </p:nvSpPr>
        <p:spPr>
          <a:xfrm>
            <a:off x="676656"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C</a:t>
            </a:r>
          </a:p>
        </p:txBody>
      </p:sp>
      <p:sp>
        <p:nvSpPr>
          <p:cNvPr id="34" name="TextBox 33"/>
          <p:cNvSpPr txBox="1"/>
          <p:nvPr/>
        </p:nvSpPr>
        <p:spPr>
          <a:xfrm>
            <a:off x="1106424" y="4192523"/>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Cosine, because paper length is noise and topic proportion is the signal</a:t>
            </a:r>
          </a:p>
        </p:txBody>
      </p:sp>
      <p:sp>
        <p:nvSpPr>
          <p:cNvPr id="35" name="Rounded Rectangle 34"/>
          <p:cNvSpPr/>
          <p:nvPr/>
        </p:nvSpPr>
        <p:spPr>
          <a:xfrm>
            <a:off x="4066016" y="4101083"/>
            <a:ext cx="3435080"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Oval 35"/>
          <p:cNvSpPr/>
          <p:nvPr/>
        </p:nvSpPr>
        <p:spPr>
          <a:xfrm>
            <a:off x="4239752"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D</a:t>
            </a:r>
          </a:p>
        </p:txBody>
      </p:sp>
      <p:sp>
        <p:nvSpPr>
          <p:cNvPr id="37" name="TextBox 36"/>
          <p:cNvSpPr txBox="1"/>
          <p:nvPr/>
        </p:nvSpPr>
        <p:spPr>
          <a:xfrm>
            <a:off x="4669520" y="4192523"/>
            <a:ext cx="2666984" cy="530352"/>
          </a:xfrm>
          <a:prstGeom prst="rect">
            <a:avLst/>
          </a:prstGeom>
          <a:noFill/>
        </p:spPr>
        <p:txBody>
          <a:bodyPr wrap="square" lIns="0" tIns="0" rIns="0" bIns="0" anchor="ctr">
            <a:spAutoFit/>
          </a:bodyPr>
          <a:lstStyle/>
          <a:p>
            <a:pPr algn="l">
              <a:lnSpc>
                <a:spcPct val="114000"/>
              </a:lnSpc>
              <a:spcBef>
                <a:spcPts val="0"/>
              </a:spcBef>
              <a:spcAft>
                <a:spcPts val="0"/>
              </a:spcAft>
            </a:pPr>
            <a:r>
              <a:rPr sz="1050" b="0" i="0">
                <a:solidFill>
                  <a:srgbClr val="1C2330"/>
                </a:solidFill>
                <a:latin typeface="Segoe UI"/>
              </a:rPr>
              <a:t>Euclidean after min-max normalisation of every word count</a:t>
            </a:r>
          </a:p>
        </p:txBody>
      </p:sp>
      <p:sp>
        <p:nvSpPr>
          <p:cNvPr id="38" name="TextBox 37"/>
          <p:cNvSpPr txBox="1"/>
          <p:nvPr/>
        </p:nvSpPr>
        <p:spPr>
          <a:xfrm>
            <a:off x="502920" y="5326379"/>
            <a:ext cx="6998177" cy="310896"/>
          </a:xfrm>
          <a:prstGeom prst="rect">
            <a:avLst/>
          </a:prstGeom>
          <a:noFill/>
        </p:spPr>
        <p:txBody>
          <a:bodyPr wrap="square" lIns="0" tIns="0" rIns="0" bIns="0" anchor="t">
            <a:spAutoFit/>
          </a:bodyPr>
          <a:lstStyle/>
          <a:p>
            <a:pPr algn="ctr">
              <a:lnSpc>
                <a:spcPct val="115000"/>
              </a:lnSpc>
              <a:spcBef>
                <a:spcPts val="0"/>
              </a:spcBef>
              <a:spcAft>
                <a:spcPts val="0"/>
              </a:spcAft>
            </a:pPr>
            <a:r>
              <a:rPr sz="1150" b="0" i="1">
                <a:solidFill>
                  <a:srgbClr val="586476"/>
                </a:solidFill>
                <a:latin typeface="Segoe UI"/>
              </a:rPr>
              <a:t>◆  click to reveal the answer</a:t>
            </a:r>
          </a:p>
        </p:txBody>
      </p:sp>
      <p:sp>
        <p:nvSpPr>
          <p:cNvPr id="39" name="Rounded Rectangle 38"/>
          <p:cNvSpPr/>
          <p:nvPr/>
        </p:nvSpPr>
        <p:spPr>
          <a:xfrm>
            <a:off x="502920" y="5052059"/>
            <a:ext cx="6998177" cy="960120"/>
          </a:xfrm>
          <a:prstGeom prst="roundRect">
            <a:avLst>
              <a:gd name="adj" fmla="val 6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8000"/>
              </a:lnSpc>
              <a:spcBef>
                <a:spcPts val="0"/>
              </a:spcBef>
              <a:spcAft>
                <a:spcPts val="0"/>
              </a:spcAft>
            </a:pPr>
            <a:r>
              <a:rPr sz="869" b="1" i="0">
                <a:solidFill>
                  <a:srgbClr val="107C41"/>
                </a:solidFill>
                <a:latin typeface="Segoe UI Semibold"/>
              </a:rPr>
              <a:t>ANSWER: C   </a:t>
            </a:r>
            <a:r>
              <a:rPr sz="910" b="0" i="0">
                <a:solidFill>
                  <a:srgbClr val="1C2330"/>
                </a:solidFill>
                <a:latin typeface="Segoe UI"/>
              </a:rPr>
              <a:t>A 60-page review has roughly 15× the word counts of a 4-page letter on the SAME topic - so Euclidean and Manhattan both see a huge gap where there is none. Cosine divides out magnitude entirely and compares only the direction of the vector, i.e. the proportion of each topic. This is the textbook case for cosine similarity.</a:t>
            </a:r>
          </a:p>
        </p:txBody>
      </p:sp>
      <p:sp>
        <p:nvSpPr>
          <p:cNvPr id="40" name="Rectangle 39"/>
          <p:cNvSpPr/>
          <p:nvPr/>
        </p:nvSpPr>
        <p:spPr>
          <a:xfrm>
            <a:off x="502920" y="5052059"/>
            <a:ext cx="77724" cy="96012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1.4-1.5 CONSOLIDATION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Activity: Choose the Metric, Defend the Choice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45</a:t>
            </a:r>
          </a:p>
        </p:txBody>
      </p:sp>
      <p:sp>
        <p:nvSpPr>
          <p:cNvPr id="11" name="Rounded Rectangle 10"/>
          <p:cNvSpPr/>
          <p:nvPr/>
        </p:nvSpPr>
        <p:spPr>
          <a:xfrm>
            <a:off x="502920" y="1792224"/>
            <a:ext cx="11186129" cy="841248"/>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5000"/>
              </a:lnSpc>
              <a:spcBef>
                <a:spcPts val="0"/>
              </a:spcBef>
              <a:spcAft>
                <a:spcPts val="500"/>
              </a:spcAft>
            </a:pPr>
            <a:r>
              <a:rPr sz="1050" b="1" i="0">
                <a:solidFill>
                  <a:srgbClr val="5C2D91"/>
                </a:solidFill>
                <a:latin typeface="Segoe UI Semibold"/>
              </a:rPr>
              <a:t>GROUP WORK   ·   12 minutes</a:t>
            </a:r>
          </a:p>
          <a:p>
            <a:pPr algn="l">
              <a:lnSpc>
                <a:spcPct val="116000"/>
              </a:lnSpc>
              <a:spcBef>
                <a:spcPts val="0"/>
              </a:spcBef>
              <a:spcAft>
                <a:spcPts val="0"/>
              </a:spcAft>
            </a:pPr>
            <a:r>
              <a:rPr sz="1500" b="0" i="0">
                <a:solidFill>
                  <a:srgbClr val="FFFFFF"/>
                </a:solidFill>
                <a:latin typeface="Segoe UI"/>
              </a:rPr>
              <a:t>In groups of 3-4, take one scenario. Decide the features, whether to scale, and which metric - then defend it against the obvious alternative.</a:t>
            </a:r>
          </a:p>
        </p:txBody>
      </p:sp>
      <p:sp>
        <p:nvSpPr>
          <p:cNvPr id="12" name="Rectangle 11"/>
          <p:cNvSpPr/>
          <p:nvPr/>
        </p:nvSpPr>
        <p:spPr>
          <a:xfrm>
            <a:off x="502920" y="1792224"/>
            <a:ext cx="77724" cy="8412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502920"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490"/>
              </a:spcAft>
            </a:pPr>
            <a:r>
              <a:rPr sz="990" b="1" i="0">
                <a:solidFill>
                  <a:srgbClr val="182B49"/>
                </a:solidFill>
                <a:latin typeface="Segoe UI Semibold"/>
              </a:rPr>
              <a:t>Pick a scenario</a:t>
            </a:r>
          </a:p>
          <a:p>
            <a:pPr marL="237744" indent="-237744" algn="l">
              <a:lnSpc>
                <a:spcPct val="116000"/>
              </a:lnSpc>
              <a:spcBef>
                <a:spcPts val="350"/>
              </a:spcBef>
              <a:spcAft>
                <a:spcPts val="0"/>
              </a:spcAft>
              <a:buClr>
                <a:srgbClr val="5C2D91"/>
              </a:buClr>
              <a:buSzPct val="86000"/>
              <a:buFont typeface="Arial"/>
              <a:buChar char="▪"/>
            </a:pPr>
            <a:r>
              <a:rPr sz="850" b="0" i="0">
                <a:solidFill>
                  <a:srgbClr val="1C2330"/>
                </a:solidFill>
                <a:latin typeface="Segoe UI"/>
              </a:rPr>
              <a:t>Grouping LPU students by their canteen spending patterns</a:t>
            </a:r>
          </a:p>
          <a:p>
            <a:pPr marL="237744" indent="-237744" algn="l">
              <a:lnSpc>
                <a:spcPct val="116000"/>
              </a:lnSpc>
              <a:spcBef>
                <a:spcPts val="350"/>
              </a:spcBef>
              <a:spcAft>
                <a:spcPts val="0"/>
              </a:spcAft>
              <a:buClr>
                <a:srgbClr val="5C2D91"/>
              </a:buClr>
              <a:buSzPct val="86000"/>
              <a:buFont typeface="Arial"/>
              <a:buChar char="▪"/>
            </a:pPr>
            <a:r>
              <a:rPr sz="850" b="0" i="0">
                <a:solidFill>
                  <a:srgbClr val="1C2330"/>
                </a:solidFill>
                <a:latin typeface="Segoe UI"/>
              </a:rPr>
              <a:t>Recommending songs from listening histories</a:t>
            </a:r>
          </a:p>
          <a:p>
            <a:pPr marL="237744" indent="-237744" algn="l">
              <a:lnSpc>
                <a:spcPct val="116000"/>
              </a:lnSpc>
              <a:spcBef>
                <a:spcPts val="350"/>
              </a:spcBef>
              <a:spcAft>
                <a:spcPts val="0"/>
              </a:spcAft>
              <a:buClr>
                <a:srgbClr val="5C2D91"/>
              </a:buClr>
              <a:buSzPct val="86000"/>
              <a:buFont typeface="Arial"/>
              <a:buChar char="▪"/>
            </a:pPr>
            <a:r>
              <a:rPr sz="850" b="0" i="0">
                <a:solidFill>
                  <a:srgbClr val="1C2330"/>
                </a:solidFill>
                <a:latin typeface="Segoe UI"/>
              </a:rPr>
              <a:t>Detecting unusual electricity usage in campus buildings</a:t>
            </a:r>
          </a:p>
          <a:p>
            <a:pPr marL="237744" indent="-237744" algn="l">
              <a:lnSpc>
                <a:spcPct val="116000"/>
              </a:lnSpc>
              <a:spcBef>
                <a:spcPts val="350"/>
              </a:spcBef>
              <a:spcAft>
                <a:spcPts val="0"/>
              </a:spcAft>
              <a:buClr>
                <a:srgbClr val="5C2D91"/>
              </a:buClr>
              <a:buSzPct val="86000"/>
              <a:buFont typeface="Arial"/>
              <a:buChar char="▪"/>
            </a:pPr>
            <a:r>
              <a:rPr sz="850" b="0" i="0">
                <a:solidFill>
                  <a:srgbClr val="1C2330"/>
                </a:solidFill>
                <a:latin typeface="Segoe UI"/>
              </a:rPr>
              <a:t>Grouping cities by climate measurements</a:t>
            </a:r>
          </a:p>
        </p:txBody>
      </p:sp>
      <p:sp>
        <p:nvSpPr>
          <p:cNvPr id="14" name="Oval 13"/>
          <p:cNvSpPr/>
          <p:nvPr/>
        </p:nvSpPr>
        <p:spPr>
          <a:xfrm>
            <a:off x="685800"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1</a:t>
            </a:r>
          </a:p>
        </p:txBody>
      </p:sp>
      <p:sp>
        <p:nvSpPr>
          <p:cNvPr id="15" name="Rounded Rectangle 14"/>
          <p:cNvSpPr/>
          <p:nvPr/>
        </p:nvSpPr>
        <p:spPr>
          <a:xfrm>
            <a:off x="3336028"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700"/>
              </a:spcAft>
            </a:pPr>
            <a:r>
              <a:rPr sz="1400" b="1" i="0">
                <a:solidFill>
                  <a:srgbClr val="182B49"/>
                </a:solidFill>
                <a:latin typeface="Segoe UI Semibold"/>
              </a:rPr>
              <a:t>Specify it</a:t>
            </a:r>
          </a:p>
          <a:p>
            <a:pPr marL="237744" indent="-237744" algn="l">
              <a:lnSpc>
                <a:spcPct val="116000"/>
              </a:lnSpc>
              <a:spcBef>
                <a:spcPts val="500"/>
              </a:spcBef>
              <a:spcAft>
                <a:spcPts val="0"/>
              </a:spcAft>
              <a:buClr>
                <a:srgbClr val="5C2D91"/>
              </a:buClr>
              <a:buSzPct val="86000"/>
              <a:buFont typeface="Arial"/>
              <a:buChar char="▪"/>
            </a:pPr>
            <a:r>
              <a:rPr sz="1200" b="0" i="0">
                <a:solidFill>
                  <a:srgbClr val="1C2330"/>
                </a:solidFill>
                <a:latin typeface="Segoe UI"/>
              </a:rPr>
              <a:t>What is the OBJECT - one row of your data?</a:t>
            </a:r>
          </a:p>
          <a:p>
            <a:pPr marL="237744" indent="-237744" algn="l">
              <a:lnSpc>
                <a:spcPct val="116000"/>
              </a:lnSpc>
              <a:spcBef>
                <a:spcPts val="500"/>
              </a:spcBef>
              <a:spcAft>
                <a:spcPts val="0"/>
              </a:spcAft>
              <a:buClr>
                <a:srgbClr val="5C2D91"/>
              </a:buClr>
              <a:buSzPct val="86000"/>
              <a:buFont typeface="Arial"/>
              <a:buChar char="▪"/>
            </a:pPr>
            <a:r>
              <a:rPr sz="1200" b="0" i="0">
                <a:solidFill>
                  <a:srgbClr val="1C2330"/>
                </a:solidFill>
                <a:latin typeface="Segoe UI"/>
              </a:rPr>
              <a:t>Which 3-5 features would you use?</a:t>
            </a:r>
          </a:p>
          <a:p>
            <a:pPr marL="237744" indent="-237744" algn="l">
              <a:lnSpc>
                <a:spcPct val="116000"/>
              </a:lnSpc>
              <a:spcBef>
                <a:spcPts val="500"/>
              </a:spcBef>
              <a:spcAft>
                <a:spcPts val="0"/>
              </a:spcAft>
              <a:buClr>
                <a:srgbClr val="5C2D91"/>
              </a:buClr>
              <a:buSzPct val="86000"/>
              <a:buFont typeface="Arial"/>
              <a:buChar char="▪"/>
            </a:pPr>
            <a:r>
              <a:rPr sz="1200" b="0" i="0">
                <a:solidFill>
                  <a:srgbClr val="1C2330"/>
                </a:solidFill>
                <a:latin typeface="Segoe UI"/>
              </a:rPr>
              <a:t>What are their likely ranges?</a:t>
            </a:r>
          </a:p>
        </p:txBody>
      </p:sp>
      <p:sp>
        <p:nvSpPr>
          <p:cNvPr id="16" name="Oval 15"/>
          <p:cNvSpPr/>
          <p:nvPr/>
        </p:nvSpPr>
        <p:spPr>
          <a:xfrm>
            <a:off x="3518908"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2</a:t>
            </a:r>
          </a:p>
        </p:txBody>
      </p:sp>
      <p:sp>
        <p:nvSpPr>
          <p:cNvPr id="17" name="Rounded Rectangle 16"/>
          <p:cNvSpPr/>
          <p:nvPr/>
        </p:nvSpPr>
        <p:spPr>
          <a:xfrm>
            <a:off x="6169136"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690"/>
              </a:spcAft>
            </a:pPr>
            <a:r>
              <a:rPr sz="1380" b="1" i="0">
                <a:solidFill>
                  <a:srgbClr val="182B49"/>
                </a:solidFill>
                <a:latin typeface="Segoe UI Semibold"/>
              </a:rPr>
              <a:t>Decide and justify</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Do you need to standardise? Why or why not?</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Euclidean, Manhattan or Cosine?</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Finish the sentence: 'two objects are similar when ___'</a:t>
            </a:r>
          </a:p>
        </p:txBody>
      </p:sp>
      <p:sp>
        <p:nvSpPr>
          <p:cNvPr id="18" name="Oval 17"/>
          <p:cNvSpPr/>
          <p:nvPr/>
        </p:nvSpPr>
        <p:spPr>
          <a:xfrm>
            <a:off x="6352016"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3</a:t>
            </a:r>
          </a:p>
        </p:txBody>
      </p:sp>
      <p:sp>
        <p:nvSpPr>
          <p:cNvPr id="19" name="Rounded Rectangle 18"/>
          <p:cNvSpPr/>
          <p:nvPr/>
        </p:nvSpPr>
        <p:spPr>
          <a:xfrm>
            <a:off x="9002245"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690"/>
              </a:spcAft>
            </a:pPr>
            <a:r>
              <a:rPr sz="1380" b="1" i="0">
                <a:solidFill>
                  <a:srgbClr val="182B49"/>
                </a:solidFill>
                <a:latin typeface="Segoe UI Semibold"/>
              </a:rPr>
              <a:t>Argue the other side</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Name the strongest alternative metric</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Say specifically what would go wrong if you used it</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If you genuinely cannot decide, say so and say why</a:t>
            </a:r>
          </a:p>
        </p:txBody>
      </p:sp>
      <p:sp>
        <p:nvSpPr>
          <p:cNvPr id="20" name="Oval 19"/>
          <p:cNvSpPr/>
          <p:nvPr/>
        </p:nvSpPr>
        <p:spPr>
          <a:xfrm>
            <a:off x="9185125"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4</a:t>
            </a:r>
          </a:p>
        </p:txBody>
      </p:sp>
      <p:sp>
        <p:nvSpPr>
          <p:cNvPr id="21" name="Rounded Rectangle 20"/>
          <p:cNvSpPr/>
          <p:nvPr/>
        </p:nvSpPr>
        <p:spPr>
          <a:xfrm>
            <a:off x="502920" y="5541264"/>
            <a:ext cx="11186129" cy="786384"/>
          </a:xfrm>
          <a:prstGeom prst="roundRect">
            <a:avLst>
              <a:gd name="adj" fmla="val 7000"/>
            </a:avLst>
          </a:prstGeom>
          <a:solidFill>
            <a:srgbClr val="FEF3E0"/>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6000"/>
              </a:lnSpc>
              <a:spcBef>
                <a:spcPts val="0"/>
              </a:spcBef>
              <a:spcAft>
                <a:spcPts val="0"/>
              </a:spcAft>
            </a:pPr>
            <a:r>
              <a:rPr sz="1150" b="1" i="0">
                <a:solidFill>
                  <a:srgbClr val="D97706"/>
                </a:solidFill>
                <a:latin typeface="Segoe UI Semibold"/>
              </a:rPr>
              <a:t>DELIVERABLE   </a:t>
            </a:r>
            <a:r>
              <a:rPr sz="1350" b="0" i="0">
                <a:solidFill>
                  <a:srgbClr val="1C2330"/>
                </a:solidFill>
                <a:latin typeface="Segoe UI"/>
              </a:rPr>
              <a:t>One speaker per group: 60 seconds giving your object, your metric, your scaling decision, and the one sentence completing 'two objects are similar when ___'.</a:t>
            </a:r>
          </a:p>
        </p:txBody>
      </p:sp>
      <p:sp>
        <p:nvSpPr>
          <p:cNvPr id="22" name="Rectangle 21"/>
          <p:cNvSpPr/>
          <p:nvPr/>
        </p:nvSpPr>
        <p:spPr>
          <a:xfrm>
            <a:off x="502920" y="5541264"/>
            <a:ext cx="77724" cy="78638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UNIT I RECAP</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Unit I - The Eight Ideas Worth Remembering</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1</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INT396  ·  Unit 1: Foundations of Unsupervised Learning</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46</a:t>
            </a:r>
          </a:p>
        </p:txBody>
      </p:sp>
      <p:sp>
        <p:nvSpPr>
          <p:cNvPr id="11" name="Rounded Rectangle 10"/>
          <p:cNvSpPr/>
          <p:nvPr/>
        </p:nvSpPr>
        <p:spPr>
          <a:xfrm>
            <a:off x="502920" y="1792224"/>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502920" y="1792224"/>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Oval 12"/>
          <p:cNvSpPr/>
          <p:nvPr/>
        </p:nvSpPr>
        <p:spPr>
          <a:xfrm>
            <a:off x="722376" y="2000250"/>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1</a:t>
            </a:r>
          </a:p>
        </p:txBody>
      </p:sp>
      <p:sp>
        <p:nvSpPr>
          <p:cNvPr id="14" name="TextBox 13"/>
          <p:cNvSpPr txBox="1"/>
          <p:nvPr/>
        </p:nvSpPr>
        <p:spPr>
          <a:xfrm>
            <a:off x="1252728" y="1938528"/>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Three paradigms, decided by which labels you have</a:t>
            </a:r>
          </a:p>
          <a:p>
            <a:pPr algn="l">
              <a:lnSpc>
                <a:spcPct val="116000"/>
              </a:lnSpc>
              <a:spcBef>
                <a:spcPts val="0"/>
              </a:spcBef>
              <a:spcAft>
                <a:spcPts val="0"/>
              </a:spcAft>
            </a:pPr>
            <a:r>
              <a:rPr sz="750" b="0" i="0">
                <a:solidFill>
                  <a:srgbClr val="586476"/>
                </a:solidFill>
                <a:latin typeface="Segoe UI"/>
              </a:rPr>
              <a:t>Supervised needs every label; unsupervised needs none; semi-supervised stretches a few across many. The paradigm is a property of the question, not of the data.</a:t>
            </a:r>
          </a:p>
        </p:txBody>
      </p:sp>
      <p:sp>
        <p:nvSpPr>
          <p:cNvPr id="15" name="Rounded Rectangle 14"/>
          <p:cNvSpPr/>
          <p:nvPr/>
        </p:nvSpPr>
        <p:spPr>
          <a:xfrm>
            <a:off x="6178280" y="1792224"/>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178280" y="1792224"/>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6397736" y="2000250"/>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2</a:t>
            </a:r>
          </a:p>
        </p:txBody>
      </p:sp>
      <p:sp>
        <p:nvSpPr>
          <p:cNvPr id="18" name="TextBox 17"/>
          <p:cNvSpPr txBox="1"/>
          <p:nvPr/>
        </p:nvSpPr>
        <p:spPr>
          <a:xfrm>
            <a:off x="6928088" y="1938528"/>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Unsupervised learning has no ground truth</a:t>
            </a:r>
          </a:p>
          <a:p>
            <a:pPr algn="l">
              <a:lnSpc>
                <a:spcPct val="116000"/>
              </a:lnSpc>
              <a:spcBef>
                <a:spcPts val="0"/>
              </a:spcBef>
              <a:spcAft>
                <a:spcPts val="0"/>
              </a:spcAft>
            </a:pPr>
            <a:r>
              <a:rPr sz="750" b="0" i="0">
                <a:solidFill>
                  <a:srgbClr val="586476"/>
                </a:solidFill>
                <a:latin typeface="Segoe UI"/>
              </a:rPr>
              <a:t>So there is no accuracy score. Evaluate with internal measures, human judgement, or the downstream decision - and decide which BEFORE you run anything.</a:t>
            </a:r>
          </a:p>
        </p:txBody>
      </p:sp>
      <p:sp>
        <p:nvSpPr>
          <p:cNvPr id="19" name="Rounded Rectangle 18"/>
          <p:cNvSpPr/>
          <p:nvPr/>
        </p:nvSpPr>
        <p:spPr>
          <a:xfrm>
            <a:off x="502920" y="2756915"/>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502920" y="2756915"/>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22376" y="2964941"/>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3</a:t>
            </a:r>
          </a:p>
        </p:txBody>
      </p:sp>
      <p:sp>
        <p:nvSpPr>
          <p:cNvPr id="22" name="TextBox 21"/>
          <p:cNvSpPr txBox="1"/>
          <p:nvPr/>
        </p:nvSpPr>
        <p:spPr>
          <a:xfrm>
            <a:off x="1252728" y="2903220"/>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Formulation is harder without labels, not easier</a:t>
            </a:r>
          </a:p>
          <a:p>
            <a:pPr algn="l">
              <a:lnSpc>
                <a:spcPct val="116000"/>
              </a:lnSpc>
              <a:spcBef>
                <a:spcPts val="0"/>
              </a:spcBef>
              <a:spcAft>
                <a:spcPts val="0"/>
              </a:spcAft>
            </a:pPr>
            <a:r>
              <a:rPr sz="750" b="0" i="0">
                <a:solidFill>
                  <a:srgbClr val="586476"/>
                </a:solidFill>
                <a:latin typeface="Segoe UI"/>
              </a:rPr>
              <a:t>The label silently defined the task, the success criterion, the relevant features and the stopping point. Remove it and all four become your decisions.</a:t>
            </a:r>
          </a:p>
        </p:txBody>
      </p:sp>
      <p:sp>
        <p:nvSpPr>
          <p:cNvPr id="23" name="Rounded Rectangle 22"/>
          <p:cNvSpPr/>
          <p:nvPr/>
        </p:nvSpPr>
        <p:spPr>
          <a:xfrm>
            <a:off x="6178280" y="2756915"/>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178280" y="2756915"/>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6397736" y="2964941"/>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4</a:t>
            </a:r>
          </a:p>
        </p:txBody>
      </p:sp>
      <p:sp>
        <p:nvSpPr>
          <p:cNvPr id="26" name="TextBox 25"/>
          <p:cNvSpPr txBox="1"/>
          <p:nvPr/>
        </p:nvSpPr>
        <p:spPr>
          <a:xfrm>
            <a:off x="6928088" y="2903220"/>
            <a:ext cx="4578080" cy="544068"/>
          </a:xfrm>
          <a:prstGeom prst="rect">
            <a:avLst/>
          </a:prstGeom>
          <a:noFill/>
        </p:spPr>
        <p:txBody>
          <a:bodyPr wrap="square" lIns="0" tIns="0" rIns="0" bIns="0" anchor="ctr">
            <a:spAutoFit/>
          </a:bodyPr>
          <a:lstStyle/>
          <a:p>
            <a:pPr algn="l">
              <a:lnSpc>
                <a:spcPct val="110000"/>
              </a:lnSpc>
              <a:spcBef>
                <a:spcPts val="0"/>
              </a:spcBef>
              <a:spcAft>
                <a:spcPts val="290"/>
              </a:spcAft>
            </a:pPr>
            <a:r>
              <a:rPr sz="1010" b="1" i="0">
                <a:solidFill>
                  <a:srgbClr val="182B49"/>
                </a:solidFill>
                <a:latin typeface="Segoe UI Semibold"/>
              </a:rPr>
              <a:t>Five specifications make a problem well-posed</a:t>
            </a:r>
          </a:p>
          <a:p>
            <a:pPr algn="l">
              <a:lnSpc>
                <a:spcPct val="116000"/>
              </a:lnSpc>
              <a:spcBef>
                <a:spcPts val="0"/>
              </a:spcBef>
              <a:spcAft>
                <a:spcPts val="0"/>
              </a:spcAft>
            </a:pPr>
            <a:r>
              <a:rPr sz="900" b="0" i="0">
                <a:solidFill>
                  <a:srgbClr val="586476"/>
                </a:solidFill>
                <a:latin typeface="Segoe UI"/>
              </a:rPr>
              <a:t>Objects · Features · Similarity · Structure sought · Success criterion. Anything left implicit gets decided by accident.</a:t>
            </a:r>
          </a:p>
        </p:txBody>
      </p:sp>
      <p:sp>
        <p:nvSpPr>
          <p:cNvPr id="27" name="Rounded Rectangle 26"/>
          <p:cNvSpPr/>
          <p:nvPr/>
        </p:nvSpPr>
        <p:spPr>
          <a:xfrm>
            <a:off x="502920" y="3721608"/>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502920" y="3721608"/>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722376" y="3929634"/>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5</a:t>
            </a:r>
          </a:p>
        </p:txBody>
      </p:sp>
      <p:sp>
        <p:nvSpPr>
          <p:cNvPr id="30" name="TextBox 29"/>
          <p:cNvSpPr txBox="1"/>
          <p:nvPr/>
        </p:nvSpPr>
        <p:spPr>
          <a:xfrm>
            <a:off x="1252728" y="3867912"/>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The four use-case families share one shape</a:t>
            </a:r>
          </a:p>
          <a:p>
            <a:pPr algn="l">
              <a:lnSpc>
                <a:spcPct val="116000"/>
              </a:lnSpc>
              <a:spcBef>
                <a:spcPts val="0"/>
              </a:spcBef>
              <a:spcAft>
                <a:spcPts val="0"/>
              </a:spcAft>
            </a:pPr>
            <a:r>
              <a:rPr sz="750" b="0" i="0">
                <a:solidFill>
                  <a:srgbClr val="586476"/>
                </a:solidFill>
                <a:latin typeface="Segoe UI"/>
              </a:rPr>
              <a:t>The categories do not exist yet, labelling is impractical, data is abundant, discovery has value, and success is judged downstream.</a:t>
            </a:r>
          </a:p>
        </p:txBody>
      </p:sp>
      <p:sp>
        <p:nvSpPr>
          <p:cNvPr id="31" name="Rounded Rectangle 30"/>
          <p:cNvSpPr/>
          <p:nvPr/>
        </p:nvSpPr>
        <p:spPr>
          <a:xfrm>
            <a:off x="6178280" y="3721608"/>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31"/>
          <p:cNvSpPr/>
          <p:nvPr/>
        </p:nvSpPr>
        <p:spPr>
          <a:xfrm>
            <a:off x="6178280" y="3721608"/>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Oval 32"/>
          <p:cNvSpPr/>
          <p:nvPr/>
        </p:nvSpPr>
        <p:spPr>
          <a:xfrm>
            <a:off x="6397736" y="3929634"/>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6</a:t>
            </a:r>
          </a:p>
        </p:txBody>
      </p:sp>
      <p:sp>
        <p:nvSpPr>
          <p:cNvPr id="34" name="TextBox 33"/>
          <p:cNvSpPr txBox="1"/>
          <p:nvPr/>
        </p:nvSpPr>
        <p:spPr>
          <a:xfrm>
            <a:off x="6928088" y="3867912"/>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Three metrics, three questions</a:t>
            </a:r>
          </a:p>
          <a:p>
            <a:pPr algn="l">
              <a:lnSpc>
                <a:spcPct val="116000"/>
              </a:lnSpc>
              <a:spcBef>
                <a:spcPts val="0"/>
              </a:spcBef>
              <a:spcAft>
                <a:spcPts val="0"/>
              </a:spcAft>
            </a:pPr>
            <a:r>
              <a:rPr sz="750" b="0" i="0">
                <a:solidFill>
                  <a:srgbClr val="586476"/>
                </a:solidFill>
                <a:latin typeface="Segoe UI"/>
              </a:rPr>
              <a:t>Euclidean asks how far (crow flies). Manhattan asks how far along the grid (city blocks). Cosine asks whether they point the same way.</a:t>
            </a:r>
          </a:p>
        </p:txBody>
      </p:sp>
      <p:sp>
        <p:nvSpPr>
          <p:cNvPr id="35" name="Rounded Rectangle 34"/>
          <p:cNvSpPr/>
          <p:nvPr/>
        </p:nvSpPr>
        <p:spPr>
          <a:xfrm>
            <a:off x="502920" y="4686300"/>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502920" y="4686300"/>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Oval 36"/>
          <p:cNvSpPr/>
          <p:nvPr/>
        </p:nvSpPr>
        <p:spPr>
          <a:xfrm>
            <a:off x="722376" y="4894326"/>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7</a:t>
            </a:r>
          </a:p>
        </p:txBody>
      </p:sp>
      <p:sp>
        <p:nvSpPr>
          <p:cNvPr id="38" name="TextBox 37"/>
          <p:cNvSpPr txBox="1"/>
          <p:nvPr/>
        </p:nvSpPr>
        <p:spPr>
          <a:xfrm>
            <a:off x="1252728" y="4832604"/>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Unscaled features silently destroy your analysis</a:t>
            </a:r>
          </a:p>
          <a:p>
            <a:pPr algn="l">
              <a:lnSpc>
                <a:spcPct val="116000"/>
              </a:lnSpc>
              <a:spcBef>
                <a:spcPts val="0"/>
              </a:spcBef>
              <a:spcAft>
                <a:spcPts val="0"/>
              </a:spcAft>
            </a:pPr>
            <a:r>
              <a:rPr sz="750" b="0" i="0">
                <a:solidFill>
                  <a:srgbClr val="586476"/>
                </a:solidFill>
                <a:latin typeface="Segoe UI"/>
              </a:rPr>
              <a:t>Age contributed 900 while income contributed 400 million. Standardise with z = (x − μ)/σ before computing any distance. Nothing will warn you.</a:t>
            </a:r>
          </a:p>
        </p:txBody>
      </p:sp>
      <p:sp>
        <p:nvSpPr>
          <p:cNvPr id="39" name="Rounded Rectangle 38"/>
          <p:cNvSpPr/>
          <p:nvPr/>
        </p:nvSpPr>
        <p:spPr>
          <a:xfrm>
            <a:off x="6178280" y="4686300"/>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6178280" y="4686300"/>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Oval 40"/>
          <p:cNvSpPr/>
          <p:nvPr/>
        </p:nvSpPr>
        <p:spPr>
          <a:xfrm>
            <a:off x="6397736" y="4894326"/>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8</a:t>
            </a:r>
          </a:p>
        </p:txBody>
      </p:sp>
      <p:sp>
        <p:nvSpPr>
          <p:cNvPr id="42" name="TextBox 41"/>
          <p:cNvSpPr txBox="1"/>
          <p:nvPr/>
        </p:nvSpPr>
        <p:spPr>
          <a:xfrm>
            <a:off x="6928088" y="4832604"/>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The metric IS the definition of 'similar'</a:t>
            </a:r>
          </a:p>
          <a:p>
            <a:pPr algn="l">
              <a:lnSpc>
                <a:spcPct val="116000"/>
              </a:lnSpc>
              <a:spcBef>
                <a:spcPts val="0"/>
              </a:spcBef>
              <a:spcAft>
                <a:spcPts val="0"/>
              </a:spcAft>
            </a:pPr>
            <a:r>
              <a:rPr sz="750" b="0" i="0">
                <a:solidFill>
                  <a:srgbClr val="586476"/>
                </a:solidFill>
                <a:latin typeface="Segoe UI"/>
              </a:rPr>
              <a:t>Same three customers, Euclidean said B and Manhattan said C. Change the metric and you change the answer - so choose it deliberately, not by default.</a:t>
            </a:r>
          </a:p>
        </p:txBody>
      </p:sp>
      <p:sp>
        <p:nvSpPr>
          <p:cNvPr id="43" name="Rounded Rectangle 42"/>
          <p:cNvSpPr/>
          <p:nvPr/>
        </p:nvSpPr>
        <p:spPr>
          <a:xfrm>
            <a:off x="502920" y="5596128"/>
            <a:ext cx="11186129" cy="731520"/>
          </a:xfrm>
          <a:prstGeom prst="roundRect">
            <a:avLst>
              <a:gd name="adj" fmla="val 7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6000"/>
              </a:lnSpc>
              <a:spcBef>
                <a:spcPts val="0"/>
              </a:spcBef>
              <a:spcAft>
                <a:spcPts val="0"/>
              </a:spcAft>
            </a:pPr>
            <a:r>
              <a:rPr sz="1150" b="1" i="0">
                <a:solidFill>
                  <a:srgbClr val="F5A623"/>
                </a:solidFill>
                <a:latin typeface="Segoe UI Semibold"/>
              </a:rPr>
              <a:t>NEXT UP   </a:t>
            </a:r>
            <a:r>
              <a:rPr sz="1350" b="0" i="0">
                <a:solidFill>
                  <a:srgbClr val="D6E2F0"/>
                </a:solidFill>
                <a:latin typeface="Segoe UI"/>
              </a:rPr>
              <a:t>Unit II - Clustering Techniques: K-Means and choosing k, hierarchical clustering and dendrograms, DBSCAN for arbitrary shapes, and how to evaluate a clustering you cannot score.</a:t>
            </a:r>
          </a:p>
        </p:txBody>
      </p:sp>
      <p:sp>
        <p:nvSpPr>
          <p:cNvPr id="44" name="Rectangle 43"/>
          <p:cNvSpPr/>
          <p:nvPr/>
        </p:nvSpPr>
        <p:spPr>
          <a:xfrm>
            <a:off x="502920" y="5596128"/>
            <a:ext cx="77724" cy="731520"/>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6041</TotalTime>
  <Words>9694</Words>
  <Application>Microsoft Office PowerPoint</Application>
  <PresentationFormat>Widescreen</PresentationFormat>
  <Paragraphs>1067</Paragraphs>
  <Slides>46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Aptos</vt:lpstr>
      <vt:lpstr>Aptos Display</vt:lpstr>
      <vt:lpstr>Arial</vt:lpstr>
      <vt:lpstr>Calibri</vt:lpstr>
      <vt:lpstr>Cambria Math</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INT396 Unit 1 - Foundations of Unsupervised Learning</dc:title>
  <dc:subject>Unsupervised Learning</dc:subject>
  <dc:creator>School of Computer Science &amp; Engineering</dc:creator>
  <cp:lastModifiedBy>piyush sharma</cp:lastModifiedBy>
  <cp:revision>96</cp:revision>
  <dcterms:created xsi:type="dcterms:W3CDTF">2025-07-15T03:53:59Z</dcterms:created>
  <dcterms:modified xsi:type="dcterms:W3CDTF">2026-08-21T06:51:07Z</dcterms:modified>
</cp:coreProperties>
</file>